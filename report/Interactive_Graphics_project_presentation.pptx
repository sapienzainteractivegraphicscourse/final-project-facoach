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schemas.openxmlformats.org/officeDocument/2006/relationships/slide" Target="slides/slide18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4bf7c8382_2_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f4bf7c8382_2_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" name="Google Shape;55;g3f4bf7c8382_2_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4bf7c8382_2_10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f4bf7c8382_2_10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g3f4bf7c8382_2_10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4bf7c8382_2_18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3f4bf7c8382_2_18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1" name="Google Shape;241;g3f4bf7c8382_2_18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f4bf7c8382_2_26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g3f4bf7c8382_2_26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7" name="Google Shape;327;g3f4bf7c8382_2_26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f4bf7c8382_2_34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g3f4bf7c8382_2_34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2" name="Google Shape;402;g3f4bf7c8382_2_34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f4bf7c8382_2_40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g3f4bf7c8382_2_40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9" name="Google Shape;469;g3f4bf7c8382_2_40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f4bf7c8382_2_47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9" name="Google Shape;539;g3f4bf7c8382_2_47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0" name="Google Shape;540;g3f4bf7c8382_2_47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f4bf7c8382_2_55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3" name="Google Shape;613;g3f4bf7c8382_2_55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4" name="Google Shape;614;g3f4bf7c8382_2_55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f4bf7c8382_2_64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8" name="Google Shape;708;g3f4bf7c8382_2_64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9" name="Google Shape;709;g3f4bf7c8382_2_64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f4bf7c8382_2_70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4" name="Google Shape;774;g3f4bf7c8382_2_70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5" name="Google Shape;775;g3f4bf7c8382_2_70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f4bf7c8382_2_76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0" name="Google Shape;830;g3f4bf7c8382_2_76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1" name="Google Shape;831;g3f4bf7c8382_2_76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3f4bf7c8382_2_84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6" name="Google Shape;916;g3f4bf7c8382_2_849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7" name="Google Shape;917;g3f4bf7c8382_2_84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3f4bf7c8382_2_91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6" name="Google Shape;986;g3f4bf7c8382_2_91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7" name="Google Shape;987;g3f4bf7c8382_2_91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3f4bf7c8382_2_98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8" name="Google Shape;1058;g3f4bf7c8382_2_989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9" name="Google Shape;1059;g3f4bf7c8382_2_98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3f4bf7c8382_2_103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1" name="Google Shape;1101;g3f4bf7c8382_2_103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2" name="Google Shape;1102;g3f4bf7c8382_2_103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g3f4bf7c8382_2_110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1" name="Google Shape;1171;g3f4bf7c8382_2_110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2" name="Google Shape;1172;g3f4bf7c8382_2_110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3f4bf7c8382_2_1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g3f4bf7c8382_2_117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g3f4bf7c8382_2_124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8" name="Google Shape;1318;g3f4bf7c8382_2_124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9" name="Google Shape;1319;g3f4bf7c8382_2_124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31.png"/><Relationship Id="rId7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10" Type="http://schemas.openxmlformats.org/officeDocument/2006/relationships/image" Target="../media/image9.png"/><Relationship Id="rId9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5.png"/><Relationship Id="rId8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image" Target="../media/image12.png"/><Relationship Id="rId6" Type="http://schemas.openxmlformats.org/officeDocument/2006/relationships/image" Target="../media/image5.png"/><Relationship Id="rId7" Type="http://schemas.openxmlformats.org/officeDocument/2006/relationships/image" Target="../media/image17.png"/><Relationship Id="rId8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23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6.png"/><Relationship Id="rId8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Relationship Id="rId4" Type="http://schemas.openxmlformats.org/officeDocument/2006/relationships/image" Target="../media/image33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38.png"/><Relationship Id="rId10" Type="http://schemas.openxmlformats.org/officeDocument/2006/relationships/image" Target="../media/image32.png"/><Relationship Id="rId13" Type="http://schemas.openxmlformats.org/officeDocument/2006/relationships/image" Target="../media/image36.png"/><Relationship Id="rId12" Type="http://schemas.openxmlformats.org/officeDocument/2006/relationships/image" Target="../media/image44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9" Type="http://schemas.openxmlformats.org/officeDocument/2006/relationships/image" Target="../media/image15.png"/><Relationship Id="rId15" Type="http://schemas.openxmlformats.org/officeDocument/2006/relationships/image" Target="../media/image35.png"/><Relationship Id="rId14" Type="http://schemas.openxmlformats.org/officeDocument/2006/relationships/image" Target="../media/image34.png"/><Relationship Id="rId16" Type="http://schemas.openxmlformats.org/officeDocument/2006/relationships/image" Target="../media/image42.png"/><Relationship Id="rId5" Type="http://schemas.openxmlformats.org/officeDocument/2006/relationships/image" Target="../media/image23.png"/><Relationship Id="rId6" Type="http://schemas.openxmlformats.org/officeDocument/2006/relationships/image" Target="../media/image47.png"/><Relationship Id="rId7" Type="http://schemas.openxmlformats.org/officeDocument/2006/relationships/image" Target="../media/image30.png"/><Relationship Id="rId8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55.png"/><Relationship Id="rId5" Type="http://schemas.openxmlformats.org/officeDocument/2006/relationships/image" Target="../media/image23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5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9.png"/><Relationship Id="rId5" Type="http://schemas.openxmlformats.org/officeDocument/2006/relationships/image" Target="../media/image46.png"/><Relationship Id="rId6" Type="http://schemas.openxmlformats.org/officeDocument/2006/relationships/image" Target="../media/image37.png"/><Relationship Id="rId7" Type="http://schemas.openxmlformats.org/officeDocument/2006/relationships/image" Target="../media/image43.png"/></Relationships>
</file>

<file path=ppt/slides/_rels/slide11.xml.rels><?xml version="1.0" encoding="UTF-8" standalone="yes"?><Relationships xmlns="http://schemas.openxmlformats.org/package/2006/relationships"><Relationship Id="rId10" Type="http://schemas.openxmlformats.org/officeDocument/2006/relationships/image" Target="../media/image60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3.png"/><Relationship Id="rId4" Type="http://schemas.openxmlformats.org/officeDocument/2006/relationships/image" Target="../media/image28.png"/><Relationship Id="rId9" Type="http://schemas.openxmlformats.org/officeDocument/2006/relationships/image" Target="../media/image62.png"/><Relationship Id="rId5" Type="http://schemas.openxmlformats.org/officeDocument/2006/relationships/image" Target="../media/image45.png"/><Relationship Id="rId6" Type="http://schemas.openxmlformats.org/officeDocument/2006/relationships/image" Target="../media/image40.png"/><Relationship Id="rId7" Type="http://schemas.openxmlformats.org/officeDocument/2006/relationships/image" Target="../media/image12.png"/><Relationship Id="rId8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1.png"/><Relationship Id="rId4" Type="http://schemas.openxmlformats.org/officeDocument/2006/relationships/image" Target="../media/image16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30.png"/><Relationship Id="rId8" Type="http://schemas.openxmlformats.org/officeDocument/2006/relationships/image" Target="../media/image6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4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1.png"/><Relationship Id="rId4" Type="http://schemas.openxmlformats.org/officeDocument/2006/relationships/image" Target="../media/image56.png"/><Relationship Id="rId5" Type="http://schemas.openxmlformats.org/officeDocument/2006/relationships/image" Target="../media/image59.png"/><Relationship Id="rId6" Type="http://schemas.openxmlformats.org/officeDocument/2006/relationships/image" Target="../media/image5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0.png"/><Relationship Id="rId4" Type="http://schemas.openxmlformats.org/officeDocument/2006/relationships/image" Target="../media/image48.png"/><Relationship Id="rId5" Type="http://schemas.openxmlformats.org/officeDocument/2006/relationships/image" Target="../media/image52.png"/><Relationship Id="rId6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58.png"/><Relationship Id="rId5" Type="http://schemas.openxmlformats.org/officeDocument/2006/relationships/image" Target="../media/image62.png"/><Relationship Id="rId6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58.png"/><Relationship Id="rId5" Type="http://schemas.openxmlformats.org/officeDocument/2006/relationships/image" Target="../media/image62.png"/><Relationship Id="rId6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B16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606396" y="1220951"/>
            <a:ext cx="17132" cy="17132"/>
          </a:xfrm>
          <a:prstGeom prst="ellipse">
            <a:avLst/>
          </a:prstGeom>
          <a:solidFill>
            <a:srgbClr val="BFE6FF">
              <a:alpha val="2745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5"/>
          <p:cNvSpPr/>
          <p:nvPr/>
        </p:nvSpPr>
        <p:spPr>
          <a:xfrm>
            <a:off x="4273811" y="5101788"/>
            <a:ext cx="21556" cy="21556"/>
          </a:xfrm>
          <a:prstGeom prst="ellipse">
            <a:avLst/>
          </a:prstGeom>
          <a:solidFill>
            <a:srgbClr val="BFE6FF">
              <a:alpha val="1647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1433915" y="3822434"/>
            <a:ext cx="18128" cy="18128"/>
          </a:xfrm>
          <a:prstGeom prst="ellipse">
            <a:avLst/>
          </a:prstGeom>
          <a:solidFill>
            <a:srgbClr val="BFE6FF">
              <a:alpha val="1372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7726465" y="5056069"/>
            <a:ext cx="33489" cy="33489"/>
          </a:xfrm>
          <a:prstGeom prst="ellipse">
            <a:avLst/>
          </a:prstGeom>
          <a:solidFill>
            <a:srgbClr val="BFE6FF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8620597" y="3383461"/>
            <a:ext cx="16937" cy="16936"/>
          </a:xfrm>
          <a:prstGeom prst="ellipse">
            <a:avLst/>
          </a:prstGeom>
          <a:solidFill>
            <a:srgbClr val="BFE6FF">
              <a:alpha val="3372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6165928" y="1823835"/>
            <a:ext cx="15998" cy="15998"/>
          </a:xfrm>
          <a:prstGeom prst="ellipse">
            <a:avLst/>
          </a:prstGeom>
          <a:solidFill>
            <a:srgbClr val="BFE6FF">
              <a:alpha val="4352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4293899" y="886337"/>
            <a:ext cx="26002" cy="26002"/>
          </a:xfrm>
          <a:prstGeom prst="ellipse">
            <a:avLst/>
          </a:prstGeom>
          <a:solidFill>
            <a:srgbClr val="BFE6FF">
              <a:alpha val="1411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8730593" y="3241811"/>
            <a:ext cx="13418" cy="13417"/>
          </a:xfrm>
          <a:prstGeom prst="ellipse">
            <a:avLst/>
          </a:prstGeom>
          <a:solidFill>
            <a:srgbClr val="BFE6FF">
              <a:alpha val="2392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6533354" y="2376737"/>
            <a:ext cx="33630" cy="33630"/>
          </a:xfrm>
          <a:prstGeom prst="ellipse">
            <a:avLst/>
          </a:prstGeom>
          <a:solidFill>
            <a:srgbClr val="BFE6FF">
              <a:alpha val="4117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5550469" y="2267076"/>
            <a:ext cx="32241" cy="32241"/>
          </a:xfrm>
          <a:prstGeom prst="ellipse">
            <a:avLst/>
          </a:prstGeom>
          <a:solidFill>
            <a:srgbClr val="BFE6FF">
              <a:alpha val="3490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1362315" y="5126576"/>
            <a:ext cx="26563" cy="26563"/>
          </a:xfrm>
          <a:prstGeom prst="ellipse">
            <a:avLst/>
          </a:prstGeom>
          <a:solidFill>
            <a:srgbClr val="BFE6FF">
              <a:alpha val="2392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4486920" y="4937836"/>
            <a:ext cx="28094" cy="28094"/>
          </a:xfrm>
          <a:prstGeom prst="ellipse">
            <a:avLst/>
          </a:prstGeom>
          <a:solidFill>
            <a:srgbClr val="BFE6FF">
              <a:alpha val="2901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3132311" y="4674180"/>
            <a:ext cx="22225" cy="22225"/>
          </a:xfrm>
          <a:prstGeom prst="ellipse">
            <a:avLst/>
          </a:prstGeom>
          <a:solidFill>
            <a:srgbClr val="BFE6FF">
              <a:alpha val="3098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6573989" y="1520170"/>
            <a:ext cx="32145" cy="32145"/>
          </a:xfrm>
          <a:prstGeom prst="ellipse">
            <a:avLst/>
          </a:prstGeom>
          <a:solidFill>
            <a:srgbClr val="BFE6FF">
              <a:alpha val="2431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5234693" y="3856274"/>
            <a:ext cx="27265" cy="27265"/>
          </a:xfrm>
          <a:prstGeom prst="ellipse">
            <a:avLst/>
          </a:prstGeom>
          <a:solidFill>
            <a:srgbClr val="BFE6FF">
              <a:alpha val="3372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8489476" y="1523212"/>
            <a:ext cx="32546" cy="32546"/>
          </a:xfrm>
          <a:prstGeom prst="ellipse">
            <a:avLst/>
          </a:prstGeom>
          <a:solidFill>
            <a:srgbClr val="BFE6FF">
              <a:alpha val="3882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1053565" y="1522410"/>
            <a:ext cx="30449" cy="30449"/>
          </a:xfrm>
          <a:prstGeom prst="ellipse">
            <a:avLst/>
          </a:prstGeom>
          <a:solidFill>
            <a:srgbClr val="BFE6FF">
              <a:alpha val="1764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8102206" y="1733932"/>
            <a:ext cx="14895" cy="14895"/>
          </a:xfrm>
          <a:prstGeom prst="ellipse">
            <a:avLst/>
          </a:prstGeom>
          <a:solidFill>
            <a:srgbClr val="BFE6FF">
              <a:alpha val="1372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6524266" y="4455391"/>
            <a:ext cx="33221" cy="33221"/>
          </a:xfrm>
          <a:prstGeom prst="ellipse">
            <a:avLst/>
          </a:prstGeom>
          <a:solidFill>
            <a:srgbClr val="BFE6FF">
              <a:alpha val="1372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7618126" y="2932081"/>
            <a:ext cx="22166" cy="22166"/>
          </a:xfrm>
          <a:prstGeom prst="ellipse">
            <a:avLst/>
          </a:prstGeom>
          <a:solidFill>
            <a:srgbClr val="BFE6FF">
              <a:alpha val="2784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1033403" y="1357915"/>
            <a:ext cx="24708" cy="24708"/>
          </a:xfrm>
          <a:prstGeom prst="ellipse">
            <a:avLst/>
          </a:prstGeom>
          <a:solidFill>
            <a:srgbClr val="BFE6FF">
              <a:alpha val="1529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6973622" y="2179724"/>
            <a:ext cx="20297" cy="20297"/>
          </a:xfrm>
          <a:prstGeom prst="ellipse">
            <a:avLst/>
          </a:prstGeom>
          <a:solidFill>
            <a:srgbClr val="BFE6FF">
              <a:alpha val="4470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3882404" y="3196941"/>
            <a:ext cx="17022" cy="17022"/>
          </a:xfrm>
          <a:prstGeom prst="ellipse">
            <a:avLst/>
          </a:prstGeom>
          <a:solidFill>
            <a:srgbClr val="BFE6FF">
              <a:alpha val="2784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8221282" y="1256455"/>
            <a:ext cx="19874" cy="19874"/>
          </a:xfrm>
          <a:prstGeom prst="ellipse">
            <a:avLst/>
          </a:prstGeom>
          <a:solidFill>
            <a:srgbClr val="BFE6FF">
              <a:alpha val="1372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8778294" y="3030176"/>
            <a:ext cx="23318" cy="23318"/>
          </a:xfrm>
          <a:prstGeom prst="ellipse">
            <a:avLst/>
          </a:prstGeom>
          <a:solidFill>
            <a:srgbClr val="BFE6FF">
              <a:alpha val="3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6986372" y="472192"/>
            <a:ext cx="13827" cy="13827"/>
          </a:xfrm>
          <a:prstGeom prst="ellipse">
            <a:avLst/>
          </a:prstGeom>
          <a:solidFill>
            <a:srgbClr val="BFE6FF">
              <a:alpha val="1254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6165576" y="3279621"/>
            <a:ext cx="19282" cy="19282"/>
          </a:xfrm>
          <a:prstGeom prst="ellipse">
            <a:avLst/>
          </a:prstGeom>
          <a:solidFill>
            <a:srgbClr val="BFE6FF">
              <a:alpha val="1607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4017080" y="2489631"/>
            <a:ext cx="20337" cy="20337"/>
          </a:xfrm>
          <a:prstGeom prst="ellipse">
            <a:avLst/>
          </a:prstGeom>
          <a:solidFill>
            <a:srgbClr val="BFE6FF">
              <a:alpha val="4431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6167279" y="598337"/>
            <a:ext cx="27392" cy="27392"/>
          </a:xfrm>
          <a:prstGeom prst="ellipse">
            <a:avLst/>
          </a:prstGeom>
          <a:solidFill>
            <a:srgbClr val="BFE6FF">
              <a:alpha val="2862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3523441" y="4908721"/>
            <a:ext cx="12749" cy="12749"/>
          </a:xfrm>
          <a:prstGeom prst="ellipse">
            <a:avLst/>
          </a:prstGeom>
          <a:solidFill>
            <a:srgbClr val="BFE6FF">
              <a:alpha val="2274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5651324" y="2177843"/>
            <a:ext cx="26603" cy="26603"/>
          </a:xfrm>
          <a:prstGeom prst="ellipse">
            <a:avLst/>
          </a:prstGeom>
          <a:solidFill>
            <a:srgbClr val="BFE6FF">
              <a:alpha val="2078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4924667" y="2990233"/>
            <a:ext cx="25284" cy="25284"/>
          </a:xfrm>
          <a:prstGeom prst="ellipse">
            <a:avLst/>
          </a:prstGeom>
          <a:solidFill>
            <a:srgbClr val="BFE6FF">
              <a:alpha val="2784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3852026" y="2285452"/>
            <a:ext cx="29030" cy="29030"/>
          </a:xfrm>
          <a:prstGeom prst="ellipse">
            <a:avLst/>
          </a:prstGeom>
          <a:solidFill>
            <a:srgbClr val="BFE6FF">
              <a:alpha val="1137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621951" y="1917915"/>
            <a:ext cx="31849" cy="31849"/>
          </a:xfrm>
          <a:prstGeom prst="ellipse">
            <a:avLst/>
          </a:prstGeom>
          <a:solidFill>
            <a:srgbClr val="BFE6FF">
              <a:alpha val="2980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5893563" y="3206050"/>
            <a:ext cx="22046" cy="22046"/>
          </a:xfrm>
          <a:prstGeom prst="ellipse">
            <a:avLst/>
          </a:prstGeom>
          <a:solidFill>
            <a:srgbClr val="BFE6FF">
              <a:alpha val="2549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8304199" y="1409947"/>
            <a:ext cx="12568" cy="12568"/>
          </a:xfrm>
          <a:prstGeom prst="ellipse">
            <a:avLst/>
          </a:prstGeom>
          <a:solidFill>
            <a:srgbClr val="BFE6FF">
              <a:alpha val="3294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1900620" y="2233538"/>
            <a:ext cx="32628" cy="32628"/>
          </a:xfrm>
          <a:prstGeom prst="ellipse">
            <a:avLst/>
          </a:prstGeom>
          <a:solidFill>
            <a:srgbClr val="BFE6FF">
              <a:alpha val="3607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523945" y="4701701"/>
            <a:ext cx="31385" cy="31385"/>
          </a:xfrm>
          <a:prstGeom prst="ellipse">
            <a:avLst/>
          </a:prstGeom>
          <a:solidFill>
            <a:srgbClr val="BFE6FF">
              <a:alpha val="1372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766655" y="1812149"/>
            <a:ext cx="28478" cy="28478"/>
          </a:xfrm>
          <a:prstGeom prst="ellipse">
            <a:avLst/>
          </a:prstGeom>
          <a:solidFill>
            <a:srgbClr val="BFE6FF">
              <a:alpha val="4156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5"/>
          <p:cNvSpPr/>
          <p:nvPr/>
        </p:nvSpPr>
        <p:spPr>
          <a:xfrm>
            <a:off x="896319" y="4796138"/>
            <a:ext cx="13164" cy="13164"/>
          </a:xfrm>
          <a:prstGeom prst="ellipse">
            <a:avLst/>
          </a:prstGeom>
          <a:solidFill>
            <a:srgbClr val="BFE6FF">
              <a:alpha val="3294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7273727" y="2333528"/>
            <a:ext cx="25368" cy="25368"/>
          </a:xfrm>
          <a:prstGeom prst="ellipse">
            <a:avLst/>
          </a:prstGeom>
          <a:solidFill>
            <a:srgbClr val="BFE6FF">
              <a:alpha val="4313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6135943" y="1854413"/>
            <a:ext cx="32521" cy="32521"/>
          </a:xfrm>
          <a:prstGeom prst="ellipse">
            <a:avLst/>
          </a:prstGeom>
          <a:solidFill>
            <a:srgbClr val="BFE6FF">
              <a:alpha val="2470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6104856" y="926501"/>
            <a:ext cx="17613" cy="17613"/>
          </a:xfrm>
          <a:prstGeom prst="ellipse">
            <a:avLst/>
          </a:prstGeom>
          <a:solidFill>
            <a:srgbClr val="BFE6FF">
              <a:alpha val="3333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8262566" y="3560175"/>
            <a:ext cx="15857" cy="15857"/>
          </a:xfrm>
          <a:prstGeom prst="ellipse">
            <a:avLst/>
          </a:prstGeom>
          <a:solidFill>
            <a:srgbClr val="BFE6FF">
              <a:alpha val="4156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1203566" y="776199"/>
            <a:ext cx="15438" cy="15438"/>
          </a:xfrm>
          <a:prstGeom prst="ellipse">
            <a:avLst/>
          </a:prstGeom>
          <a:solidFill>
            <a:srgbClr val="BFE6FF">
              <a:alpha val="1372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4647216" y="2537892"/>
            <a:ext cx="19952" cy="19952"/>
          </a:xfrm>
          <a:prstGeom prst="ellipse">
            <a:avLst/>
          </a:prstGeom>
          <a:solidFill>
            <a:srgbClr val="BFE6FF">
              <a:alpha val="2078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2206005" y="2417855"/>
            <a:ext cx="25054" cy="25054"/>
          </a:xfrm>
          <a:prstGeom prst="ellipse">
            <a:avLst/>
          </a:prstGeom>
          <a:solidFill>
            <a:srgbClr val="BFE6FF">
              <a:alpha val="1137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4574438" y="25146"/>
            <a:ext cx="34166" cy="34166"/>
          </a:xfrm>
          <a:prstGeom prst="ellipse">
            <a:avLst/>
          </a:prstGeom>
          <a:solidFill>
            <a:srgbClr val="BFE6FF">
              <a:alpha val="1294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5566662" y="4985926"/>
            <a:ext cx="30072" cy="30072"/>
          </a:xfrm>
          <a:prstGeom prst="ellipse">
            <a:avLst/>
          </a:prstGeom>
          <a:solidFill>
            <a:srgbClr val="BFE6FF">
              <a:alpha val="2745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4808333" y="897954"/>
            <a:ext cx="13693" cy="13693"/>
          </a:xfrm>
          <a:prstGeom prst="ellipse">
            <a:avLst/>
          </a:prstGeom>
          <a:solidFill>
            <a:srgbClr val="BFE6FF">
              <a:alpha val="2745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3118205" y="4315145"/>
            <a:ext cx="15905" cy="15905"/>
          </a:xfrm>
          <a:prstGeom prst="ellipse">
            <a:avLst/>
          </a:prstGeom>
          <a:solidFill>
            <a:srgbClr val="BFE6FF">
              <a:alpha val="1725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8353681" y="4527164"/>
            <a:ext cx="23015" cy="23015"/>
          </a:xfrm>
          <a:prstGeom prst="ellipse">
            <a:avLst/>
          </a:prstGeom>
          <a:solidFill>
            <a:srgbClr val="BFE6FF">
              <a:alpha val="3333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1081441" y="373358"/>
            <a:ext cx="23759" cy="23759"/>
          </a:xfrm>
          <a:prstGeom prst="ellipse">
            <a:avLst/>
          </a:prstGeom>
          <a:solidFill>
            <a:srgbClr val="BFE6FF">
              <a:alpha val="3607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8854711" y="3626231"/>
            <a:ext cx="17929" cy="17929"/>
          </a:xfrm>
          <a:prstGeom prst="ellipse">
            <a:avLst/>
          </a:prstGeom>
          <a:solidFill>
            <a:srgbClr val="BFE6FF">
              <a:alpha val="1490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1771611" y="357833"/>
            <a:ext cx="15834" cy="15834"/>
          </a:xfrm>
          <a:prstGeom prst="ellipse">
            <a:avLst/>
          </a:prstGeom>
          <a:solidFill>
            <a:srgbClr val="BFE6FF">
              <a:alpha val="4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913957" y="2147864"/>
            <a:ext cx="30257" cy="30256"/>
          </a:xfrm>
          <a:prstGeom prst="ellipse">
            <a:avLst/>
          </a:prstGeom>
          <a:solidFill>
            <a:srgbClr val="BFE6FF">
              <a:alpha val="1686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3146082" y="2796503"/>
            <a:ext cx="33967" cy="33967"/>
          </a:xfrm>
          <a:prstGeom prst="ellipse">
            <a:avLst/>
          </a:prstGeom>
          <a:solidFill>
            <a:srgbClr val="BFE6FF">
              <a:alpha val="2941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1767963" y="3331025"/>
            <a:ext cx="23165" cy="23165"/>
          </a:xfrm>
          <a:prstGeom prst="ellipse">
            <a:avLst/>
          </a:prstGeom>
          <a:solidFill>
            <a:srgbClr val="BFE6FF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8661485" y="93410"/>
            <a:ext cx="17338" cy="17338"/>
          </a:xfrm>
          <a:prstGeom prst="ellipse">
            <a:avLst/>
          </a:prstGeom>
          <a:solidFill>
            <a:srgbClr val="BFE6FF">
              <a:alpha val="1960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3663218" y="4282767"/>
            <a:ext cx="13525" cy="13525"/>
          </a:xfrm>
          <a:prstGeom prst="ellipse">
            <a:avLst/>
          </a:prstGeom>
          <a:solidFill>
            <a:srgbClr val="BFE6FF">
              <a:alpha val="3490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6220421" y="1877345"/>
            <a:ext cx="27603" cy="27603"/>
          </a:xfrm>
          <a:prstGeom prst="ellipse">
            <a:avLst/>
          </a:prstGeom>
          <a:solidFill>
            <a:srgbClr val="BFE6FF">
              <a:alpha val="1058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5127087" y="826769"/>
            <a:ext cx="17325" cy="17325"/>
          </a:xfrm>
          <a:prstGeom prst="ellipse">
            <a:avLst/>
          </a:prstGeom>
          <a:solidFill>
            <a:srgbClr val="BFE6FF">
              <a:alpha val="3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2164158" y="349047"/>
            <a:ext cx="33308" cy="33307"/>
          </a:xfrm>
          <a:prstGeom prst="ellipse">
            <a:avLst/>
          </a:prstGeom>
          <a:solidFill>
            <a:srgbClr val="BFE6FF">
              <a:alpha val="3176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2723639" y="3741274"/>
            <a:ext cx="18561" cy="18561"/>
          </a:xfrm>
          <a:prstGeom prst="ellipse">
            <a:avLst/>
          </a:prstGeom>
          <a:solidFill>
            <a:srgbClr val="BFE6FF">
              <a:alpha val="2274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1979733" y="349"/>
            <a:ext cx="20203" cy="20203"/>
          </a:xfrm>
          <a:prstGeom prst="ellipse">
            <a:avLst/>
          </a:prstGeom>
          <a:solidFill>
            <a:srgbClr val="BFE6FF">
              <a:alpha val="3137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4920362" y="2372580"/>
            <a:ext cx="26766" cy="26766"/>
          </a:xfrm>
          <a:prstGeom prst="ellipse">
            <a:avLst/>
          </a:prstGeom>
          <a:solidFill>
            <a:srgbClr val="BFE6FF">
              <a:alpha val="2431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6181438" y="1420696"/>
            <a:ext cx="17843" cy="17842"/>
          </a:xfrm>
          <a:prstGeom prst="ellipse">
            <a:avLst/>
          </a:prstGeom>
          <a:solidFill>
            <a:srgbClr val="BFE6FF">
              <a:alpha val="3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956318" y="3117102"/>
            <a:ext cx="18797" cy="18797"/>
          </a:xfrm>
          <a:prstGeom prst="ellipse">
            <a:avLst/>
          </a:prstGeom>
          <a:solidFill>
            <a:srgbClr val="BFE6FF">
              <a:alpha val="2901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5993080" y="4214236"/>
            <a:ext cx="25362" cy="25362"/>
          </a:xfrm>
          <a:prstGeom prst="ellipse">
            <a:avLst/>
          </a:prstGeom>
          <a:solidFill>
            <a:srgbClr val="BFE6FF">
              <a:alpha val="3764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3195190" y="897101"/>
            <a:ext cx="29092" cy="29092"/>
          </a:xfrm>
          <a:prstGeom prst="ellipse">
            <a:avLst/>
          </a:prstGeom>
          <a:solidFill>
            <a:srgbClr val="BFE6FF">
              <a:alpha val="4431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7150396" y="2613860"/>
            <a:ext cx="26605" cy="26606"/>
          </a:xfrm>
          <a:prstGeom prst="ellipse">
            <a:avLst/>
          </a:prstGeom>
          <a:solidFill>
            <a:srgbClr val="BFE6FF">
              <a:alpha val="1568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319452" y="3614138"/>
            <a:ext cx="16848" cy="16848"/>
          </a:xfrm>
          <a:prstGeom prst="ellipse">
            <a:avLst/>
          </a:prstGeom>
          <a:solidFill>
            <a:srgbClr val="BFE6FF">
              <a:alpha val="4431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8217690" y="3566228"/>
            <a:ext cx="31332" cy="31332"/>
          </a:xfrm>
          <a:prstGeom prst="ellipse">
            <a:avLst/>
          </a:prstGeom>
          <a:solidFill>
            <a:srgbClr val="BFE6FF">
              <a:alpha val="3254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8151712" y="3766358"/>
            <a:ext cx="21062" cy="21062"/>
          </a:xfrm>
          <a:prstGeom prst="ellipse">
            <a:avLst/>
          </a:prstGeom>
          <a:solidFill>
            <a:srgbClr val="BFE6FF">
              <a:alpha val="2549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2252777" y="2869033"/>
            <a:ext cx="32549" cy="32549"/>
          </a:xfrm>
          <a:prstGeom prst="ellipse">
            <a:avLst/>
          </a:prstGeom>
          <a:solidFill>
            <a:srgbClr val="BFE6FF">
              <a:alpha val="4078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3902641" y="3187015"/>
            <a:ext cx="20701" cy="20701"/>
          </a:xfrm>
          <a:prstGeom prst="ellipse">
            <a:avLst/>
          </a:prstGeom>
          <a:solidFill>
            <a:srgbClr val="BFE6FF">
              <a:alpha val="2705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3525209" y="482513"/>
            <a:ext cx="19255" cy="19255"/>
          </a:xfrm>
          <a:prstGeom prst="ellipse">
            <a:avLst/>
          </a:prstGeom>
          <a:solidFill>
            <a:srgbClr val="BFE6FF">
              <a:alpha val="2784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2770734" y="207462"/>
            <a:ext cx="18022" cy="18022"/>
          </a:xfrm>
          <a:prstGeom prst="ellipse">
            <a:avLst/>
          </a:prstGeom>
          <a:solidFill>
            <a:srgbClr val="BFE6FF">
              <a:alpha val="4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3123139" y="1199025"/>
            <a:ext cx="12769" cy="12769"/>
          </a:xfrm>
          <a:prstGeom prst="ellipse">
            <a:avLst/>
          </a:prstGeom>
          <a:solidFill>
            <a:srgbClr val="BFE6FF">
              <a:alpha val="2392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2282441" y="1421402"/>
            <a:ext cx="15593" cy="15593"/>
          </a:xfrm>
          <a:prstGeom prst="ellipse">
            <a:avLst/>
          </a:prstGeom>
          <a:solidFill>
            <a:srgbClr val="BFE6FF">
              <a:alpha val="2039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3780018" y="3854579"/>
            <a:ext cx="14010" cy="14010"/>
          </a:xfrm>
          <a:prstGeom prst="ellipse">
            <a:avLst/>
          </a:prstGeom>
          <a:solidFill>
            <a:srgbClr val="BFE6FF">
              <a:alpha val="1568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122579" y="3010598"/>
            <a:ext cx="16213" cy="16213"/>
          </a:xfrm>
          <a:prstGeom prst="ellipse">
            <a:avLst/>
          </a:prstGeom>
          <a:solidFill>
            <a:srgbClr val="BFE6FF">
              <a:alpha val="2666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5346467" y="3703748"/>
            <a:ext cx="15436" cy="15436"/>
          </a:xfrm>
          <a:prstGeom prst="ellipse">
            <a:avLst/>
          </a:prstGeom>
          <a:solidFill>
            <a:srgbClr val="BFE6FF">
              <a:alpha val="1607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2564182" y="4183662"/>
            <a:ext cx="32423" cy="32423"/>
          </a:xfrm>
          <a:prstGeom prst="ellipse">
            <a:avLst/>
          </a:prstGeom>
          <a:solidFill>
            <a:srgbClr val="BFE6FF">
              <a:alpha val="4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1721106" y="698207"/>
            <a:ext cx="34192" cy="34192"/>
          </a:xfrm>
          <a:prstGeom prst="ellipse">
            <a:avLst/>
          </a:prstGeom>
          <a:solidFill>
            <a:srgbClr val="BFE6FF">
              <a:alpha val="3960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5224702" y="178758"/>
            <a:ext cx="13350" cy="13350"/>
          </a:xfrm>
          <a:prstGeom prst="ellipse">
            <a:avLst/>
          </a:prstGeom>
          <a:solidFill>
            <a:srgbClr val="BFE6FF">
              <a:alpha val="2039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323370" y="3983170"/>
            <a:ext cx="33677" cy="33677"/>
          </a:xfrm>
          <a:prstGeom prst="ellipse">
            <a:avLst/>
          </a:prstGeom>
          <a:solidFill>
            <a:srgbClr val="BFE6FF">
              <a:alpha val="3647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4938244" y="2925340"/>
            <a:ext cx="12995" cy="12995"/>
          </a:xfrm>
          <a:prstGeom prst="ellipse">
            <a:avLst/>
          </a:prstGeom>
          <a:solidFill>
            <a:srgbClr val="BFE6FF">
              <a:alpha val="1607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2923136" y="4406999"/>
            <a:ext cx="22691" cy="22691"/>
          </a:xfrm>
          <a:prstGeom prst="ellipse">
            <a:avLst/>
          </a:prstGeom>
          <a:solidFill>
            <a:srgbClr val="BFE6FF">
              <a:alpha val="3686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2342116" y="980603"/>
            <a:ext cx="16451" cy="16450"/>
          </a:xfrm>
          <a:prstGeom prst="ellipse">
            <a:avLst/>
          </a:prstGeom>
          <a:solidFill>
            <a:srgbClr val="BFE6FF">
              <a:alpha val="1176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6583680" y="-1097280"/>
            <a:ext cx="3771900" cy="3771900"/>
          </a:xfrm>
          <a:prstGeom prst="ellipse">
            <a:avLst/>
          </a:prstGeom>
          <a:solidFill>
            <a:srgbClr val="2FC6FF">
              <a:alpha val="1215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5"/>
          <p:cNvSpPr/>
          <p:nvPr/>
        </p:nvSpPr>
        <p:spPr>
          <a:xfrm>
            <a:off x="-1234440" y="3154680"/>
            <a:ext cx="3086100" cy="3086100"/>
          </a:xfrm>
          <a:prstGeom prst="ellipse">
            <a:avLst/>
          </a:prstGeom>
          <a:solidFill>
            <a:srgbClr val="FFB238">
              <a:alpha val="784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5"/>
          <p:cNvSpPr/>
          <p:nvPr/>
        </p:nvSpPr>
        <p:spPr>
          <a:xfrm>
            <a:off x="411480" y="1474470"/>
            <a:ext cx="75438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C6FF"/>
              </a:buClr>
              <a:buSzPts val="1100"/>
              <a:buFont typeface="Courier New"/>
              <a:buNone/>
            </a:pPr>
            <a:r>
              <a:rPr b="1" i="0" lang="it" sz="1100" u="none" cap="none" strike="noStrike">
                <a:solidFill>
                  <a:srgbClr val="2FC6FF"/>
                </a:solidFill>
                <a:latin typeface="Courier New"/>
                <a:ea typeface="Courier New"/>
                <a:cs typeface="Courier New"/>
                <a:sym typeface="Courier New"/>
              </a:rPr>
              <a:t>SAPIENZA UNIVERSITÀ DI ROMA  ·  INTERACTIVE GRAPHICS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411480" y="1748790"/>
            <a:ext cx="78867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4800"/>
              <a:buFont typeface="Courier New"/>
              <a:buNone/>
            </a:pPr>
            <a:r>
              <a:rPr b="1" i="0" lang="it" sz="4800" u="none" cap="none" strike="noStrike">
                <a:solidFill>
                  <a:srgbClr val="EAF6FF"/>
                </a:solidFill>
                <a:latin typeface="Courier New"/>
                <a:ea typeface="Courier New"/>
                <a:cs typeface="Courier New"/>
                <a:sym typeface="Courier New"/>
              </a:rPr>
              <a:t>LUMEN DRIFT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411480" y="2640330"/>
            <a:ext cx="7200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1200"/>
              <a:buFont typeface="Calibri"/>
              <a:buNone/>
            </a:pPr>
            <a:r>
              <a:rPr b="0" i="1" lang="it" sz="12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A sci-fi exploration &amp; platforming game, built in Three.js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411480" y="3223260"/>
            <a:ext cx="411480" cy="411480"/>
          </a:xfrm>
          <a:prstGeom prst="ellipse">
            <a:avLst/>
          </a:prstGeom>
          <a:solidFill>
            <a:srgbClr val="2FC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53" name="Google Shape;15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350" y="3326130"/>
            <a:ext cx="205740" cy="20574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5"/>
          <p:cNvSpPr/>
          <p:nvPr/>
        </p:nvSpPr>
        <p:spPr>
          <a:xfrm>
            <a:off x="960120" y="3236976"/>
            <a:ext cx="54864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000"/>
              <a:buFont typeface="Calibri"/>
              <a:buNone/>
            </a:pPr>
            <a:r>
              <a:rPr b="1" i="0" lang="it" sz="10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Fabio Falconi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Student ID 2048079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Professor: Marco Schaerf   ·   Academic Year 2025/2026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B16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"/>
          <p:cNvSpPr/>
          <p:nvPr/>
        </p:nvSpPr>
        <p:spPr>
          <a:xfrm>
            <a:off x="1976132" y="2890338"/>
            <a:ext cx="19599" cy="19599"/>
          </a:xfrm>
          <a:prstGeom prst="ellipse">
            <a:avLst/>
          </a:prstGeom>
          <a:solidFill>
            <a:srgbClr val="BFE6FF">
              <a:alpha val="3607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2710110" y="680063"/>
            <a:ext cx="29212" cy="29212"/>
          </a:xfrm>
          <a:prstGeom prst="ellipse">
            <a:avLst/>
          </a:prstGeom>
          <a:solidFill>
            <a:srgbClr val="BFE6FF">
              <a:alpha val="2431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3689030" y="25826"/>
            <a:ext cx="16411" cy="16411"/>
          </a:xfrm>
          <a:prstGeom prst="ellipse">
            <a:avLst/>
          </a:prstGeom>
          <a:solidFill>
            <a:srgbClr val="BFE6FF">
              <a:alpha val="1137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4027731" y="2526291"/>
            <a:ext cx="24849" cy="24849"/>
          </a:xfrm>
          <a:prstGeom prst="ellipse">
            <a:avLst/>
          </a:prstGeom>
          <a:solidFill>
            <a:srgbClr val="BFE6FF">
              <a:alpha val="4352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1326320" y="1160442"/>
            <a:ext cx="13597" cy="13597"/>
          </a:xfrm>
          <a:prstGeom prst="ellipse">
            <a:avLst/>
          </a:prstGeom>
          <a:solidFill>
            <a:srgbClr val="BFE6FF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2434345" y="3262282"/>
            <a:ext cx="17942" cy="17942"/>
          </a:xfrm>
          <a:prstGeom prst="ellipse">
            <a:avLst/>
          </a:prstGeom>
          <a:solidFill>
            <a:srgbClr val="BFE6FF">
              <a:alpha val="4274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186923" y="3497874"/>
            <a:ext cx="24454" cy="24454"/>
          </a:xfrm>
          <a:prstGeom prst="ellipse">
            <a:avLst/>
          </a:prstGeom>
          <a:solidFill>
            <a:srgbClr val="BFE6FF">
              <a:alpha val="4078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2236055" y="792422"/>
            <a:ext cx="23779" cy="23779"/>
          </a:xfrm>
          <a:prstGeom prst="ellipse">
            <a:avLst/>
          </a:prstGeom>
          <a:solidFill>
            <a:srgbClr val="BFE6FF">
              <a:alpha val="4313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2419985" y="399935"/>
            <a:ext cx="27187" cy="27187"/>
          </a:xfrm>
          <a:prstGeom prst="ellipse">
            <a:avLst/>
          </a:prstGeom>
          <a:solidFill>
            <a:srgbClr val="BFE6FF">
              <a:alpha val="3372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1468990" y="51241"/>
            <a:ext cx="21011" cy="21011"/>
          </a:xfrm>
          <a:prstGeom prst="ellipse">
            <a:avLst/>
          </a:prstGeom>
          <a:solidFill>
            <a:srgbClr val="BFE6FF">
              <a:alpha val="1098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2966763" y="3680270"/>
            <a:ext cx="22800" cy="22800"/>
          </a:xfrm>
          <a:prstGeom prst="ellipse">
            <a:avLst/>
          </a:prstGeom>
          <a:solidFill>
            <a:srgbClr val="BFE6FF">
              <a:alpha val="2274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1648026" y="2395523"/>
            <a:ext cx="25021" cy="25021"/>
          </a:xfrm>
          <a:prstGeom prst="ellipse">
            <a:avLst/>
          </a:prstGeom>
          <a:solidFill>
            <a:srgbClr val="BFE6FF">
              <a:alpha val="2627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4930690" y="3655893"/>
            <a:ext cx="15000" cy="15000"/>
          </a:xfrm>
          <a:prstGeom prst="ellipse">
            <a:avLst/>
          </a:prstGeom>
          <a:solidFill>
            <a:srgbClr val="BFE6FF">
              <a:alpha val="3529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1978007" y="305423"/>
            <a:ext cx="33909" cy="33909"/>
          </a:xfrm>
          <a:prstGeom prst="ellipse">
            <a:avLst/>
          </a:prstGeom>
          <a:solidFill>
            <a:srgbClr val="BFE6FF">
              <a:alpha val="3764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6070526" y="2138415"/>
            <a:ext cx="32411" cy="32411"/>
          </a:xfrm>
          <a:prstGeom prst="ellipse">
            <a:avLst/>
          </a:prstGeom>
          <a:solidFill>
            <a:srgbClr val="BFE6FF">
              <a:alpha val="1333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4999794" y="519440"/>
            <a:ext cx="31385" cy="31385"/>
          </a:xfrm>
          <a:prstGeom prst="ellipse">
            <a:avLst/>
          </a:prstGeom>
          <a:solidFill>
            <a:srgbClr val="BFE6FF">
              <a:alpha val="3176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1727114" y="963530"/>
            <a:ext cx="12761" cy="12761"/>
          </a:xfrm>
          <a:prstGeom prst="ellipse">
            <a:avLst/>
          </a:prstGeom>
          <a:solidFill>
            <a:srgbClr val="BFE6FF">
              <a:alpha val="1215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1652157" y="4996217"/>
            <a:ext cx="16907" cy="16907"/>
          </a:xfrm>
          <a:prstGeom prst="ellipse">
            <a:avLst/>
          </a:prstGeom>
          <a:solidFill>
            <a:srgbClr val="BFE6FF">
              <a:alpha val="2901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8706458" y="4808027"/>
            <a:ext cx="33264" cy="33264"/>
          </a:xfrm>
          <a:prstGeom prst="ellipse">
            <a:avLst/>
          </a:prstGeom>
          <a:solidFill>
            <a:srgbClr val="BFE6FF">
              <a:alpha val="2705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8568925" y="2416916"/>
            <a:ext cx="13429" cy="13429"/>
          </a:xfrm>
          <a:prstGeom prst="ellipse">
            <a:avLst/>
          </a:prstGeom>
          <a:solidFill>
            <a:srgbClr val="BFE6FF">
              <a:alpha val="1137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6"/>
          <p:cNvSpPr/>
          <p:nvPr/>
        </p:nvSpPr>
        <p:spPr>
          <a:xfrm>
            <a:off x="6239873" y="1010795"/>
            <a:ext cx="33700" cy="33700"/>
          </a:xfrm>
          <a:prstGeom prst="ellipse">
            <a:avLst/>
          </a:prstGeom>
          <a:solidFill>
            <a:srgbClr val="BFE6FF">
              <a:alpha val="3882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6"/>
          <p:cNvSpPr/>
          <p:nvPr/>
        </p:nvSpPr>
        <p:spPr>
          <a:xfrm>
            <a:off x="2723672" y="4871383"/>
            <a:ext cx="21664" cy="21664"/>
          </a:xfrm>
          <a:prstGeom prst="ellipse">
            <a:avLst/>
          </a:prstGeom>
          <a:solidFill>
            <a:srgbClr val="BFE6FF">
              <a:alpha val="3725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6"/>
          <p:cNvSpPr/>
          <p:nvPr/>
        </p:nvSpPr>
        <p:spPr>
          <a:xfrm>
            <a:off x="308332" y="1627224"/>
            <a:ext cx="20053" cy="20053"/>
          </a:xfrm>
          <a:prstGeom prst="ellipse">
            <a:avLst/>
          </a:prstGeom>
          <a:solidFill>
            <a:srgbClr val="BFE6FF">
              <a:alpha val="1764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6"/>
          <p:cNvSpPr/>
          <p:nvPr/>
        </p:nvSpPr>
        <p:spPr>
          <a:xfrm>
            <a:off x="1177628" y="4755885"/>
            <a:ext cx="31951" cy="31951"/>
          </a:xfrm>
          <a:prstGeom prst="ellipse">
            <a:avLst/>
          </a:prstGeom>
          <a:solidFill>
            <a:srgbClr val="BFE6FF">
              <a:alpha val="1568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6"/>
          <p:cNvSpPr/>
          <p:nvPr/>
        </p:nvSpPr>
        <p:spPr>
          <a:xfrm>
            <a:off x="8731251" y="2989963"/>
            <a:ext cx="28046" cy="28046"/>
          </a:xfrm>
          <a:prstGeom prst="ellipse">
            <a:avLst/>
          </a:prstGeom>
          <a:solidFill>
            <a:srgbClr val="BFE6FF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6"/>
          <p:cNvSpPr/>
          <p:nvPr/>
        </p:nvSpPr>
        <p:spPr>
          <a:xfrm>
            <a:off x="3696284" y="1936098"/>
            <a:ext cx="25744" cy="25744"/>
          </a:xfrm>
          <a:prstGeom prst="ellipse">
            <a:avLst/>
          </a:prstGeom>
          <a:solidFill>
            <a:srgbClr val="BFE6FF">
              <a:alpha val="3490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6"/>
          <p:cNvSpPr/>
          <p:nvPr/>
        </p:nvSpPr>
        <p:spPr>
          <a:xfrm>
            <a:off x="8454362" y="5106479"/>
            <a:ext cx="18649" cy="18650"/>
          </a:xfrm>
          <a:prstGeom prst="ellipse">
            <a:avLst/>
          </a:prstGeom>
          <a:solidFill>
            <a:srgbClr val="BFE6FF">
              <a:alpha val="2431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6"/>
          <p:cNvSpPr/>
          <p:nvPr/>
        </p:nvSpPr>
        <p:spPr>
          <a:xfrm>
            <a:off x="151118" y="3961510"/>
            <a:ext cx="13335" cy="13335"/>
          </a:xfrm>
          <a:prstGeom prst="ellipse">
            <a:avLst/>
          </a:prstGeom>
          <a:solidFill>
            <a:srgbClr val="BFE6FF">
              <a:alpha val="3176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6"/>
          <p:cNvSpPr/>
          <p:nvPr/>
        </p:nvSpPr>
        <p:spPr>
          <a:xfrm>
            <a:off x="97197" y="659100"/>
            <a:ext cx="16706" cy="16706"/>
          </a:xfrm>
          <a:prstGeom prst="ellipse">
            <a:avLst/>
          </a:prstGeom>
          <a:solidFill>
            <a:srgbClr val="BFE6FF">
              <a:alpha val="2823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6"/>
          <p:cNvSpPr/>
          <p:nvPr/>
        </p:nvSpPr>
        <p:spPr>
          <a:xfrm>
            <a:off x="4376554" y="2101798"/>
            <a:ext cx="27888" cy="27888"/>
          </a:xfrm>
          <a:prstGeom prst="ellipse">
            <a:avLst/>
          </a:prstGeom>
          <a:solidFill>
            <a:srgbClr val="BFE6FF">
              <a:alpha val="4078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6"/>
          <p:cNvSpPr/>
          <p:nvPr/>
        </p:nvSpPr>
        <p:spPr>
          <a:xfrm>
            <a:off x="4610178" y="2696192"/>
            <a:ext cx="26600" cy="26599"/>
          </a:xfrm>
          <a:prstGeom prst="ellipse">
            <a:avLst/>
          </a:prstGeom>
          <a:solidFill>
            <a:srgbClr val="BFE6FF">
              <a:alpha val="3529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6"/>
          <p:cNvSpPr/>
          <p:nvPr/>
        </p:nvSpPr>
        <p:spPr>
          <a:xfrm>
            <a:off x="1153223" y="4668967"/>
            <a:ext cx="30900" cy="30900"/>
          </a:xfrm>
          <a:prstGeom prst="ellipse">
            <a:avLst/>
          </a:prstGeom>
          <a:solidFill>
            <a:srgbClr val="BFE6FF">
              <a:alpha val="1607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6"/>
          <p:cNvSpPr/>
          <p:nvPr/>
        </p:nvSpPr>
        <p:spPr>
          <a:xfrm>
            <a:off x="4802239" y="2822524"/>
            <a:ext cx="27612" cy="27612"/>
          </a:xfrm>
          <a:prstGeom prst="ellipse">
            <a:avLst/>
          </a:prstGeom>
          <a:solidFill>
            <a:srgbClr val="BFE6FF">
              <a:alpha val="1137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6"/>
          <p:cNvSpPr/>
          <p:nvPr/>
        </p:nvSpPr>
        <p:spPr>
          <a:xfrm>
            <a:off x="8074778" y="1420007"/>
            <a:ext cx="28277" cy="28277"/>
          </a:xfrm>
          <a:prstGeom prst="ellipse">
            <a:avLst/>
          </a:prstGeom>
          <a:solidFill>
            <a:srgbClr val="BFE6FF">
              <a:alpha val="3333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6"/>
          <p:cNvSpPr/>
          <p:nvPr/>
        </p:nvSpPr>
        <p:spPr>
          <a:xfrm>
            <a:off x="6182621" y="618572"/>
            <a:ext cx="24443" cy="24443"/>
          </a:xfrm>
          <a:prstGeom prst="ellipse">
            <a:avLst/>
          </a:prstGeom>
          <a:solidFill>
            <a:srgbClr val="BFE6FF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6"/>
          <p:cNvSpPr/>
          <p:nvPr/>
        </p:nvSpPr>
        <p:spPr>
          <a:xfrm>
            <a:off x="6497516" y="1562708"/>
            <a:ext cx="12590" cy="12590"/>
          </a:xfrm>
          <a:prstGeom prst="ellipse">
            <a:avLst/>
          </a:prstGeom>
          <a:solidFill>
            <a:srgbClr val="BFE6FF">
              <a:alpha val="1921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6"/>
          <p:cNvSpPr/>
          <p:nvPr/>
        </p:nvSpPr>
        <p:spPr>
          <a:xfrm>
            <a:off x="4547717" y="3784557"/>
            <a:ext cx="30600" cy="30600"/>
          </a:xfrm>
          <a:prstGeom prst="ellipse">
            <a:avLst/>
          </a:prstGeom>
          <a:solidFill>
            <a:srgbClr val="BFE6FF">
              <a:alpha val="2941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6"/>
          <p:cNvSpPr/>
          <p:nvPr/>
        </p:nvSpPr>
        <p:spPr>
          <a:xfrm>
            <a:off x="3037155" y="1984500"/>
            <a:ext cx="28513" cy="28513"/>
          </a:xfrm>
          <a:prstGeom prst="ellipse">
            <a:avLst/>
          </a:prstGeom>
          <a:solidFill>
            <a:srgbClr val="BFE6FF">
              <a:alpha val="3607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6"/>
          <p:cNvSpPr/>
          <p:nvPr/>
        </p:nvSpPr>
        <p:spPr>
          <a:xfrm>
            <a:off x="5446571" y="1709160"/>
            <a:ext cx="32345" cy="32345"/>
          </a:xfrm>
          <a:prstGeom prst="ellipse">
            <a:avLst/>
          </a:prstGeom>
          <a:solidFill>
            <a:srgbClr val="BFE6FF">
              <a:alpha val="2431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6"/>
          <p:cNvSpPr/>
          <p:nvPr/>
        </p:nvSpPr>
        <p:spPr>
          <a:xfrm>
            <a:off x="949597" y="2610780"/>
            <a:ext cx="20973" cy="20973"/>
          </a:xfrm>
          <a:prstGeom prst="ellipse">
            <a:avLst/>
          </a:prstGeom>
          <a:solidFill>
            <a:srgbClr val="BFE6FF">
              <a:alpha val="3411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6"/>
          <p:cNvSpPr/>
          <p:nvPr/>
        </p:nvSpPr>
        <p:spPr>
          <a:xfrm>
            <a:off x="4363029" y="2447096"/>
            <a:ext cx="15862" cy="15862"/>
          </a:xfrm>
          <a:prstGeom prst="ellipse">
            <a:avLst/>
          </a:prstGeom>
          <a:solidFill>
            <a:srgbClr val="BFE6FF">
              <a:alpha val="1686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6"/>
          <p:cNvSpPr/>
          <p:nvPr/>
        </p:nvSpPr>
        <p:spPr>
          <a:xfrm>
            <a:off x="3397410" y="3676955"/>
            <a:ext cx="22500" cy="22500"/>
          </a:xfrm>
          <a:prstGeom prst="ellipse">
            <a:avLst/>
          </a:prstGeom>
          <a:solidFill>
            <a:srgbClr val="BFE6FF">
              <a:alpha val="1333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6"/>
          <p:cNvSpPr/>
          <p:nvPr/>
        </p:nvSpPr>
        <p:spPr>
          <a:xfrm>
            <a:off x="411480" y="288036"/>
            <a:ext cx="6172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C6FF"/>
              </a:buClr>
              <a:buSzPts val="900"/>
              <a:buFont typeface="Courier New"/>
              <a:buNone/>
            </a:pPr>
            <a:r>
              <a:rPr b="1" i="0" lang="it" sz="900" u="none" cap="none" strike="noStrike">
                <a:solidFill>
                  <a:srgbClr val="2FC6FF"/>
                </a:solidFill>
                <a:latin typeface="Courier New"/>
                <a:ea typeface="Courier New"/>
                <a:cs typeface="Courier New"/>
                <a:sym typeface="Courier New"/>
              </a:rPr>
              <a:t>01 — OVERVIEW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6"/>
          <p:cNvSpPr/>
          <p:nvPr/>
        </p:nvSpPr>
        <p:spPr>
          <a:xfrm>
            <a:off x="411480" y="466344"/>
            <a:ext cx="72694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2100"/>
              <a:buFont typeface="Courier New"/>
              <a:buNone/>
            </a:pPr>
            <a:r>
              <a:rPr b="1" i="0" lang="it" sz="2100" u="none" cap="none" strike="noStrike">
                <a:solidFill>
                  <a:srgbClr val="EAF6FF"/>
                </a:solidFill>
                <a:latin typeface="Courier New"/>
                <a:ea typeface="Courier New"/>
                <a:cs typeface="Courier New"/>
                <a:sym typeface="Courier New"/>
              </a:rPr>
              <a:t>Introduction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6"/>
          <p:cNvSpPr/>
          <p:nvPr/>
        </p:nvSpPr>
        <p:spPr>
          <a:xfrm>
            <a:off x="8197367" y="288036"/>
            <a:ext cx="534924" cy="534924"/>
          </a:xfrm>
          <a:prstGeom prst="ellipse">
            <a:avLst/>
          </a:prstGeom>
          <a:solidFill>
            <a:srgbClr val="2FC6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05" name="Google Shape;20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7669" y="41833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6"/>
          <p:cNvSpPr/>
          <p:nvPr/>
        </p:nvSpPr>
        <p:spPr>
          <a:xfrm>
            <a:off x="411480" y="4855464"/>
            <a:ext cx="2743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700"/>
              <a:buFont typeface="Courier New"/>
              <a:buNone/>
            </a:pPr>
            <a:r>
              <a:rPr b="0" i="0" lang="it" sz="700" u="none" cap="none" strike="noStrike">
                <a:solidFill>
                  <a:srgbClr val="93B3D6"/>
                </a:solidFill>
                <a:latin typeface="Courier New"/>
                <a:ea typeface="Courier New"/>
                <a:cs typeface="Courier New"/>
                <a:sym typeface="Courier New"/>
              </a:rPr>
              <a:t>LUMEN DRIFT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6"/>
          <p:cNvSpPr/>
          <p:nvPr/>
        </p:nvSpPr>
        <p:spPr>
          <a:xfrm>
            <a:off x="8320811" y="4855464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700"/>
              <a:buFont typeface="Courier New"/>
              <a:buNone/>
            </a:pPr>
            <a:r>
              <a:rPr b="0" i="0" lang="it" sz="700" u="none" cap="none" strike="noStrike">
                <a:solidFill>
                  <a:srgbClr val="93B3D6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6"/>
          <p:cNvSpPr/>
          <p:nvPr/>
        </p:nvSpPr>
        <p:spPr>
          <a:xfrm>
            <a:off x="417225" y="1019687"/>
            <a:ext cx="4457700" cy="21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100"/>
              <a:buFont typeface="Calibri"/>
              <a:buChar char="▸"/>
            </a:pPr>
            <a:r>
              <a:rPr b="0" i="0" lang="it" sz="11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Browser-executable 3D application for the Interactive Graphics course, built entirely with Three.js and WebGL.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EAF6FF"/>
              </a:buClr>
              <a:buSzPts val="1100"/>
              <a:buFont typeface="Calibri"/>
              <a:buChar char="▸"/>
            </a:pPr>
            <a:r>
              <a:rPr b="0" i="0" lang="it" sz="11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The player controls an android unit in third-person view aboard a spaceship damaged by proximity to a black hole's event horizon. The  player will have to recover the spaceship’s reactor by solving a puzzle and face a platform section.</a:t>
            </a:r>
            <a:endParaRPr b="0" i="0" sz="1100" u="none" cap="none" strike="noStrike">
              <a:solidFill>
                <a:srgbClr val="EAF6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EAF6FF"/>
              </a:buClr>
              <a:buSzPts val="1100"/>
              <a:buFont typeface="Calibri"/>
              <a:buChar char="▸"/>
            </a:pPr>
            <a:r>
              <a:rPr b="0" i="0" lang="it" sz="11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In the environment background, a simulated star system orchestrates the orbital movement of six celestial bodies and their satellites in real time.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EAF6FF"/>
              </a:buClr>
              <a:buSzPts val="1100"/>
              <a:buFont typeface="Calibri"/>
              <a:buChar char="▸"/>
            </a:pPr>
            <a:r>
              <a:rPr b="0" i="0" lang="it" sz="11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Beyond the astronomical simulation: gravity &amp; jump physics, a player-controlled flashlight, and light-driven environmental puzzles.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6"/>
          <p:cNvSpPr/>
          <p:nvPr/>
        </p:nvSpPr>
        <p:spPr>
          <a:xfrm>
            <a:off x="5956649" y="4269527"/>
            <a:ext cx="27300" cy="27300"/>
          </a:xfrm>
          <a:prstGeom prst="ellipse">
            <a:avLst/>
          </a:prstGeom>
          <a:solidFill>
            <a:srgbClr val="BFE6FF">
              <a:alpha val="3176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6"/>
          <p:cNvSpPr/>
          <p:nvPr/>
        </p:nvSpPr>
        <p:spPr>
          <a:xfrm>
            <a:off x="4510661" y="4143975"/>
            <a:ext cx="18300" cy="18300"/>
          </a:xfrm>
          <a:prstGeom prst="ellipse">
            <a:avLst/>
          </a:prstGeom>
          <a:solidFill>
            <a:srgbClr val="BFE6FF">
              <a:alpha val="3215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6"/>
          <p:cNvSpPr/>
          <p:nvPr/>
        </p:nvSpPr>
        <p:spPr>
          <a:xfrm>
            <a:off x="4796420" y="3677374"/>
            <a:ext cx="31800" cy="31800"/>
          </a:xfrm>
          <a:prstGeom prst="ellipse">
            <a:avLst/>
          </a:prstGeom>
          <a:solidFill>
            <a:srgbClr val="BFE6FF">
              <a:alpha val="2313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6"/>
          <p:cNvSpPr/>
          <p:nvPr/>
        </p:nvSpPr>
        <p:spPr>
          <a:xfrm>
            <a:off x="422819" y="4513379"/>
            <a:ext cx="22500" cy="22500"/>
          </a:xfrm>
          <a:prstGeom prst="ellipse">
            <a:avLst/>
          </a:prstGeom>
          <a:solidFill>
            <a:srgbClr val="BFE6FF">
              <a:alpha val="1568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6"/>
          <p:cNvSpPr/>
          <p:nvPr/>
        </p:nvSpPr>
        <p:spPr>
          <a:xfrm>
            <a:off x="6583443" y="4294060"/>
            <a:ext cx="22200" cy="22200"/>
          </a:xfrm>
          <a:prstGeom prst="ellipse">
            <a:avLst/>
          </a:prstGeom>
          <a:solidFill>
            <a:srgbClr val="BFE6FF">
              <a:alpha val="4235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6"/>
          <p:cNvSpPr/>
          <p:nvPr/>
        </p:nvSpPr>
        <p:spPr>
          <a:xfrm>
            <a:off x="7919971" y="4739891"/>
            <a:ext cx="16500" cy="16500"/>
          </a:xfrm>
          <a:prstGeom prst="ellipse">
            <a:avLst/>
          </a:prstGeom>
          <a:solidFill>
            <a:srgbClr val="BFE6FF">
              <a:alpha val="3764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6"/>
          <p:cNvSpPr/>
          <p:nvPr/>
        </p:nvSpPr>
        <p:spPr>
          <a:xfrm>
            <a:off x="2379745" y="3893360"/>
            <a:ext cx="30300" cy="30300"/>
          </a:xfrm>
          <a:prstGeom prst="ellipse">
            <a:avLst/>
          </a:prstGeom>
          <a:solidFill>
            <a:srgbClr val="BFE6FF">
              <a:alpha val="2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6"/>
          <p:cNvSpPr/>
          <p:nvPr/>
        </p:nvSpPr>
        <p:spPr>
          <a:xfrm>
            <a:off x="6960834" y="3656141"/>
            <a:ext cx="25200" cy="25200"/>
          </a:xfrm>
          <a:prstGeom prst="ellipse">
            <a:avLst/>
          </a:prstGeom>
          <a:solidFill>
            <a:srgbClr val="BFE6FF">
              <a:alpha val="2352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6"/>
          <p:cNvSpPr/>
          <p:nvPr/>
        </p:nvSpPr>
        <p:spPr>
          <a:xfrm>
            <a:off x="417222" y="4098215"/>
            <a:ext cx="21300" cy="21300"/>
          </a:xfrm>
          <a:prstGeom prst="ellipse">
            <a:avLst/>
          </a:prstGeom>
          <a:solidFill>
            <a:srgbClr val="BFE6FF">
              <a:alpha val="2156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6"/>
          <p:cNvSpPr/>
          <p:nvPr/>
        </p:nvSpPr>
        <p:spPr>
          <a:xfrm>
            <a:off x="7263466" y="3927421"/>
            <a:ext cx="26400" cy="26400"/>
          </a:xfrm>
          <a:prstGeom prst="ellipse">
            <a:avLst/>
          </a:prstGeom>
          <a:solidFill>
            <a:srgbClr val="BFE6FF">
              <a:alpha val="4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6"/>
          <p:cNvSpPr/>
          <p:nvPr/>
        </p:nvSpPr>
        <p:spPr>
          <a:xfrm>
            <a:off x="863942" y="3891845"/>
            <a:ext cx="21000" cy="21000"/>
          </a:xfrm>
          <a:prstGeom prst="ellipse">
            <a:avLst/>
          </a:prstGeom>
          <a:solidFill>
            <a:srgbClr val="BFE6FF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6"/>
          <p:cNvSpPr/>
          <p:nvPr/>
        </p:nvSpPr>
        <p:spPr>
          <a:xfrm>
            <a:off x="6646842" y="4347089"/>
            <a:ext cx="23400" cy="23400"/>
          </a:xfrm>
          <a:prstGeom prst="ellipse">
            <a:avLst/>
          </a:prstGeom>
          <a:solidFill>
            <a:srgbClr val="BFE6FF">
              <a:alpha val="4313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6"/>
          <p:cNvSpPr/>
          <p:nvPr/>
        </p:nvSpPr>
        <p:spPr>
          <a:xfrm>
            <a:off x="411480" y="3303209"/>
            <a:ext cx="342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238"/>
              </a:buClr>
              <a:buSzPts val="1000"/>
              <a:buFont typeface="Calibri"/>
              <a:buNone/>
            </a:pPr>
            <a:r>
              <a:rPr b="1" i="0" lang="it" sz="1000" u="none" cap="none" strike="noStrike">
                <a:solidFill>
                  <a:srgbClr val="FFB238"/>
                </a:solidFill>
                <a:latin typeface="Calibri"/>
                <a:ea typeface="Calibri"/>
                <a:cs typeface="Calibri"/>
                <a:sym typeface="Calibri"/>
              </a:rPr>
              <a:t>Core Libraries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411480" y="3577529"/>
            <a:ext cx="2640300" cy="1179600"/>
          </a:xfrm>
          <a:prstGeom prst="roundRect">
            <a:avLst>
              <a:gd fmla="val 4651" name="adj"/>
            </a:avLst>
          </a:prstGeom>
          <a:solidFill>
            <a:srgbClr val="0E1830"/>
          </a:solidFill>
          <a:ln>
            <a:noFill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6"/>
          <p:cNvSpPr/>
          <p:nvPr/>
        </p:nvSpPr>
        <p:spPr>
          <a:xfrm>
            <a:off x="562356" y="3728405"/>
            <a:ext cx="315600" cy="315600"/>
          </a:xfrm>
          <a:prstGeom prst="ellipse">
            <a:avLst/>
          </a:prstGeom>
          <a:solidFill>
            <a:srgbClr val="2FC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24" name="Google Shape;22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223" y="3807272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6"/>
          <p:cNvSpPr/>
          <p:nvPr/>
        </p:nvSpPr>
        <p:spPr>
          <a:xfrm>
            <a:off x="562356" y="4126169"/>
            <a:ext cx="2338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000"/>
              <a:buFont typeface="Calibri"/>
              <a:buNone/>
            </a:pPr>
            <a:r>
              <a:rPr b="1" i="0" lang="it" sz="10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Three.js (r128)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6"/>
          <p:cNvSpPr/>
          <p:nvPr/>
        </p:nvSpPr>
        <p:spPr>
          <a:xfrm>
            <a:off x="562356" y="4414205"/>
            <a:ext cx="2338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Object-oriented wrapper over WebGL; manages the full scene graph.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6"/>
          <p:cNvSpPr/>
          <p:nvPr/>
        </p:nvSpPr>
        <p:spPr>
          <a:xfrm>
            <a:off x="3216402" y="3577529"/>
            <a:ext cx="2640300" cy="1179600"/>
          </a:xfrm>
          <a:prstGeom prst="roundRect">
            <a:avLst>
              <a:gd fmla="val 4651" name="adj"/>
            </a:avLst>
          </a:prstGeom>
          <a:solidFill>
            <a:srgbClr val="0E1830"/>
          </a:solidFill>
          <a:ln>
            <a:noFill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6"/>
          <p:cNvSpPr/>
          <p:nvPr/>
        </p:nvSpPr>
        <p:spPr>
          <a:xfrm>
            <a:off x="3367278" y="3728405"/>
            <a:ext cx="315600" cy="315600"/>
          </a:xfrm>
          <a:prstGeom prst="ellipse">
            <a:avLst/>
          </a:prstGeom>
          <a:solidFill>
            <a:srgbClr val="2FC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29" name="Google Shape;22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46145" y="3807272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6"/>
          <p:cNvSpPr/>
          <p:nvPr/>
        </p:nvSpPr>
        <p:spPr>
          <a:xfrm>
            <a:off x="3367278" y="4126169"/>
            <a:ext cx="2338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000"/>
              <a:buFont typeface="Calibri"/>
              <a:buNone/>
            </a:pPr>
            <a:r>
              <a:rPr b="1" i="0" lang="it" sz="10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GLTFLoader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6"/>
          <p:cNvSpPr/>
          <p:nvPr/>
        </p:nvSpPr>
        <p:spPr>
          <a:xfrm>
            <a:off x="3367278" y="4414205"/>
            <a:ext cx="2338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Loads .gltf/.glb assets — planets &amp; structures — preserving UVs and materials.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6"/>
          <p:cNvSpPr/>
          <p:nvPr/>
        </p:nvSpPr>
        <p:spPr>
          <a:xfrm>
            <a:off x="6021324" y="3577529"/>
            <a:ext cx="2640300" cy="1179600"/>
          </a:xfrm>
          <a:prstGeom prst="roundRect">
            <a:avLst>
              <a:gd fmla="val 4651" name="adj"/>
            </a:avLst>
          </a:prstGeom>
          <a:solidFill>
            <a:srgbClr val="0E1830"/>
          </a:solidFill>
          <a:ln>
            <a:noFill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6"/>
          <p:cNvSpPr/>
          <p:nvPr/>
        </p:nvSpPr>
        <p:spPr>
          <a:xfrm>
            <a:off x="6172200" y="3728405"/>
            <a:ext cx="315600" cy="315600"/>
          </a:xfrm>
          <a:prstGeom prst="ellipse">
            <a:avLst/>
          </a:prstGeom>
          <a:solidFill>
            <a:srgbClr val="2FC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4" name="Google Shape;23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51067" y="3807272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6"/>
          <p:cNvSpPr/>
          <p:nvPr/>
        </p:nvSpPr>
        <p:spPr>
          <a:xfrm>
            <a:off x="6172200" y="4126169"/>
            <a:ext cx="2338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000"/>
              <a:buFont typeface="Calibri"/>
              <a:buNone/>
            </a:pPr>
            <a:r>
              <a:rPr b="1" i="0" lang="it" sz="10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Tween.js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6"/>
          <p:cNvSpPr/>
          <p:nvPr/>
        </p:nvSpPr>
        <p:spPr>
          <a:xfrm>
            <a:off x="6172200" y="4414205"/>
            <a:ext cx="2338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Interpolates transforms; drives the main door's progressive movement.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16" title="Screenshot 2026-07-01 213020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44238" y="1286044"/>
            <a:ext cx="3858375" cy="1828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B16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7"/>
          <p:cNvSpPr/>
          <p:nvPr/>
        </p:nvSpPr>
        <p:spPr>
          <a:xfrm>
            <a:off x="6822533" y="1170480"/>
            <a:ext cx="24448" cy="24448"/>
          </a:xfrm>
          <a:prstGeom prst="ellipse">
            <a:avLst/>
          </a:prstGeom>
          <a:solidFill>
            <a:srgbClr val="BFE6FF">
              <a:alpha val="4313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7"/>
          <p:cNvSpPr/>
          <p:nvPr/>
        </p:nvSpPr>
        <p:spPr>
          <a:xfrm>
            <a:off x="492729" y="5102911"/>
            <a:ext cx="29562" cy="29562"/>
          </a:xfrm>
          <a:prstGeom prst="ellipse">
            <a:avLst/>
          </a:prstGeom>
          <a:solidFill>
            <a:srgbClr val="BFE6FF">
              <a:alpha val="1764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7"/>
          <p:cNvSpPr/>
          <p:nvPr/>
        </p:nvSpPr>
        <p:spPr>
          <a:xfrm>
            <a:off x="4047957" y="3678137"/>
            <a:ext cx="26396" cy="26396"/>
          </a:xfrm>
          <a:prstGeom prst="ellipse">
            <a:avLst/>
          </a:prstGeom>
          <a:solidFill>
            <a:srgbClr val="BFE6FF">
              <a:alpha val="1529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7"/>
          <p:cNvSpPr/>
          <p:nvPr/>
        </p:nvSpPr>
        <p:spPr>
          <a:xfrm>
            <a:off x="3724783" y="4020372"/>
            <a:ext cx="28856" cy="28856"/>
          </a:xfrm>
          <a:prstGeom prst="ellipse">
            <a:avLst/>
          </a:prstGeom>
          <a:solidFill>
            <a:srgbClr val="BFE6FF">
              <a:alpha val="3607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7"/>
          <p:cNvSpPr/>
          <p:nvPr/>
        </p:nvSpPr>
        <p:spPr>
          <a:xfrm>
            <a:off x="1012514" y="2160829"/>
            <a:ext cx="19923" cy="19923"/>
          </a:xfrm>
          <a:prstGeom prst="ellipse">
            <a:avLst/>
          </a:prstGeom>
          <a:solidFill>
            <a:srgbClr val="BFE6FF">
              <a:alpha val="1843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7"/>
          <p:cNvSpPr/>
          <p:nvPr/>
        </p:nvSpPr>
        <p:spPr>
          <a:xfrm>
            <a:off x="3518839" y="135094"/>
            <a:ext cx="28156" cy="28156"/>
          </a:xfrm>
          <a:prstGeom prst="ellipse">
            <a:avLst/>
          </a:prstGeom>
          <a:solidFill>
            <a:srgbClr val="BFE6FF">
              <a:alpha val="2470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7"/>
          <p:cNvSpPr/>
          <p:nvPr/>
        </p:nvSpPr>
        <p:spPr>
          <a:xfrm>
            <a:off x="836219" y="4713089"/>
            <a:ext cx="23895" cy="23895"/>
          </a:xfrm>
          <a:prstGeom prst="ellipse">
            <a:avLst/>
          </a:prstGeom>
          <a:solidFill>
            <a:srgbClr val="BFE6FF">
              <a:alpha val="2666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7"/>
          <p:cNvSpPr/>
          <p:nvPr/>
        </p:nvSpPr>
        <p:spPr>
          <a:xfrm>
            <a:off x="6451727" y="3072581"/>
            <a:ext cx="23872" cy="23872"/>
          </a:xfrm>
          <a:prstGeom prst="ellipse">
            <a:avLst/>
          </a:prstGeom>
          <a:solidFill>
            <a:srgbClr val="BFE6FF">
              <a:alpha val="2941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7"/>
          <p:cNvSpPr/>
          <p:nvPr/>
        </p:nvSpPr>
        <p:spPr>
          <a:xfrm>
            <a:off x="2898073" y="4507571"/>
            <a:ext cx="31078" cy="31078"/>
          </a:xfrm>
          <a:prstGeom prst="ellipse">
            <a:avLst/>
          </a:prstGeom>
          <a:solidFill>
            <a:srgbClr val="BFE6FF">
              <a:alpha val="2901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7"/>
          <p:cNvSpPr/>
          <p:nvPr/>
        </p:nvSpPr>
        <p:spPr>
          <a:xfrm>
            <a:off x="6410849" y="2219006"/>
            <a:ext cx="32682" cy="32682"/>
          </a:xfrm>
          <a:prstGeom prst="ellipse">
            <a:avLst/>
          </a:prstGeom>
          <a:solidFill>
            <a:srgbClr val="BFE6FF">
              <a:alpha val="2705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7"/>
          <p:cNvSpPr/>
          <p:nvPr/>
        </p:nvSpPr>
        <p:spPr>
          <a:xfrm>
            <a:off x="6252913" y="4480046"/>
            <a:ext cx="25568" cy="25568"/>
          </a:xfrm>
          <a:prstGeom prst="ellipse">
            <a:avLst/>
          </a:prstGeom>
          <a:solidFill>
            <a:srgbClr val="BFE6FF">
              <a:alpha val="1058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7"/>
          <p:cNvSpPr/>
          <p:nvPr/>
        </p:nvSpPr>
        <p:spPr>
          <a:xfrm>
            <a:off x="4336573" y="838875"/>
            <a:ext cx="32961" cy="32961"/>
          </a:xfrm>
          <a:prstGeom prst="ellipse">
            <a:avLst/>
          </a:prstGeom>
          <a:solidFill>
            <a:srgbClr val="BFE6FF">
              <a:alpha val="1333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7"/>
          <p:cNvSpPr/>
          <p:nvPr/>
        </p:nvSpPr>
        <p:spPr>
          <a:xfrm>
            <a:off x="5107550" y="2329205"/>
            <a:ext cx="30377" cy="30377"/>
          </a:xfrm>
          <a:prstGeom prst="ellipse">
            <a:avLst/>
          </a:prstGeom>
          <a:solidFill>
            <a:srgbClr val="BFE6FF">
              <a:alpha val="3294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7"/>
          <p:cNvSpPr/>
          <p:nvPr/>
        </p:nvSpPr>
        <p:spPr>
          <a:xfrm>
            <a:off x="3968552" y="4779450"/>
            <a:ext cx="27282" cy="27282"/>
          </a:xfrm>
          <a:prstGeom prst="ellipse">
            <a:avLst/>
          </a:prstGeom>
          <a:solidFill>
            <a:srgbClr val="BFE6FF">
              <a:alpha val="3333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7"/>
          <p:cNvSpPr/>
          <p:nvPr/>
        </p:nvSpPr>
        <p:spPr>
          <a:xfrm>
            <a:off x="1046745" y="4963223"/>
            <a:ext cx="30575" cy="30575"/>
          </a:xfrm>
          <a:prstGeom prst="ellipse">
            <a:avLst/>
          </a:prstGeom>
          <a:solidFill>
            <a:srgbClr val="BFE6FF">
              <a:alpha val="1529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7"/>
          <p:cNvSpPr/>
          <p:nvPr/>
        </p:nvSpPr>
        <p:spPr>
          <a:xfrm>
            <a:off x="2149561" y="1668944"/>
            <a:ext cx="34201" cy="34201"/>
          </a:xfrm>
          <a:prstGeom prst="ellipse">
            <a:avLst/>
          </a:prstGeom>
          <a:solidFill>
            <a:srgbClr val="BFE6FF">
              <a:alpha val="1137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7"/>
          <p:cNvSpPr/>
          <p:nvPr/>
        </p:nvSpPr>
        <p:spPr>
          <a:xfrm>
            <a:off x="3326325" y="374440"/>
            <a:ext cx="33829" cy="33829"/>
          </a:xfrm>
          <a:prstGeom prst="ellipse">
            <a:avLst/>
          </a:prstGeom>
          <a:solidFill>
            <a:srgbClr val="BFE6FF">
              <a:alpha val="3725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7"/>
          <p:cNvSpPr/>
          <p:nvPr/>
        </p:nvSpPr>
        <p:spPr>
          <a:xfrm>
            <a:off x="4299097" y="1925663"/>
            <a:ext cx="23861" cy="23861"/>
          </a:xfrm>
          <a:prstGeom prst="ellipse">
            <a:avLst/>
          </a:prstGeom>
          <a:solidFill>
            <a:srgbClr val="BFE6FF">
              <a:alpha val="2745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7"/>
          <p:cNvSpPr/>
          <p:nvPr/>
        </p:nvSpPr>
        <p:spPr>
          <a:xfrm>
            <a:off x="1229639" y="1290166"/>
            <a:ext cx="34067" cy="34067"/>
          </a:xfrm>
          <a:prstGeom prst="ellipse">
            <a:avLst/>
          </a:prstGeom>
          <a:solidFill>
            <a:srgbClr val="BFE6FF">
              <a:alpha val="4156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7"/>
          <p:cNvSpPr/>
          <p:nvPr/>
        </p:nvSpPr>
        <p:spPr>
          <a:xfrm>
            <a:off x="5002867" y="2698410"/>
            <a:ext cx="25970" cy="25970"/>
          </a:xfrm>
          <a:prstGeom prst="ellipse">
            <a:avLst/>
          </a:prstGeom>
          <a:solidFill>
            <a:srgbClr val="BFE6FF">
              <a:alpha val="2392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7"/>
          <p:cNvSpPr/>
          <p:nvPr/>
        </p:nvSpPr>
        <p:spPr>
          <a:xfrm>
            <a:off x="2836541" y="3196915"/>
            <a:ext cx="19036" cy="19036"/>
          </a:xfrm>
          <a:prstGeom prst="ellipse">
            <a:avLst/>
          </a:prstGeom>
          <a:solidFill>
            <a:srgbClr val="BFE6FF">
              <a:alpha val="2745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7438460" y="3407022"/>
            <a:ext cx="23699" cy="23699"/>
          </a:xfrm>
          <a:prstGeom prst="ellipse">
            <a:avLst/>
          </a:prstGeom>
          <a:solidFill>
            <a:srgbClr val="BFE6FF">
              <a:alpha val="2156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8841599" y="121690"/>
            <a:ext cx="32835" cy="32835"/>
          </a:xfrm>
          <a:prstGeom prst="ellipse">
            <a:avLst/>
          </a:prstGeom>
          <a:solidFill>
            <a:srgbClr val="BFE6FF">
              <a:alpha val="3568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2200842" y="725584"/>
            <a:ext cx="15700" cy="15700"/>
          </a:xfrm>
          <a:prstGeom prst="ellipse">
            <a:avLst/>
          </a:prstGeom>
          <a:solidFill>
            <a:srgbClr val="BFE6FF">
              <a:alpha val="3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7"/>
          <p:cNvSpPr/>
          <p:nvPr/>
        </p:nvSpPr>
        <p:spPr>
          <a:xfrm>
            <a:off x="5920487" y="3366102"/>
            <a:ext cx="20743" cy="20743"/>
          </a:xfrm>
          <a:prstGeom prst="ellipse">
            <a:avLst/>
          </a:prstGeom>
          <a:solidFill>
            <a:srgbClr val="BFE6FF">
              <a:alpha val="1529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7"/>
          <p:cNvSpPr/>
          <p:nvPr/>
        </p:nvSpPr>
        <p:spPr>
          <a:xfrm>
            <a:off x="8212219" y="4153686"/>
            <a:ext cx="16573" cy="16573"/>
          </a:xfrm>
          <a:prstGeom prst="ellipse">
            <a:avLst/>
          </a:prstGeom>
          <a:solidFill>
            <a:srgbClr val="BFE6FF">
              <a:alpha val="3215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7"/>
          <p:cNvSpPr/>
          <p:nvPr/>
        </p:nvSpPr>
        <p:spPr>
          <a:xfrm>
            <a:off x="5798375" y="4058687"/>
            <a:ext cx="33661" cy="33661"/>
          </a:xfrm>
          <a:prstGeom prst="ellipse">
            <a:avLst/>
          </a:prstGeom>
          <a:solidFill>
            <a:srgbClr val="BFE6FF">
              <a:alpha val="3647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7"/>
          <p:cNvSpPr/>
          <p:nvPr/>
        </p:nvSpPr>
        <p:spPr>
          <a:xfrm>
            <a:off x="1798407" y="848669"/>
            <a:ext cx="18038" cy="18038"/>
          </a:xfrm>
          <a:prstGeom prst="ellipse">
            <a:avLst/>
          </a:prstGeom>
          <a:solidFill>
            <a:srgbClr val="BFE6FF">
              <a:alpha val="1215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7"/>
          <p:cNvSpPr/>
          <p:nvPr/>
        </p:nvSpPr>
        <p:spPr>
          <a:xfrm>
            <a:off x="7102937" y="3260467"/>
            <a:ext cx="21157" cy="21158"/>
          </a:xfrm>
          <a:prstGeom prst="ellipse">
            <a:avLst/>
          </a:prstGeom>
          <a:solidFill>
            <a:srgbClr val="BFE6FF">
              <a:alpha val="3803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7"/>
          <p:cNvSpPr/>
          <p:nvPr/>
        </p:nvSpPr>
        <p:spPr>
          <a:xfrm>
            <a:off x="4177331" y="5001035"/>
            <a:ext cx="32122" cy="32122"/>
          </a:xfrm>
          <a:prstGeom prst="ellipse">
            <a:avLst/>
          </a:prstGeom>
          <a:solidFill>
            <a:srgbClr val="BFE6FF">
              <a:alpha val="1529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7"/>
          <p:cNvSpPr/>
          <p:nvPr/>
        </p:nvSpPr>
        <p:spPr>
          <a:xfrm>
            <a:off x="1230069" y="1271435"/>
            <a:ext cx="16840" cy="16840"/>
          </a:xfrm>
          <a:prstGeom prst="ellipse">
            <a:avLst/>
          </a:prstGeom>
          <a:solidFill>
            <a:srgbClr val="BFE6FF">
              <a:alpha val="1176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7"/>
          <p:cNvSpPr/>
          <p:nvPr/>
        </p:nvSpPr>
        <p:spPr>
          <a:xfrm>
            <a:off x="171341" y="1129935"/>
            <a:ext cx="21236" cy="21235"/>
          </a:xfrm>
          <a:prstGeom prst="ellipse">
            <a:avLst/>
          </a:prstGeom>
          <a:solidFill>
            <a:srgbClr val="BFE6FF">
              <a:alpha val="2392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7"/>
          <p:cNvSpPr/>
          <p:nvPr/>
        </p:nvSpPr>
        <p:spPr>
          <a:xfrm>
            <a:off x="3618215" y="790957"/>
            <a:ext cx="21416" cy="21416"/>
          </a:xfrm>
          <a:prstGeom prst="ellipse">
            <a:avLst/>
          </a:prstGeom>
          <a:solidFill>
            <a:srgbClr val="BFE6FF">
              <a:alpha val="3607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7"/>
          <p:cNvSpPr/>
          <p:nvPr/>
        </p:nvSpPr>
        <p:spPr>
          <a:xfrm>
            <a:off x="6834031" y="1930382"/>
            <a:ext cx="29965" cy="29965"/>
          </a:xfrm>
          <a:prstGeom prst="ellipse">
            <a:avLst/>
          </a:prstGeom>
          <a:solidFill>
            <a:srgbClr val="BFE6FF">
              <a:alpha val="2627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7"/>
          <p:cNvSpPr/>
          <p:nvPr/>
        </p:nvSpPr>
        <p:spPr>
          <a:xfrm>
            <a:off x="6905550" y="3658473"/>
            <a:ext cx="27818" cy="27818"/>
          </a:xfrm>
          <a:prstGeom prst="ellipse">
            <a:avLst/>
          </a:prstGeom>
          <a:solidFill>
            <a:srgbClr val="BFE6FF">
              <a:alpha val="2862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7"/>
          <p:cNvSpPr/>
          <p:nvPr/>
        </p:nvSpPr>
        <p:spPr>
          <a:xfrm>
            <a:off x="2270369" y="1249160"/>
            <a:ext cx="13046" cy="13046"/>
          </a:xfrm>
          <a:prstGeom prst="ellipse">
            <a:avLst/>
          </a:prstGeom>
          <a:solidFill>
            <a:srgbClr val="BFE6FF">
              <a:alpha val="1254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7"/>
          <p:cNvSpPr/>
          <p:nvPr/>
        </p:nvSpPr>
        <p:spPr>
          <a:xfrm>
            <a:off x="7906510" y="1585178"/>
            <a:ext cx="18826" cy="18826"/>
          </a:xfrm>
          <a:prstGeom prst="ellipse">
            <a:avLst/>
          </a:prstGeom>
          <a:solidFill>
            <a:srgbClr val="BFE6FF">
              <a:alpha val="1686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7"/>
          <p:cNvSpPr/>
          <p:nvPr/>
        </p:nvSpPr>
        <p:spPr>
          <a:xfrm>
            <a:off x="4387061" y="3105210"/>
            <a:ext cx="24899" cy="24899"/>
          </a:xfrm>
          <a:prstGeom prst="ellipse">
            <a:avLst/>
          </a:prstGeom>
          <a:solidFill>
            <a:srgbClr val="BFE6FF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7"/>
          <p:cNvSpPr/>
          <p:nvPr/>
        </p:nvSpPr>
        <p:spPr>
          <a:xfrm>
            <a:off x="5111091" y="2836370"/>
            <a:ext cx="18658" cy="18658"/>
          </a:xfrm>
          <a:prstGeom prst="ellipse">
            <a:avLst/>
          </a:prstGeom>
          <a:solidFill>
            <a:srgbClr val="BFE6FF">
              <a:alpha val="2705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7"/>
          <p:cNvSpPr/>
          <p:nvPr/>
        </p:nvSpPr>
        <p:spPr>
          <a:xfrm>
            <a:off x="5916937" y="3403436"/>
            <a:ext cx="24602" cy="24602"/>
          </a:xfrm>
          <a:prstGeom prst="ellipse">
            <a:avLst/>
          </a:prstGeom>
          <a:solidFill>
            <a:srgbClr val="BFE6FF">
              <a:alpha val="1490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7"/>
          <p:cNvSpPr/>
          <p:nvPr/>
        </p:nvSpPr>
        <p:spPr>
          <a:xfrm>
            <a:off x="9012503" y="2109932"/>
            <a:ext cx="14825" cy="14825"/>
          </a:xfrm>
          <a:prstGeom prst="ellipse">
            <a:avLst/>
          </a:prstGeom>
          <a:solidFill>
            <a:srgbClr val="BFE6FF">
              <a:alpha val="1254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7"/>
          <p:cNvSpPr/>
          <p:nvPr/>
        </p:nvSpPr>
        <p:spPr>
          <a:xfrm>
            <a:off x="5341592" y="414014"/>
            <a:ext cx="14221" cy="14221"/>
          </a:xfrm>
          <a:prstGeom prst="ellipse">
            <a:avLst/>
          </a:prstGeom>
          <a:solidFill>
            <a:srgbClr val="BFE6FF">
              <a:alpha val="4392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7"/>
          <p:cNvSpPr/>
          <p:nvPr/>
        </p:nvSpPr>
        <p:spPr>
          <a:xfrm>
            <a:off x="1645020" y="67691"/>
            <a:ext cx="23138" cy="23138"/>
          </a:xfrm>
          <a:prstGeom prst="ellipse">
            <a:avLst/>
          </a:prstGeom>
          <a:solidFill>
            <a:srgbClr val="BFE6FF">
              <a:alpha val="2901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7"/>
          <p:cNvSpPr/>
          <p:nvPr/>
        </p:nvSpPr>
        <p:spPr>
          <a:xfrm>
            <a:off x="9063765" y="3796085"/>
            <a:ext cx="30836" cy="30836"/>
          </a:xfrm>
          <a:prstGeom prst="ellipse">
            <a:avLst/>
          </a:prstGeom>
          <a:solidFill>
            <a:srgbClr val="BFE6FF">
              <a:alpha val="1137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7250116" y="103512"/>
            <a:ext cx="25376" cy="25376"/>
          </a:xfrm>
          <a:prstGeom prst="ellipse">
            <a:avLst/>
          </a:prstGeom>
          <a:solidFill>
            <a:srgbClr val="BFE6FF">
              <a:alpha val="1176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7"/>
          <p:cNvSpPr/>
          <p:nvPr/>
        </p:nvSpPr>
        <p:spPr>
          <a:xfrm>
            <a:off x="411480" y="288036"/>
            <a:ext cx="6172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C6FF"/>
              </a:buClr>
              <a:buSzPts val="900"/>
              <a:buFont typeface="Courier New"/>
              <a:buNone/>
            </a:pPr>
            <a:r>
              <a:rPr b="1" i="0" lang="it" sz="900" u="none" cap="none" strike="noStrike">
                <a:solidFill>
                  <a:srgbClr val="2FC6FF"/>
                </a:solidFill>
                <a:latin typeface="Courier New"/>
                <a:ea typeface="Courier New"/>
                <a:cs typeface="Courier New"/>
                <a:sym typeface="Courier New"/>
              </a:rPr>
              <a:t>02 — USER MANUAL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7"/>
          <p:cNvSpPr/>
          <p:nvPr/>
        </p:nvSpPr>
        <p:spPr>
          <a:xfrm>
            <a:off x="411480" y="466344"/>
            <a:ext cx="72694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2100"/>
              <a:buFont typeface="Courier New"/>
              <a:buNone/>
            </a:pPr>
            <a:r>
              <a:rPr b="1" i="0" lang="it" sz="2100" u="none" cap="none" strike="noStrike">
                <a:solidFill>
                  <a:srgbClr val="EAF6FF"/>
                </a:solidFill>
                <a:latin typeface="Courier New"/>
                <a:ea typeface="Courier New"/>
                <a:cs typeface="Courier New"/>
                <a:sym typeface="Courier New"/>
              </a:rPr>
              <a:t>Controls &amp; Interaction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7"/>
          <p:cNvSpPr/>
          <p:nvPr/>
        </p:nvSpPr>
        <p:spPr>
          <a:xfrm>
            <a:off x="8197367" y="288036"/>
            <a:ext cx="534924" cy="534924"/>
          </a:xfrm>
          <a:prstGeom prst="ellipse">
            <a:avLst/>
          </a:prstGeom>
          <a:solidFill>
            <a:srgbClr val="2FC6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91" name="Google Shape;29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7669" y="41833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7"/>
          <p:cNvSpPr/>
          <p:nvPr/>
        </p:nvSpPr>
        <p:spPr>
          <a:xfrm>
            <a:off x="411480" y="4855464"/>
            <a:ext cx="2743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700"/>
              <a:buFont typeface="Courier New"/>
              <a:buNone/>
            </a:pPr>
            <a:r>
              <a:rPr b="0" i="0" lang="it" sz="700" u="none" cap="none" strike="noStrike">
                <a:solidFill>
                  <a:srgbClr val="93B3D6"/>
                </a:solidFill>
                <a:latin typeface="Courier New"/>
                <a:ea typeface="Courier New"/>
                <a:cs typeface="Courier New"/>
                <a:sym typeface="Courier New"/>
              </a:rPr>
              <a:t>LUMEN DRIFT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7"/>
          <p:cNvSpPr/>
          <p:nvPr/>
        </p:nvSpPr>
        <p:spPr>
          <a:xfrm>
            <a:off x="8320811" y="4855464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700"/>
              <a:buFont typeface="Courier New"/>
              <a:buNone/>
            </a:pPr>
            <a:r>
              <a:rPr b="0" i="0" lang="it" sz="700" u="none" cap="none" strike="noStrike">
                <a:solidFill>
                  <a:srgbClr val="93B3D6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7"/>
          <p:cNvSpPr/>
          <p:nvPr/>
        </p:nvSpPr>
        <p:spPr>
          <a:xfrm>
            <a:off x="411480" y="1110996"/>
            <a:ext cx="78867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1000"/>
              <a:buFont typeface="Calibri"/>
              <a:buNone/>
            </a:pPr>
            <a:r>
              <a:rPr b="0" i="1" lang="it" sz="10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Movement is third-person with a self-adjusting camera. Approaching a valid object shows an on-screen “Press [F] to interact” prompt.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7"/>
          <p:cNvSpPr/>
          <p:nvPr/>
        </p:nvSpPr>
        <p:spPr>
          <a:xfrm>
            <a:off x="411480" y="1762506"/>
            <a:ext cx="342900" cy="342900"/>
          </a:xfrm>
          <a:prstGeom prst="ellipse">
            <a:avLst/>
          </a:prstGeom>
          <a:solidFill>
            <a:srgbClr val="2FC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96" name="Google Shape;29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7205" y="1848231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7"/>
          <p:cNvSpPr/>
          <p:nvPr/>
        </p:nvSpPr>
        <p:spPr>
          <a:xfrm>
            <a:off x="905256" y="1728216"/>
            <a:ext cx="17693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W A S 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7"/>
          <p:cNvSpPr/>
          <p:nvPr/>
        </p:nvSpPr>
        <p:spPr>
          <a:xfrm>
            <a:off x="905256" y="1947672"/>
            <a:ext cx="176936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Move forward, left, backward, and right relative to facing direction.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7"/>
          <p:cNvSpPr/>
          <p:nvPr/>
        </p:nvSpPr>
        <p:spPr>
          <a:xfrm>
            <a:off x="2880360" y="1762506"/>
            <a:ext cx="342900" cy="342900"/>
          </a:xfrm>
          <a:prstGeom prst="ellipse">
            <a:avLst/>
          </a:prstGeom>
          <a:solidFill>
            <a:srgbClr val="FFB23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00" name="Google Shape;30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66085" y="1848231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7"/>
          <p:cNvSpPr/>
          <p:nvPr/>
        </p:nvSpPr>
        <p:spPr>
          <a:xfrm>
            <a:off x="3374136" y="1728216"/>
            <a:ext cx="17693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Mouse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7"/>
          <p:cNvSpPr/>
          <p:nvPr/>
        </p:nvSpPr>
        <p:spPr>
          <a:xfrm>
            <a:off x="3374136" y="1947672"/>
            <a:ext cx="176936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Rotate the camera and dictate the character's facing direction.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7"/>
          <p:cNvSpPr/>
          <p:nvPr/>
        </p:nvSpPr>
        <p:spPr>
          <a:xfrm>
            <a:off x="411480" y="2462022"/>
            <a:ext cx="342900" cy="342900"/>
          </a:xfrm>
          <a:prstGeom prst="ellipse">
            <a:avLst/>
          </a:prstGeom>
          <a:solidFill>
            <a:srgbClr val="2FC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04" name="Google Shape;30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7205" y="2547747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7"/>
          <p:cNvSpPr/>
          <p:nvPr/>
        </p:nvSpPr>
        <p:spPr>
          <a:xfrm>
            <a:off x="905256" y="2427732"/>
            <a:ext cx="17693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Space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7"/>
          <p:cNvSpPr/>
          <p:nvPr/>
        </p:nvSpPr>
        <p:spPr>
          <a:xfrm>
            <a:off x="905256" y="2647188"/>
            <a:ext cx="176936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Jump over obstacles and gaps.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7"/>
          <p:cNvSpPr/>
          <p:nvPr/>
        </p:nvSpPr>
        <p:spPr>
          <a:xfrm>
            <a:off x="2880360" y="2462022"/>
            <a:ext cx="342900" cy="342900"/>
          </a:xfrm>
          <a:prstGeom prst="ellipse">
            <a:avLst/>
          </a:prstGeom>
          <a:solidFill>
            <a:srgbClr val="FFB23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08" name="Google Shape;30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66085" y="2547747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7"/>
          <p:cNvSpPr/>
          <p:nvPr/>
        </p:nvSpPr>
        <p:spPr>
          <a:xfrm>
            <a:off x="3374136" y="2427732"/>
            <a:ext cx="17693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Shift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7"/>
          <p:cNvSpPr/>
          <p:nvPr/>
        </p:nvSpPr>
        <p:spPr>
          <a:xfrm>
            <a:off x="3374136" y="2647188"/>
            <a:ext cx="176936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Hold while moving to sprint at a higher speed.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7"/>
          <p:cNvSpPr/>
          <p:nvPr/>
        </p:nvSpPr>
        <p:spPr>
          <a:xfrm>
            <a:off x="411480" y="3161538"/>
            <a:ext cx="342900" cy="342900"/>
          </a:xfrm>
          <a:prstGeom prst="ellipse">
            <a:avLst/>
          </a:prstGeom>
          <a:solidFill>
            <a:srgbClr val="2FC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12" name="Google Shape;312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7205" y="3247263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7"/>
          <p:cNvSpPr/>
          <p:nvPr/>
        </p:nvSpPr>
        <p:spPr>
          <a:xfrm>
            <a:off x="905256" y="3127248"/>
            <a:ext cx="17693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7"/>
          <p:cNvSpPr/>
          <p:nvPr/>
        </p:nvSpPr>
        <p:spPr>
          <a:xfrm>
            <a:off x="905256" y="3346704"/>
            <a:ext cx="176936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Toggle the android's built-in flashlight on and off.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7"/>
          <p:cNvSpPr/>
          <p:nvPr/>
        </p:nvSpPr>
        <p:spPr>
          <a:xfrm>
            <a:off x="2880360" y="3161538"/>
            <a:ext cx="342900" cy="342900"/>
          </a:xfrm>
          <a:prstGeom prst="ellipse">
            <a:avLst/>
          </a:prstGeom>
          <a:solidFill>
            <a:srgbClr val="FFB23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16" name="Google Shape;316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966085" y="3247263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7"/>
          <p:cNvSpPr/>
          <p:nvPr/>
        </p:nvSpPr>
        <p:spPr>
          <a:xfrm>
            <a:off x="3374136" y="3127248"/>
            <a:ext cx="17693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7"/>
          <p:cNvSpPr/>
          <p:nvPr/>
        </p:nvSpPr>
        <p:spPr>
          <a:xfrm>
            <a:off x="3374136" y="3346704"/>
            <a:ext cx="176936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Interact with terminals, buttons, and key items.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9" name="Google Shape;319;p17" title="Screenshot 2026-07-01 213026.png"/>
          <p:cNvPicPr preferRelativeResize="0"/>
          <p:nvPr/>
        </p:nvPicPr>
        <p:blipFill rotWithShape="1">
          <a:blip r:embed="rId10">
            <a:alphaModFix/>
          </a:blip>
          <a:srcRect b="0" l="3456" r="0" t="0"/>
          <a:stretch/>
        </p:blipFill>
        <p:spPr>
          <a:xfrm>
            <a:off x="5941550" y="1898850"/>
            <a:ext cx="2136375" cy="1704511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7"/>
          <p:cNvSpPr/>
          <p:nvPr/>
        </p:nvSpPr>
        <p:spPr>
          <a:xfrm>
            <a:off x="1714480" y="3851638"/>
            <a:ext cx="342900" cy="342900"/>
          </a:xfrm>
          <a:prstGeom prst="ellipse">
            <a:avLst/>
          </a:prstGeom>
          <a:solidFill>
            <a:srgbClr val="2FC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7"/>
          <p:cNvSpPr/>
          <p:nvPr/>
        </p:nvSpPr>
        <p:spPr>
          <a:xfrm>
            <a:off x="2208256" y="3817348"/>
            <a:ext cx="1769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Esc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7"/>
          <p:cNvSpPr/>
          <p:nvPr/>
        </p:nvSpPr>
        <p:spPr>
          <a:xfrm>
            <a:off x="2208256" y="4036804"/>
            <a:ext cx="1769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900"/>
              <a:buFont typeface="Calibri"/>
              <a:buNone/>
            </a:pPr>
            <a:r>
              <a:rPr lang="it" sz="900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Open the pause menu, that allows to regulate the audio volume.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1818875" y="3959800"/>
            <a:ext cx="134100" cy="126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B16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8"/>
          <p:cNvSpPr/>
          <p:nvPr/>
        </p:nvSpPr>
        <p:spPr>
          <a:xfrm>
            <a:off x="5656724" y="5026457"/>
            <a:ext cx="13277" cy="13277"/>
          </a:xfrm>
          <a:prstGeom prst="ellipse">
            <a:avLst/>
          </a:prstGeom>
          <a:solidFill>
            <a:srgbClr val="BFE6FF">
              <a:alpha val="4509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8"/>
          <p:cNvSpPr/>
          <p:nvPr/>
        </p:nvSpPr>
        <p:spPr>
          <a:xfrm>
            <a:off x="6566378" y="1507113"/>
            <a:ext cx="19129" cy="19130"/>
          </a:xfrm>
          <a:prstGeom prst="ellipse">
            <a:avLst/>
          </a:prstGeom>
          <a:solidFill>
            <a:srgbClr val="BFE6FF">
              <a:alpha val="1764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8"/>
          <p:cNvSpPr/>
          <p:nvPr/>
        </p:nvSpPr>
        <p:spPr>
          <a:xfrm>
            <a:off x="7260593" y="2393426"/>
            <a:ext cx="24012" cy="24012"/>
          </a:xfrm>
          <a:prstGeom prst="ellipse">
            <a:avLst/>
          </a:prstGeom>
          <a:solidFill>
            <a:srgbClr val="BFE6FF">
              <a:alpha val="3254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8"/>
          <p:cNvSpPr/>
          <p:nvPr/>
        </p:nvSpPr>
        <p:spPr>
          <a:xfrm>
            <a:off x="4882911" y="101250"/>
            <a:ext cx="14888" cy="14888"/>
          </a:xfrm>
          <a:prstGeom prst="ellipse">
            <a:avLst/>
          </a:prstGeom>
          <a:solidFill>
            <a:srgbClr val="BFE6FF">
              <a:alpha val="2470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8"/>
          <p:cNvSpPr/>
          <p:nvPr/>
        </p:nvSpPr>
        <p:spPr>
          <a:xfrm>
            <a:off x="5149665" y="140841"/>
            <a:ext cx="20139" cy="20139"/>
          </a:xfrm>
          <a:prstGeom prst="ellipse">
            <a:avLst/>
          </a:prstGeom>
          <a:solidFill>
            <a:srgbClr val="BFE6FF">
              <a:alpha val="2941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8"/>
          <p:cNvSpPr/>
          <p:nvPr/>
        </p:nvSpPr>
        <p:spPr>
          <a:xfrm>
            <a:off x="1217255" y="3163385"/>
            <a:ext cx="33372" cy="33372"/>
          </a:xfrm>
          <a:prstGeom prst="ellipse">
            <a:avLst/>
          </a:prstGeom>
          <a:solidFill>
            <a:srgbClr val="BFE6FF">
              <a:alpha val="3568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8"/>
          <p:cNvSpPr/>
          <p:nvPr/>
        </p:nvSpPr>
        <p:spPr>
          <a:xfrm>
            <a:off x="324981" y="323070"/>
            <a:ext cx="30998" cy="30998"/>
          </a:xfrm>
          <a:prstGeom prst="ellipse">
            <a:avLst/>
          </a:prstGeom>
          <a:solidFill>
            <a:srgbClr val="BFE6FF">
              <a:alpha val="4117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8"/>
          <p:cNvSpPr/>
          <p:nvPr/>
        </p:nvSpPr>
        <p:spPr>
          <a:xfrm>
            <a:off x="4538227" y="2385357"/>
            <a:ext cx="25711" cy="25712"/>
          </a:xfrm>
          <a:prstGeom prst="ellipse">
            <a:avLst/>
          </a:prstGeom>
          <a:solidFill>
            <a:srgbClr val="BFE6FF">
              <a:alpha val="4352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8"/>
          <p:cNvSpPr/>
          <p:nvPr/>
        </p:nvSpPr>
        <p:spPr>
          <a:xfrm>
            <a:off x="2511994" y="3687893"/>
            <a:ext cx="17411" cy="17411"/>
          </a:xfrm>
          <a:prstGeom prst="ellipse">
            <a:avLst/>
          </a:prstGeom>
          <a:solidFill>
            <a:srgbClr val="BFE6FF">
              <a:alpha val="1882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8"/>
          <p:cNvSpPr/>
          <p:nvPr/>
        </p:nvSpPr>
        <p:spPr>
          <a:xfrm>
            <a:off x="6416617" y="4962173"/>
            <a:ext cx="16442" cy="16442"/>
          </a:xfrm>
          <a:prstGeom prst="ellipse">
            <a:avLst/>
          </a:prstGeom>
          <a:solidFill>
            <a:srgbClr val="BFE6FF">
              <a:alpha val="2235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8"/>
          <p:cNvSpPr/>
          <p:nvPr/>
        </p:nvSpPr>
        <p:spPr>
          <a:xfrm>
            <a:off x="6461112" y="3929796"/>
            <a:ext cx="13376" cy="13376"/>
          </a:xfrm>
          <a:prstGeom prst="ellipse">
            <a:avLst/>
          </a:prstGeom>
          <a:solidFill>
            <a:srgbClr val="BFE6FF">
              <a:alpha val="2549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8"/>
          <p:cNvSpPr/>
          <p:nvPr/>
        </p:nvSpPr>
        <p:spPr>
          <a:xfrm>
            <a:off x="7479009" y="4204899"/>
            <a:ext cx="29877" cy="29877"/>
          </a:xfrm>
          <a:prstGeom prst="ellipse">
            <a:avLst/>
          </a:prstGeom>
          <a:solidFill>
            <a:srgbClr val="BFE6FF">
              <a:alpha val="1725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8"/>
          <p:cNvSpPr/>
          <p:nvPr/>
        </p:nvSpPr>
        <p:spPr>
          <a:xfrm>
            <a:off x="8626328" y="2025114"/>
            <a:ext cx="15300" cy="15300"/>
          </a:xfrm>
          <a:prstGeom prst="ellipse">
            <a:avLst/>
          </a:prstGeom>
          <a:solidFill>
            <a:srgbClr val="BFE6FF">
              <a:alpha val="4235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8"/>
          <p:cNvSpPr/>
          <p:nvPr/>
        </p:nvSpPr>
        <p:spPr>
          <a:xfrm>
            <a:off x="1552010" y="4737758"/>
            <a:ext cx="19267" cy="19268"/>
          </a:xfrm>
          <a:prstGeom prst="ellipse">
            <a:avLst/>
          </a:prstGeom>
          <a:solidFill>
            <a:srgbClr val="BFE6FF">
              <a:alpha val="3294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8"/>
          <p:cNvSpPr/>
          <p:nvPr/>
        </p:nvSpPr>
        <p:spPr>
          <a:xfrm>
            <a:off x="2801140" y="4399955"/>
            <a:ext cx="17222" cy="17221"/>
          </a:xfrm>
          <a:prstGeom prst="ellipse">
            <a:avLst/>
          </a:prstGeom>
          <a:solidFill>
            <a:srgbClr val="BFE6FF">
              <a:alpha val="3725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8"/>
          <p:cNvSpPr/>
          <p:nvPr/>
        </p:nvSpPr>
        <p:spPr>
          <a:xfrm>
            <a:off x="8010740" y="1933829"/>
            <a:ext cx="27838" cy="27838"/>
          </a:xfrm>
          <a:prstGeom prst="ellipse">
            <a:avLst/>
          </a:prstGeom>
          <a:solidFill>
            <a:srgbClr val="BFE6FF">
              <a:alpha val="2941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8"/>
          <p:cNvSpPr/>
          <p:nvPr/>
        </p:nvSpPr>
        <p:spPr>
          <a:xfrm>
            <a:off x="4773681" y="3014943"/>
            <a:ext cx="23101" cy="23101"/>
          </a:xfrm>
          <a:prstGeom prst="ellipse">
            <a:avLst/>
          </a:prstGeom>
          <a:solidFill>
            <a:srgbClr val="BFE6FF">
              <a:alpha val="2431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8"/>
          <p:cNvSpPr/>
          <p:nvPr/>
        </p:nvSpPr>
        <p:spPr>
          <a:xfrm>
            <a:off x="3385991" y="1643879"/>
            <a:ext cx="29466" cy="29466"/>
          </a:xfrm>
          <a:prstGeom prst="ellipse">
            <a:avLst/>
          </a:prstGeom>
          <a:solidFill>
            <a:srgbClr val="BFE6FF">
              <a:alpha val="3921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8"/>
          <p:cNvSpPr/>
          <p:nvPr/>
        </p:nvSpPr>
        <p:spPr>
          <a:xfrm>
            <a:off x="8687551" y="3552775"/>
            <a:ext cx="25800" cy="25800"/>
          </a:xfrm>
          <a:prstGeom prst="ellipse">
            <a:avLst/>
          </a:prstGeom>
          <a:solidFill>
            <a:srgbClr val="BFE6FF">
              <a:alpha val="2235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8"/>
          <p:cNvSpPr/>
          <p:nvPr/>
        </p:nvSpPr>
        <p:spPr>
          <a:xfrm>
            <a:off x="6446486" y="4029388"/>
            <a:ext cx="18133" cy="18133"/>
          </a:xfrm>
          <a:prstGeom prst="ellipse">
            <a:avLst/>
          </a:prstGeom>
          <a:solidFill>
            <a:srgbClr val="BFE6FF">
              <a:alpha val="2039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8"/>
          <p:cNvSpPr/>
          <p:nvPr/>
        </p:nvSpPr>
        <p:spPr>
          <a:xfrm>
            <a:off x="8905562" y="4183319"/>
            <a:ext cx="24300" cy="24300"/>
          </a:xfrm>
          <a:prstGeom prst="ellipse">
            <a:avLst/>
          </a:prstGeom>
          <a:solidFill>
            <a:srgbClr val="BFE6FF">
              <a:alpha val="1607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8"/>
          <p:cNvSpPr/>
          <p:nvPr/>
        </p:nvSpPr>
        <p:spPr>
          <a:xfrm>
            <a:off x="430763" y="2953268"/>
            <a:ext cx="13088" cy="13088"/>
          </a:xfrm>
          <a:prstGeom prst="ellipse">
            <a:avLst/>
          </a:prstGeom>
          <a:solidFill>
            <a:srgbClr val="BFE6FF">
              <a:alpha val="3921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8"/>
          <p:cNvSpPr/>
          <p:nvPr/>
        </p:nvSpPr>
        <p:spPr>
          <a:xfrm>
            <a:off x="6986696" y="1369481"/>
            <a:ext cx="31179" cy="31179"/>
          </a:xfrm>
          <a:prstGeom prst="ellipse">
            <a:avLst/>
          </a:prstGeom>
          <a:solidFill>
            <a:srgbClr val="BFE6FF">
              <a:alpha val="1215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8"/>
          <p:cNvSpPr/>
          <p:nvPr/>
        </p:nvSpPr>
        <p:spPr>
          <a:xfrm>
            <a:off x="9090710" y="1096499"/>
            <a:ext cx="14444" cy="14444"/>
          </a:xfrm>
          <a:prstGeom prst="ellipse">
            <a:avLst/>
          </a:prstGeom>
          <a:solidFill>
            <a:srgbClr val="BFE6FF">
              <a:alpha val="4352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8"/>
          <p:cNvSpPr/>
          <p:nvPr/>
        </p:nvSpPr>
        <p:spPr>
          <a:xfrm>
            <a:off x="5958639" y="1533247"/>
            <a:ext cx="18044" cy="18044"/>
          </a:xfrm>
          <a:prstGeom prst="ellipse">
            <a:avLst/>
          </a:prstGeom>
          <a:solidFill>
            <a:srgbClr val="BFE6FF">
              <a:alpha val="3686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8"/>
          <p:cNvSpPr/>
          <p:nvPr/>
        </p:nvSpPr>
        <p:spPr>
          <a:xfrm>
            <a:off x="879916" y="4560146"/>
            <a:ext cx="28127" cy="28127"/>
          </a:xfrm>
          <a:prstGeom prst="ellipse">
            <a:avLst/>
          </a:prstGeom>
          <a:solidFill>
            <a:srgbClr val="BFE6FF">
              <a:alpha val="2117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8"/>
          <p:cNvSpPr/>
          <p:nvPr/>
        </p:nvSpPr>
        <p:spPr>
          <a:xfrm>
            <a:off x="7094226" y="84185"/>
            <a:ext cx="33920" cy="33920"/>
          </a:xfrm>
          <a:prstGeom prst="ellipse">
            <a:avLst/>
          </a:prstGeom>
          <a:solidFill>
            <a:srgbClr val="BFE6FF">
              <a:alpha val="1137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8"/>
          <p:cNvSpPr/>
          <p:nvPr/>
        </p:nvSpPr>
        <p:spPr>
          <a:xfrm>
            <a:off x="5313312" y="1926352"/>
            <a:ext cx="33942" cy="33942"/>
          </a:xfrm>
          <a:prstGeom prst="ellipse">
            <a:avLst/>
          </a:prstGeom>
          <a:solidFill>
            <a:srgbClr val="BFE6FF">
              <a:alpha val="2941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8"/>
          <p:cNvSpPr/>
          <p:nvPr/>
        </p:nvSpPr>
        <p:spPr>
          <a:xfrm>
            <a:off x="8434420" y="5141937"/>
            <a:ext cx="15536" cy="15536"/>
          </a:xfrm>
          <a:prstGeom prst="ellipse">
            <a:avLst/>
          </a:prstGeom>
          <a:solidFill>
            <a:srgbClr val="BFE6FF">
              <a:alpha val="3960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8"/>
          <p:cNvSpPr/>
          <p:nvPr/>
        </p:nvSpPr>
        <p:spPr>
          <a:xfrm>
            <a:off x="8856632" y="2755783"/>
            <a:ext cx="27300" cy="27300"/>
          </a:xfrm>
          <a:prstGeom prst="ellipse">
            <a:avLst/>
          </a:prstGeom>
          <a:solidFill>
            <a:srgbClr val="BFE6FF">
              <a:alpha val="1411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8"/>
          <p:cNvSpPr/>
          <p:nvPr/>
        </p:nvSpPr>
        <p:spPr>
          <a:xfrm>
            <a:off x="7114187" y="4073303"/>
            <a:ext cx="14696" cy="14696"/>
          </a:xfrm>
          <a:prstGeom prst="ellipse">
            <a:avLst/>
          </a:prstGeom>
          <a:solidFill>
            <a:srgbClr val="BFE6FF">
              <a:alpha val="4352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8"/>
          <p:cNvSpPr/>
          <p:nvPr/>
        </p:nvSpPr>
        <p:spPr>
          <a:xfrm>
            <a:off x="498128" y="4915492"/>
            <a:ext cx="13768" cy="13768"/>
          </a:xfrm>
          <a:prstGeom prst="ellipse">
            <a:avLst/>
          </a:prstGeom>
          <a:solidFill>
            <a:srgbClr val="BFE6FF">
              <a:alpha val="1098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8"/>
          <p:cNvSpPr/>
          <p:nvPr/>
        </p:nvSpPr>
        <p:spPr>
          <a:xfrm>
            <a:off x="8680555" y="1673612"/>
            <a:ext cx="31200" cy="31200"/>
          </a:xfrm>
          <a:prstGeom prst="ellipse">
            <a:avLst/>
          </a:prstGeom>
          <a:solidFill>
            <a:srgbClr val="BFE6FF">
              <a:alpha val="3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8"/>
          <p:cNvSpPr/>
          <p:nvPr/>
        </p:nvSpPr>
        <p:spPr>
          <a:xfrm>
            <a:off x="8614199" y="2291530"/>
            <a:ext cx="29400" cy="29400"/>
          </a:xfrm>
          <a:prstGeom prst="ellipse">
            <a:avLst/>
          </a:prstGeom>
          <a:solidFill>
            <a:srgbClr val="BFE6FF">
              <a:alpha val="2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8"/>
          <p:cNvSpPr/>
          <p:nvPr/>
        </p:nvSpPr>
        <p:spPr>
          <a:xfrm>
            <a:off x="9128513" y="1002157"/>
            <a:ext cx="19723" cy="19723"/>
          </a:xfrm>
          <a:prstGeom prst="ellipse">
            <a:avLst/>
          </a:prstGeom>
          <a:solidFill>
            <a:srgbClr val="BFE6FF">
              <a:alpha val="3137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8"/>
          <p:cNvSpPr/>
          <p:nvPr/>
        </p:nvSpPr>
        <p:spPr>
          <a:xfrm>
            <a:off x="934758" y="1627573"/>
            <a:ext cx="30257" cy="30256"/>
          </a:xfrm>
          <a:prstGeom prst="ellipse">
            <a:avLst/>
          </a:prstGeom>
          <a:solidFill>
            <a:srgbClr val="BFE6FF">
              <a:alpha val="2431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8"/>
          <p:cNvSpPr/>
          <p:nvPr/>
        </p:nvSpPr>
        <p:spPr>
          <a:xfrm>
            <a:off x="1155999" y="3665757"/>
            <a:ext cx="17638" cy="17638"/>
          </a:xfrm>
          <a:prstGeom prst="ellipse">
            <a:avLst/>
          </a:prstGeom>
          <a:solidFill>
            <a:srgbClr val="BFE6FF">
              <a:alpha val="2588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8"/>
          <p:cNvSpPr/>
          <p:nvPr/>
        </p:nvSpPr>
        <p:spPr>
          <a:xfrm>
            <a:off x="5533427" y="3998565"/>
            <a:ext cx="32197" cy="32197"/>
          </a:xfrm>
          <a:prstGeom prst="ellipse">
            <a:avLst/>
          </a:prstGeom>
          <a:solidFill>
            <a:srgbClr val="BFE6FF">
              <a:alpha val="3176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8"/>
          <p:cNvSpPr/>
          <p:nvPr/>
        </p:nvSpPr>
        <p:spPr>
          <a:xfrm>
            <a:off x="9119285" y="3016507"/>
            <a:ext cx="16389" cy="16389"/>
          </a:xfrm>
          <a:prstGeom prst="ellipse">
            <a:avLst/>
          </a:prstGeom>
          <a:solidFill>
            <a:srgbClr val="BFE6FF">
              <a:alpha val="1137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8"/>
          <p:cNvSpPr/>
          <p:nvPr/>
        </p:nvSpPr>
        <p:spPr>
          <a:xfrm>
            <a:off x="6858595" y="3959408"/>
            <a:ext cx="29495" cy="29495"/>
          </a:xfrm>
          <a:prstGeom prst="ellipse">
            <a:avLst/>
          </a:prstGeom>
          <a:solidFill>
            <a:srgbClr val="BFE6FF">
              <a:alpha val="1333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8"/>
          <p:cNvSpPr/>
          <p:nvPr/>
        </p:nvSpPr>
        <p:spPr>
          <a:xfrm>
            <a:off x="4887296" y="3541770"/>
            <a:ext cx="24431" cy="24431"/>
          </a:xfrm>
          <a:prstGeom prst="ellipse">
            <a:avLst/>
          </a:prstGeom>
          <a:solidFill>
            <a:srgbClr val="BFE6FF">
              <a:alpha val="3254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8"/>
          <p:cNvSpPr/>
          <p:nvPr/>
        </p:nvSpPr>
        <p:spPr>
          <a:xfrm>
            <a:off x="1568538" y="1541015"/>
            <a:ext cx="15680" cy="15680"/>
          </a:xfrm>
          <a:prstGeom prst="ellipse">
            <a:avLst/>
          </a:prstGeom>
          <a:solidFill>
            <a:srgbClr val="BFE6FF">
              <a:alpha val="3725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8"/>
          <p:cNvSpPr/>
          <p:nvPr/>
        </p:nvSpPr>
        <p:spPr>
          <a:xfrm>
            <a:off x="3414175" y="2283848"/>
            <a:ext cx="20399" cy="20399"/>
          </a:xfrm>
          <a:prstGeom prst="ellipse">
            <a:avLst/>
          </a:prstGeom>
          <a:solidFill>
            <a:srgbClr val="BFE6FF">
              <a:alpha val="4039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8"/>
          <p:cNvSpPr/>
          <p:nvPr/>
        </p:nvSpPr>
        <p:spPr>
          <a:xfrm>
            <a:off x="4015141" y="2709704"/>
            <a:ext cx="14655" cy="14655"/>
          </a:xfrm>
          <a:prstGeom prst="ellipse">
            <a:avLst/>
          </a:prstGeom>
          <a:solidFill>
            <a:srgbClr val="BFE6FF">
              <a:alpha val="1803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8"/>
          <p:cNvSpPr/>
          <p:nvPr/>
        </p:nvSpPr>
        <p:spPr>
          <a:xfrm>
            <a:off x="3738947" y="3654970"/>
            <a:ext cx="27754" cy="27754"/>
          </a:xfrm>
          <a:prstGeom prst="ellipse">
            <a:avLst/>
          </a:prstGeom>
          <a:solidFill>
            <a:srgbClr val="BFE6FF">
              <a:alpha val="2980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8"/>
          <p:cNvSpPr/>
          <p:nvPr/>
        </p:nvSpPr>
        <p:spPr>
          <a:xfrm>
            <a:off x="411480" y="288036"/>
            <a:ext cx="6172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C6FF"/>
              </a:buClr>
              <a:buSzPts val="900"/>
              <a:buFont typeface="Courier New"/>
              <a:buNone/>
            </a:pPr>
            <a:r>
              <a:rPr b="1" i="0" lang="it" sz="900" u="none" cap="none" strike="noStrike">
                <a:solidFill>
                  <a:srgbClr val="2FC6FF"/>
                </a:solidFill>
                <a:latin typeface="Courier New"/>
                <a:ea typeface="Courier New"/>
                <a:cs typeface="Courier New"/>
                <a:sym typeface="Courier New"/>
              </a:rPr>
              <a:t>02 — USER MANUAL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8"/>
          <p:cNvSpPr/>
          <p:nvPr/>
        </p:nvSpPr>
        <p:spPr>
          <a:xfrm>
            <a:off x="411480" y="466344"/>
            <a:ext cx="72694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2100"/>
              <a:buFont typeface="Courier New"/>
              <a:buNone/>
            </a:pPr>
            <a:r>
              <a:rPr b="1" i="0" lang="it" sz="2100" u="none" cap="none" strike="noStrike">
                <a:solidFill>
                  <a:srgbClr val="EAF6FF"/>
                </a:solidFill>
                <a:latin typeface="Courier New"/>
                <a:ea typeface="Courier New"/>
                <a:cs typeface="Courier New"/>
                <a:sym typeface="Courier New"/>
              </a:rPr>
              <a:t>The Light Puzzle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8"/>
          <p:cNvSpPr/>
          <p:nvPr/>
        </p:nvSpPr>
        <p:spPr>
          <a:xfrm>
            <a:off x="8197367" y="288036"/>
            <a:ext cx="534924" cy="534924"/>
          </a:xfrm>
          <a:prstGeom prst="ellipse">
            <a:avLst/>
          </a:prstGeom>
          <a:solidFill>
            <a:srgbClr val="2FC6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77" name="Google Shape;37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7669" y="41833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18"/>
          <p:cNvSpPr/>
          <p:nvPr/>
        </p:nvSpPr>
        <p:spPr>
          <a:xfrm>
            <a:off x="411480" y="4855464"/>
            <a:ext cx="2743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700"/>
              <a:buFont typeface="Courier New"/>
              <a:buNone/>
            </a:pPr>
            <a:r>
              <a:rPr b="0" i="0" lang="it" sz="700" u="none" cap="none" strike="noStrike">
                <a:solidFill>
                  <a:srgbClr val="93B3D6"/>
                </a:solidFill>
                <a:latin typeface="Courier New"/>
                <a:ea typeface="Courier New"/>
                <a:cs typeface="Courier New"/>
                <a:sym typeface="Courier New"/>
              </a:rPr>
              <a:t>LUMEN DRIFT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8"/>
          <p:cNvSpPr/>
          <p:nvPr/>
        </p:nvSpPr>
        <p:spPr>
          <a:xfrm>
            <a:off x="8320811" y="4855464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700"/>
              <a:buFont typeface="Courier New"/>
              <a:buNone/>
            </a:pPr>
            <a:r>
              <a:rPr b="0" i="0" lang="it" sz="700" u="none" cap="none" strike="noStrike">
                <a:solidFill>
                  <a:srgbClr val="93B3D6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0" name="Google Shape;380;p18"/>
          <p:cNvPicPr preferRelativeResize="0"/>
          <p:nvPr/>
        </p:nvPicPr>
        <p:blipFill rotWithShape="1">
          <a:blip r:embed="rId4">
            <a:alphaModFix amt="75000"/>
          </a:blip>
          <a:srcRect b="0" l="0" r="0" t="0"/>
          <a:stretch/>
        </p:blipFill>
        <p:spPr>
          <a:xfrm>
            <a:off x="2108835" y="2331720"/>
            <a:ext cx="377190" cy="37719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18"/>
          <p:cNvSpPr/>
          <p:nvPr/>
        </p:nvSpPr>
        <p:spPr>
          <a:xfrm>
            <a:off x="4440555" y="1198646"/>
            <a:ext cx="43890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100"/>
              <a:buFont typeface="Calibri"/>
              <a:buNone/>
            </a:pPr>
            <a:r>
              <a:rPr b="0" i="0" lang="it" sz="11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To exit the starting room, the player must overload two photo-sensitive crystal sensors at the exact same time.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8"/>
          <p:cNvSpPr/>
          <p:nvPr/>
        </p:nvSpPr>
        <p:spPr>
          <a:xfrm>
            <a:off x="4354830" y="1796796"/>
            <a:ext cx="342900" cy="342900"/>
          </a:xfrm>
          <a:prstGeom prst="ellipse">
            <a:avLst/>
          </a:prstGeom>
          <a:solidFill>
            <a:srgbClr val="2FC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83" name="Google Shape;38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40555" y="1882521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18"/>
          <p:cNvSpPr/>
          <p:nvPr/>
        </p:nvSpPr>
        <p:spPr>
          <a:xfrm>
            <a:off x="4934331" y="1850156"/>
            <a:ext cx="3895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Console Logs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8"/>
          <p:cNvSpPr/>
          <p:nvPr/>
        </p:nvSpPr>
        <p:spPr>
          <a:xfrm>
            <a:off x="4934331" y="2069612"/>
            <a:ext cx="3895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The wall terminal hints at the solution: overload both crystals with a light beam simultaneously.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8"/>
          <p:cNvSpPr/>
          <p:nvPr/>
        </p:nvSpPr>
        <p:spPr>
          <a:xfrm>
            <a:off x="4354830" y="2393442"/>
            <a:ext cx="342900" cy="342900"/>
          </a:xfrm>
          <a:prstGeom prst="ellipse">
            <a:avLst/>
          </a:prstGeom>
          <a:solidFill>
            <a:srgbClr val="FFB23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87" name="Google Shape;38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40555" y="2479167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8"/>
          <p:cNvSpPr/>
          <p:nvPr/>
        </p:nvSpPr>
        <p:spPr>
          <a:xfrm>
            <a:off x="4934331" y="2446802"/>
            <a:ext cx="3895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Fixed Light Source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8"/>
          <p:cNvSpPr/>
          <p:nvPr/>
        </p:nvSpPr>
        <p:spPr>
          <a:xfrm>
            <a:off x="4934331" y="2666258"/>
            <a:ext cx="3895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A button activates an environmental point light aimed at the first crystal.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8"/>
          <p:cNvSpPr/>
          <p:nvPr/>
        </p:nvSpPr>
        <p:spPr>
          <a:xfrm>
            <a:off x="4354830" y="2990088"/>
            <a:ext cx="342900" cy="342900"/>
          </a:xfrm>
          <a:prstGeom prst="ellipse">
            <a:avLst/>
          </a:prstGeom>
          <a:solidFill>
            <a:srgbClr val="2FC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91" name="Google Shape;39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0555" y="3075813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18"/>
          <p:cNvSpPr/>
          <p:nvPr/>
        </p:nvSpPr>
        <p:spPr>
          <a:xfrm>
            <a:off x="4934331" y="3043448"/>
            <a:ext cx="3895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The Flashlight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8"/>
          <p:cNvSpPr/>
          <p:nvPr/>
        </p:nvSpPr>
        <p:spPr>
          <a:xfrm>
            <a:off x="4934331" y="3262904"/>
            <a:ext cx="3895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With only one torch, the player must manually aim it (via E) at the second crystal.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8"/>
          <p:cNvSpPr/>
          <p:nvPr/>
        </p:nvSpPr>
        <p:spPr>
          <a:xfrm>
            <a:off x="4354830" y="3586734"/>
            <a:ext cx="342900" cy="342900"/>
          </a:xfrm>
          <a:prstGeom prst="ellipse">
            <a:avLst/>
          </a:prstGeom>
          <a:solidFill>
            <a:srgbClr val="FFB23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95" name="Google Shape;39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40555" y="3672459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8"/>
          <p:cNvSpPr/>
          <p:nvPr/>
        </p:nvSpPr>
        <p:spPr>
          <a:xfrm>
            <a:off x="4934331" y="3640094"/>
            <a:ext cx="3895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The Airlock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8"/>
          <p:cNvSpPr/>
          <p:nvPr/>
        </p:nvSpPr>
        <p:spPr>
          <a:xfrm>
            <a:off x="4934331" y="3859550"/>
            <a:ext cx="3895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Once both crystals register light simultaneously, the sealed main door opens.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8" name="Google Shape;398;p18" title="Activated light sensor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38000" y="1573150"/>
            <a:ext cx="3998848" cy="2200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B16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9"/>
          <p:cNvSpPr/>
          <p:nvPr/>
        </p:nvSpPr>
        <p:spPr>
          <a:xfrm>
            <a:off x="5043314" y="4675334"/>
            <a:ext cx="31286" cy="31286"/>
          </a:xfrm>
          <a:prstGeom prst="ellipse">
            <a:avLst/>
          </a:prstGeom>
          <a:solidFill>
            <a:srgbClr val="BFE6FF">
              <a:alpha val="2784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9"/>
          <p:cNvSpPr/>
          <p:nvPr/>
        </p:nvSpPr>
        <p:spPr>
          <a:xfrm>
            <a:off x="4877108" y="1556976"/>
            <a:ext cx="26368" cy="26368"/>
          </a:xfrm>
          <a:prstGeom prst="ellipse">
            <a:avLst/>
          </a:prstGeom>
          <a:solidFill>
            <a:srgbClr val="BFE6FF">
              <a:alpha val="3725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9"/>
          <p:cNvSpPr/>
          <p:nvPr/>
        </p:nvSpPr>
        <p:spPr>
          <a:xfrm>
            <a:off x="8711898" y="456501"/>
            <a:ext cx="23107" cy="23107"/>
          </a:xfrm>
          <a:prstGeom prst="ellipse">
            <a:avLst/>
          </a:prstGeom>
          <a:solidFill>
            <a:srgbClr val="BFE6FF">
              <a:alpha val="3176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9"/>
          <p:cNvSpPr/>
          <p:nvPr/>
        </p:nvSpPr>
        <p:spPr>
          <a:xfrm>
            <a:off x="8725088" y="1777492"/>
            <a:ext cx="15933" cy="15933"/>
          </a:xfrm>
          <a:prstGeom prst="ellipse">
            <a:avLst/>
          </a:prstGeom>
          <a:solidFill>
            <a:srgbClr val="BFE6FF">
              <a:alpha val="1725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9"/>
          <p:cNvSpPr/>
          <p:nvPr/>
        </p:nvSpPr>
        <p:spPr>
          <a:xfrm>
            <a:off x="457717" y="2739107"/>
            <a:ext cx="32139" cy="32139"/>
          </a:xfrm>
          <a:prstGeom prst="ellipse">
            <a:avLst/>
          </a:prstGeom>
          <a:solidFill>
            <a:srgbClr val="BFE6FF">
              <a:alpha val="4235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9"/>
          <p:cNvSpPr/>
          <p:nvPr/>
        </p:nvSpPr>
        <p:spPr>
          <a:xfrm>
            <a:off x="4918288" y="2295425"/>
            <a:ext cx="24490" cy="24490"/>
          </a:xfrm>
          <a:prstGeom prst="ellipse">
            <a:avLst/>
          </a:prstGeom>
          <a:solidFill>
            <a:srgbClr val="BFE6FF">
              <a:alpha val="1294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9"/>
          <p:cNvSpPr/>
          <p:nvPr/>
        </p:nvSpPr>
        <p:spPr>
          <a:xfrm>
            <a:off x="8431473" y="1329069"/>
            <a:ext cx="13541" cy="13541"/>
          </a:xfrm>
          <a:prstGeom prst="ellipse">
            <a:avLst/>
          </a:prstGeom>
          <a:solidFill>
            <a:srgbClr val="BFE6FF">
              <a:alpha val="4274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9"/>
          <p:cNvSpPr/>
          <p:nvPr/>
        </p:nvSpPr>
        <p:spPr>
          <a:xfrm>
            <a:off x="4386084" y="3410004"/>
            <a:ext cx="13904" cy="13904"/>
          </a:xfrm>
          <a:prstGeom prst="ellipse">
            <a:avLst/>
          </a:prstGeom>
          <a:solidFill>
            <a:srgbClr val="BFE6FF">
              <a:alpha val="1921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9"/>
          <p:cNvSpPr/>
          <p:nvPr/>
        </p:nvSpPr>
        <p:spPr>
          <a:xfrm>
            <a:off x="5297012" y="4012074"/>
            <a:ext cx="17342" cy="17342"/>
          </a:xfrm>
          <a:prstGeom prst="ellipse">
            <a:avLst/>
          </a:prstGeom>
          <a:solidFill>
            <a:srgbClr val="BFE6FF">
              <a:alpha val="2156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9"/>
          <p:cNvSpPr/>
          <p:nvPr/>
        </p:nvSpPr>
        <p:spPr>
          <a:xfrm>
            <a:off x="3476130" y="907001"/>
            <a:ext cx="30704" cy="30704"/>
          </a:xfrm>
          <a:prstGeom prst="ellipse">
            <a:avLst/>
          </a:prstGeom>
          <a:solidFill>
            <a:srgbClr val="BFE6FF">
              <a:alpha val="1686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9"/>
          <p:cNvSpPr/>
          <p:nvPr/>
        </p:nvSpPr>
        <p:spPr>
          <a:xfrm>
            <a:off x="4603520" y="4449118"/>
            <a:ext cx="30801" cy="30801"/>
          </a:xfrm>
          <a:prstGeom prst="ellipse">
            <a:avLst/>
          </a:prstGeom>
          <a:solidFill>
            <a:srgbClr val="BFE6FF">
              <a:alpha val="4039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9"/>
          <p:cNvSpPr/>
          <p:nvPr/>
        </p:nvSpPr>
        <p:spPr>
          <a:xfrm>
            <a:off x="2361222" y="1881038"/>
            <a:ext cx="31778" cy="31778"/>
          </a:xfrm>
          <a:prstGeom prst="ellipse">
            <a:avLst/>
          </a:prstGeom>
          <a:solidFill>
            <a:srgbClr val="BFE6FF">
              <a:alpha val="2117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9"/>
          <p:cNvSpPr/>
          <p:nvPr/>
        </p:nvSpPr>
        <p:spPr>
          <a:xfrm>
            <a:off x="2644768" y="3016497"/>
            <a:ext cx="12496" cy="12496"/>
          </a:xfrm>
          <a:prstGeom prst="ellipse">
            <a:avLst/>
          </a:prstGeom>
          <a:solidFill>
            <a:srgbClr val="BFE6FF">
              <a:alpha val="2274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9"/>
          <p:cNvSpPr/>
          <p:nvPr/>
        </p:nvSpPr>
        <p:spPr>
          <a:xfrm>
            <a:off x="4580222" y="3314930"/>
            <a:ext cx="19529" cy="19529"/>
          </a:xfrm>
          <a:prstGeom prst="ellipse">
            <a:avLst/>
          </a:prstGeom>
          <a:solidFill>
            <a:srgbClr val="BFE6FF">
              <a:alpha val="1372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9"/>
          <p:cNvSpPr/>
          <p:nvPr/>
        </p:nvSpPr>
        <p:spPr>
          <a:xfrm>
            <a:off x="5300686" y="4767479"/>
            <a:ext cx="16781" cy="16781"/>
          </a:xfrm>
          <a:prstGeom prst="ellipse">
            <a:avLst/>
          </a:prstGeom>
          <a:solidFill>
            <a:srgbClr val="BFE6FF">
              <a:alpha val="3529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9"/>
          <p:cNvSpPr/>
          <p:nvPr/>
        </p:nvSpPr>
        <p:spPr>
          <a:xfrm>
            <a:off x="6421972" y="4868452"/>
            <a:ext cx="29755" cy="29755"/>
          </a:xfrm>
          <a:prstGeom prst="ellipse">
            <a:avLst/>
          </a:prstGeom>
          <a:solidFill>
            <a:srgbClr val="BFE6FF">
              <a:alpha val="3843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9"/>
          <p:cNvSpPr/>
          <p:nvPr/>
        </p:nvSpPr>
        <p:spPr>
          <a:xfrm>
            <a:off x="1707470" y="977823"/>
            <a:ext cx="25186" cy="25186"/>
          </a:xfrm>
          <a:prstGeom prst="ellipse">
            <a:avLst/>
          </a:prstGeom>
          <a:solidFill>
            <a:srgbClr val="BFE6FF">
              <a:alpha val="1568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9"/>
          <p:cNvSpPr/>
          <p:nvPr/>
        </p:nvSpPr>
        <p:spPr>
          <a:xfrm>
            <a:off x="8253459" y="2667343"/>
            <a:ext cx="28264" cy="28264"/>
          </a:xfrm>
          <a:prstGeom prst="ellipse">
            <a:avLst/>
          </a:prstGeom>
          <a:solidFill>
            <a:srgbClr val="BFE6FF">
              <a:alpha val="3490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9"/>
          <p:cNvSpPr/>
          <p:nvPr/>
        </p:nvSpPr>
        <p:spPr>
          <a:xfrm>
            <a:off x="6760490" y="1715030"/>
            <a:ext cx="27968" cy="27968"/>
          </a:xfrm>
          <a:prstGeom prst="ellipse">
            <a:avLst/>
          </a:prstGeom>
          <a:solidFill>
            <a:srgbClr val="BFE6FF">
              <a:alpha val="3764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9"/>
          <p:cNvSpPr/>
          <p:nvPr/>
        </p:nvSpPr>
        <p:spPr>
          <a:xfrm>
            <a:off x="1691051" y="613542"/>
            <a:ext cx="18038" cy="18038"/>
          </a:xfrm>
          <a:prstGeom prst="ellipse">
            <a:avLst/>
          </a:prstGeom>
          <a:solidFill>
            <a:srgbClr val="BFE6FF">
              <a:alpha val="2666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9"/>
          <p:cNvSpPr/>
          <p:nvPr/>
        </p:nvSpPr>
        <p:spPr>
          <a:xfrm>
            <a:off x="5017638" y="3910758"/>
            <a:ext cx="18032" cy="18032"/>
          </a:xfrm>
          <a:prstGeom prst="ellipse">
            <a:avLst/>
          </a:prstGeom>
          <a:solidFill>
            <a:srgbClr val="BFE6FF">
              <a:alpha val="2941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9"/>
          <p:cNvSpPr/>
          <p:nvPr/>
        </p:nvSpPr>
        <p:spPr>
          <a:xfrm>
            <a:off x="5574537" y="2335980"/>
            <a:ext cx="14382" cy="14382"/>
          </a:xfrm>
          <a:prstGeom prst="ellipse">
            <a:avLst/>
          </a:prstGeom>
          <a:solidFill>
            <a:srgbClr val="BFE6FF">
              <a:alpha val="2549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9"/>
          <p:cNvSpPr/>
          <p:nvPr/>
        </p:nvSpPr>
        <p:spPr>
          <a:xfrm>
            <a:off x="5192249" y="2793279"/>
            <a:ext cx="33773" cy="33773"/>
          </a:xfrm>
          <a:prstGeom prst="ellipse">
            <a:avLst/>
          </a:prstGeom>
          <a:solidFill>
            <a:srgbClr val="BFE6FF">
              <a:alpha val="3215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9"/>
          <p:cNvSpPr/>
          <p:nvPr/>
        </p:nvSpPr>
        <p:spPr>
          <a:xfrm>
            <a:off x="6046813" y="4650929"/>
            <a:ext cx="33409" cy="33409"/>
          </a:xfrm>
          <a:prstGeom prst="ellipse">
            <a:avLst/>
          </a:prstGeom>
          <a:solidFill>
            <a:srgbClr val="BFE6FF">
              <a:alpha val="4274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9"/>
          <p:cNvSpPr/>
          <p:nvPr/>
        </p:nvSpPr>
        <p:spPr>
          <a:xfrm>
            <a:off x="7128269" y="3120592"/>
            <a:ext cx="14278" cy="14278"/>
          </a:xfrm>
          <a:prstGeom prst="ellipse">
            <a:avLst/>
          </a:prstGeom>
          <a:solidFill>
            <a:srgbClr val="BFE6FF">
              <a:alpha val="4235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9"/>
          <p:cNvSpPr/>
          <p:nvPr/>
        </p:nvSpPr>
        <p:spPr>
          <a:xfrm>
            <a:off x="1659240" y="3834779"/>
            <a:ext cx="13658" cy="13657"/>
          </a:xfrm>
          <a:prstGeom prst="ellipse">
            <a:avLst/>
          </a:prstGeom>
          <a:solidFill>
            <a:srgbClr val="BFE6FF">
              <a:alpha val="3176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9"/>
          <p:cNvSpPr/>
          <p:nvPr/>
        </p:nvSpPr>
        <p:spPr>
          <a:xfrm>
            <a:off x="7340625" y="1510495"/>
            <a:ext cx="17977" cy="17977"/>
          </a:xfrm>
          <a:prstGeom prst="ellipse">
            <a:avLst/>
          </a:prstGeom>
          <a:solidFill>
            <a:srgbClr val="BFE6FF">
              <a:alpha val="2666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9"/>
          <p:cNvSpPr/>
          <p:nvPr/>
        </p:nvSpPr>
        <p:spPr>
          <a:xfrm>
            <a:off x="7867990" y="4607657"/>
            <a:ext cx="23876" cy="23876"/>
          </a:xfrm>
          <a:prstGeom prst="ellipse">
            <a:avLst/>
          </a:prstGeom>
          <a:solidFill>
            <a:srgbClr val="BFE6FF">
              <a:alpha val="2745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9"/>
          <p:cNvSpPr/>
          <p:nvPr/>
        </p:nvSpPr>
        <p:spPr>
          <a:xfrm>
            <a:off x="9110356" y="1082590"/>
            <a:ext cx="27273" cy="27273"/>
          </a:xfrm>
          <a:prstGeom prst="ellipse">
            <a:avLst/>
          </a:prstGeom>
          <a:solidFill>
            <a:srgbClr val="BFE6FF">
              <a:alpha val="3176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9"/>
          <p:cNvSpPr/>
          <p:nvPr/>
        </p:nvSpPr>
        <p:spPr>
          <a:xfrm>
            <a:off x="8845094" y="1200390"/>
            <a:ext cx="16786" cy="16786"/>
          </a:xfrm>
          <a:prstGeom prst="ellipse">
            <a:avLst/>
          </a:prstGeom>
          <a:solidFill>
            <a:srgbClr val="BFE6FF">
              <a:alpha val="2588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9"/>
          <p:cNvSpPr/>
          <p:nvPr/>
        </p:nvSpPr>
        <p:spPr>
          <a:xfrm>
            <a:off x="4629089" y="1642879"/>
            <a:ext cx="16264" cy="16264"/>
          </a:xfrm>
          <a:prstGeom prst="ellipse">
            <a:avLst/>
          </a:prstGeom>
          <a:solidFill>
            <a:srgbClr val="BFE6FF">
              <a:alpha val="1215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9"/>
          <p:cNvSpPr/>
          <p:nvPr/>
        </p:nvSpPr>
        <p:spPr>
          <a:xfrm>
            <a:off x="8209021" y="2283705"/>
            <a:ext cx="34037" cy="34037"/>
          </a:xfrm>
          <a:prstGeom prst="ellipse">
            <a:avLst/>
          </a:prstGeom>
          <a:solidFill>
            <a:srgbClr val="BFE6FF">
              <a:alpha val="4156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9"/>
          <p:cNvSpPr/>
          <p:nvPr/>
        </p:nvSpPr>
        <p:spPr>
          <a:xfrm>
            <a:off x="8648100" y="1035655"/>
            <a:ext cx="24684" cy="24684"/>
          </a:xfrm>
          <a:prstGeom prst="ellipse">
            <a:avLst/>
          </a:prstGeom>
          <a:solidFill>
            <a:srgbClr val="BFE6FF">
              <a:alpha val="2784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9"/>
          <p:cNvSpPr/>
          <p:nvPr/>
        </p:nvSpPr>
        <p:spPr>
          <a:xfrm>
            <a:off x="2011404" y="3908396"/>
            <a:ext cx="18420" cy="18420"/>
          </a:xfrm>
          <a:prstGeom prst="ellipse">
            <a:avLst/>
          </a:prstGeom>
          <a:solidFill>
            <a:srgbClr val="BFE6FF">
              <a:alpha val="3176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9"/>
          <p:cNvSpPr/>
          <p:nvPr/>
        </p:nvSpPr>
        <p:spPr>
          <a:xfrm>
            <a:off x="1808462" y="1104053"/>
            <a:ext cx="29304" cy="29304"/>
          </a:xfrm>
          <a:prstGeom prst="ellipse">
            <a:avLst/>
          </a:prstGeom>
          <a:solidFill>
            <a:srgbClr val="BFE6FF">
              <a:alpha val="4235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9"/>
          <p:cNvSpPr/>
          <p:nvPr/>
        </p:nvSpPr>
        <p:spPr>
          <a:xfrm>
            <a:off x="1078777" y="395751"/>
            <a:ext cx="24490" cy="24490"/>
          </a:xfrm>
          <a:prstGeom prst="ellipse">
            <a:avLst/>
          </a:prstGeom>
          <a:solidFill>
            <a:srgbClr val="BFE6FF">
              <a:alpha val="4274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9"/>
          <p:cNvSpPr/>
          <p:nvPr/>
        </p:nvSpPr>
        <p:spPr>
          <a:xfrm>
            <a:off x="981249" y="4592333"/>
            <a:ext cx="31650" cy="31650"/>
          </a:xfrm>
          <a:prstGeom prst="ellipse">
            <a:avLst/>
          </a:prstGeom>
          <a:solidFill>
            <a:srgbClr val="BFE6FF">
              <a:alpha val="4078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9"/>
          <p:cNvSpPr/>
          <p:nvPr/>
        </p:nvSpPr>
        <p:spPr>
          <a:xfrm>
            <a:off x="2868042" y="1576374"/>
            <a:ext cx="12553" cy="12553"/>
          </a:xfrm>
          <a:prstGeom prst="ellipse">
            <a:avLst/>
          </a:prstGeom>
          <a:solidFill>
            <a:srgbClr val="BFE6FF">
              <a:alpha val="3764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9"/>
          <p:cNvSpPr/>
          <p:nvPr/>
        </p:nvSpPr>
        <p:spPr>
          <a:xfrm>
            <a:off x="3872304" y="560477"/>
            <a:ext cx="12721" cy="12721"/>
          </a:xfrm>
          <a:prstGeom prst="ellipse">
            <a:avLst/>
          </a:prstGeom>
          <a:solidFill>
            <a:srgbClr val="BFE6FF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9"/>
          <p:cNvSpPr/>
          <p:nvPr/>
        </p:nvSpPr>
        <p:spPr>
          <a:xfrm>
            <a:off x="8537689" y="1088344"/>
            <a:ext cx="20024" cy="20024"/>
          </a:xfrm>
          <a:prstGeom prst="ellipse">
            <a:avLst/>
          </a:prstGeom>
          <a:solidFill>
            <a:srgbClr val="BFE6FF">
              <a:alpha val="2156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9"/>
          <p:cNvSpPr/>
          <p:nvPr/>
        </p:nvSpPr>
        <p:spPr>
          <a:xfrm>
            <a:off x="6893957" y="2874657"/>
            <a:ext cx="20551" cy="20551"/>
          </a:xfrm>
          <a:prstGeom prst="ellipse">
            <a:avLst/>
          </a:prstGeom>
          <a:solidFill>
            <a:srgbClr val="BFE6FF">
              <a:alpha val="1450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9"/>
          <p:cNvSpPr/>
          <p:nvPr/>
        </p:nvSpPr>
        <p:spPr>
          <a:xfrm>
            <a:off x="5895282" y="3017751"/>
            <a:ext cx="32813" cy="32813"/>
          </a:xfrm>
          <a:prstGeom prst="ellipse">
            <a:avLst/>
          </a:prstGeom>
          <a:solidFill>
            <a:srgbClr val="BFE6FF">
              <a:alpha val="1450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9"/>
          <p:cNvSpPr/>
          <p:nvPr/>
        </p:nvSpPr>
        <p:spPr>
          <a:xfrm>
            <a:off x="5253926" y="186221"/>
            <a:ext cx="23918" cy="23918"/>
          </a:xfrm>
          <a:prstGeom prst="ellipse">
            <a:avLst/>
          </a:prstGeom>
          <a:solidFill>
            <a:srgbClr val="BFE6FF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9"/>
          <p:cNvSpPr/>
          <p:nvPr/>
        </p:nvSpPr>
        <p:spPr>
          <a:xfrm>
            <a:off x="411480" y="288036"/>
            <a:ext cx="6172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C6FF"/>
              </a:buClr>
              <a:buSzPts val="900"/>
              <a:buFont typeface="Courier New"/>
              <a:buNone/>
            </a:pPr>
            <a:r>
              <a:rPr b="1" i="0" lang="it" sz="900" u="none" cap="none" strike="noStrike">
                <a:solidFill>
                  <a:srgbClr val="2FC6FF"/>
                </a:solidFill>
                <a:latin typeface="Courier New"/>
                <a:ea typeface="Courier New"/>
                <a:cs typeface="Courier New"/>
                <a:sym typeface="Courier New"/>
              </a:rPr>
              <a:t>02 — USER MANUAL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9"/>
          <p:cNvSpPr/>
          <p:nvPr/>
        </p:nvSpPr>
        <p:spPr>
          <a:xfrm>
            <a:off x="411480" y="466344"/>
            <a:ext cx="72694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2100"/>
              <a:buFont typeface="Courier New"/>
              <a:buNone/>
            </a:pPr>
            <a:r>
              <a:rPr b="1" i="0" lang="it" sz="2100" u="none" cap="none" strike="noStrike">
                <a:solidFill>
                  <a:srgbClr val="EAF6FF"/>
                </a:solidFill>
                <a:latin typeface="Courier New"/>
                <a:ea typeface="Courier New"/>
                <a:cs typeface="Courier New"/>
                <a:sym typeface="Courier New"/>
              </a:rPr>
              <a:t>Platforming Phase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9"/>
          <p:cNvSpPr/>
          <p:nvPr/>
        </p:nvSpPr>
        <p:spPr>
          <a:xfrm>
            <a:off x="8197367" y="288036"/>
            <a:ext cx="534924" cy="534924"/>
          </a:xfrm>
          <a:prstGeom prst="ellipse">
            <a:avLst/>
          </a:prstGeom>
          <a:solidFill>
            <a:srgbClr val="2FC6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50" name="Google Shape;45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7669" y="41833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19"/>
          <p:cNvSpPr/>
          <p:nvPr/>
        </p:nvSpPr>
        <p:spPr>
          <a:xfrm>
            <a:off x="411480" y="4855464"/>
            <a:ext cx="2743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700"/>
              <a:buFont typeface="Courier New"/>
              <a:buNone/>
            </a:pPr>
            <a:r>
              <a:rPr b="0" i="0" lang="it" sz="700" u="none" cap="none" strike="noStrike">
                <a:solidFill>
                  <a:srgbClr val="93B3D6"/>
                </a:solidFill>
                <a:latin typeface="Courier New"/>
                <a:ea typeface="Courier New"/>
                <a:cs typeface="Courier New"/>
                <a:sym typeface="Courier New"/>
              </a:rPr>
              <a:t>LUMEN DRIFT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9"/>
          <p:cNvSpPr/>
          <p:nvPr/>
        </p:nvSpPr>
        <p:spPr>
          <a:xfrm>
            <a:off x="8320811" y="4855464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700"/>
              <a:buFont typeface="Courier New"/>
              <a:buNone/>
            </a:pPr>
            <a:r>
              <a:rPr b="0" i="0" lang="it" sz="700" u="none" cap="none" strike="noStrike">
                <a:solidFill>
                  <a:srgbClr val="93B3D6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9"/>
          <p:cNvSpPr/>
          <p:nvPr/>
        </p:nvSpPr>
        <p:spPr>
          <a:xfrm>
            <a:off x="411480" y="1110996"/>
            <a:ext cx="78867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1000"/>
              <a:buFont typeface="Calibri"/>
              <a:buNone/>
            </a:pPr>
            <a:r>
              <a:rPr b="0" i="1" lang="it" sz="10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In the external sector, the player leaps across floating wreckage. The flashlight becomes essential: platforms react dynamically to illumination.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9"/>
          <p:cNvSpPr/>
          <p:nvPr/>
        </p:nvSpPr>
        <p:spPr>
          <a:xfrm>
            <a:off x="411480" y="1577340"/>
            <a:ext cx="4080510" cy="1131570"/>
          </a:xfrm>
          <a:prstGeom prst="roundRect">
            <a:avLst>
              <a:gd fmla="val 4848" name="adj"/>
            </a:avLst>
          </a:prstGeom>
          <a:solidFill>
            <a:srgbClr val="0E1830"/>
          </a:solidFill>
          <a:ln>
            <a:noFill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9"/>
          <p:cNvSpPr/>
          <p:nvPr/>
        </p:nvSpPr>
        <p:spPr>
          <a:xfrm>
            <a:off x="562356" y="1728216"/>
            <a:ext cx="315468" cy="315468"/>
          </a:xfrm>
          <a:prstGeom prst="ellipse">
            <a:avLst/>
          </a:prstGeom>
          <a:solidFill>
            <a:srgbClr val="2FC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56" name="Google Shape;45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223" y="1807083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19"/>
          <p:cNvSpPr/>
          <p:nvPr/>
        </p:nvSpPr>
        <p:spPr>
          <a:xfrm>
            <a:off x="562356" y="2125980"/>
            <a:ext cx="3778758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000"/>
              <a:buFont typeface="Calibri"/>
              <a:buNone/>
            </a:pPr>
            <a:r>
              <a:rPr b="1" i="0" lang="it" sz="10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Light-only Platforms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9"/>
          <p:cNvSpPr/>
          <p:nvPr/>
        </p:nvSpPr>
        <p:spPr>
          <a:xfrm>
            <a:off x="562356" y="2414016"/>
            <a:ext cx="377875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Invisible and lack collision by default — they materialize and become solid only when struck by a light source.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9"/>
          <p:cNvSpPr/>
          <p:nvPr/>
        </p:nvSpPr>
        <p:spPr>
          <a:xfrm>
            <a:off x="4649724" y="1577340"/>
            <a:ext cx="4080510" cy="1131570"/>
          </a:xfrm>
          <a:prstGeom prst="roundRect">
            <a:avLst>
              <a:gd fmla="val 4848" name="adj"/>
            </a:avLst>
          </a:prstGeom>
          <a:solidFill>
            <a:srgbClr val="0E1830"/>
          </a:solidFill>
          <a:ln>
            <a:noFill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9"/>
          <p:cNvSpPr/>
          <p:nvPr/>
        </p:nvSpPr>
        <p:spPr>
          <a:xfrm>
            <a:off x="4800600" y="1728216"/>
            <a:ext cx="315468" cy="315468"/>
          </a:xfrm>
          <a:prstGeom prst="ellipse">
            <a:avLst/>
          </a:prstGeom>
          <a:solidFill>
            <a:srgbClr val="FFB23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61" name="Google Shape;46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79467" y="1807083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19"/>
          <p:cNvSpPr/>
          <p:nvPr/>
        </p:nvSpPr>
        <p:spPr>
          <a:xfrm>
            <a:off x="4800600" y="2125980"/>
            <a:ext cx="3778758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000"/>
              <a:buFont typeface="Calibri"/>
              <a:buNone/>
            </a:pPr>
            <a:r>
              <a:rPr b="1" i="0" lang="it" sz="10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Shadow Platforms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9"/>
          <p:cNvSpPr/>
          <p:nvPr/>
        </p:nvSpPr>
        <p:spPr>
          <a:xfrm>
            <a:off x="4800600" y="2414016"/>
            <a:ext cx="377875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Solid in the dark, but they vanish the instant they are illuminated by the flashlight.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9"/>
          <p:cNvSpPr/>
          <p:nvPr/>
        </p:nvSpPr>
        <p:spPr>
          <a:xfrm>
            <a:off x="411480" y="2859786"/>
            <a:ext cx="4732020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000"/>
              <a:buFont typeface="Calibri"/>
              <a:buNone/>
            </a:pPr>
            <a:r>
              <a:rPr b="0" i="0" lang="it" sz="10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The player must carefully toggle the flashlight on and off to navigate this section — eventually reaching the lost reactor in the debris field.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5" name="Google Shape;465;p19" title="Screenshot 2026-07-01 214740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6023" y="2851838"/>
            <a:ext cx="2817149" cy="2056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B16"/>
        </a:solid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0"/>
          <p:cNvSpPr/>
          <p:nvPr/>
        </p:nvSpPr>
        <p:spPr>
          <a:xfrm>
            <a:off x="4861617" y="3187793"/>
            <a:ext cx="14635" cy="14635"/>
          </a:xfrm>
          <a:prstGeom prst="ellipse">
            <a:avLst/>
          </a:prstGeom>
          <a:solidFill>
            <a:srgbClr val="BFE6FF">
              <a:alpha val="3254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0"/>
          <p:cNvSpPr/>
          <p:nvPr/>
        </p:nvSpPr>
        <p:spPr>
          <a:xfrm>
            <a:off x="1343425" y="3886230"/>
            <a:ext cx="13534" cy="13534"/>
          </a:xfrm>
          <a:prstGeom prst="ellipse">
            <a:avLst/>
          </a:prstGeom>
          <a:solidFill>
            <a:srgbClr val="BFE6FF">
              <a:alpha val="1176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0"/>
          <p:cNvSpPr/>
          <p:nvPr/>
        </p:nvSpPr>
        <p:spPr>
          <a:xfrm>
            <a:off x="7933328" y="4396769"/>
            <a:ext cx="23781" cy="23781"/>
          </a:xfrm>
          <a:prstGeom prst="ellipse">
            <a:avLst/>
          </a:prstGeom>
          <a:solidFill>
            <a:srgbClr val="BFE6FF">
              <a:alpha val="2666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0"/>
          <p:cNvSpPr/>
          <p:nvPr/>
        </p:nvSpPr>
        <p:spPr>
          <a:xfrm>
            <a:off x="1489150" y="3315277"/>
            <a:ext cx="26336" cy="26336"/>
          </a:xfrm>
          <a:prstGeom prst="ellipse">
            <a:avLst/>
          </a:prstGeom>
          <a:solidFill>
            <a:srgbClr val="BFE6FF">
              <a:alpha val="2431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0"/>
          <p:cNvSpPr/>
          <p:nvPr/>
        </p:nvSpPr>
        <p:spPr>
          <a:xfrm>
            <a:off x="5592940" y="4785961"/>
            <a:ext cx="15299" cy="15299"/>
          </a:xfrm>
          <a:prstGeom prst="ellipse">
            <a:avLst/>
          </a:prstGeom>
          <a:solidFill>
            <a:srgbClr val="BFE6FF">
              <a:alpha val="1529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20"/>
          <p:cNvSpPr/>
          <p:nvPr/>
        </p:nvSpPr>
        <p:spPr>
          <a:xfrm>
            <a:off x="3057800" y="4541085"/>
            <a:ext cx="26385" cy="26385"/>
          </a:xfrm>
          <a:prstGeom prst="ellipse">
            <a:avLst/>
          </a:prstGeom>
          <a:solidFill>
            <a:srgbClr val="BFE6FF">
              <a:alpha val="1647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20"/>
          <p:cNvSpPr/>
          <p:nvPr/>
        </p:nvSpPr>
        <p:spPr>
          <a:xfrm>
            <a:off x="3819239" y="1419925"/>
            <a:ext cx="25000" cy="25000"/>
          </a:xfrm>
          <a:prstGeom prst="ellipse">
            <a:avLst/>
          </a:prstGeom>
          <a:solidFill>
            <a:srgbClr val="BFE6FF">
              <a:alpha val="1137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20"/>
          <p:cNvSpPr/>
          <p:nvPr/>
        </p:nvSpPr>
        <p:spPr>
          <a:xfrm>
            <a:off x="3371586" y="4502312"/>
            <a:ext cx="26823" cy="26823"/>
          </a:xfrm>
          <a:prstGeom prst="ellipse">
            <a:avLst/>
          </a:prstGeom>
          <a:solidFill>
            <a:srgbClr val="BFE6FF">
              <a:alpha val="3490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0"/>
          <p:cNvSpPr/>
          <p:nvPr/>
        </p:nvSpPr>
        <p:spPr>
          <a:xfrm>
            <a:off x="2430561" y="1655706"/>
            <a:ext cx="17809" cy="17809"/>
          </a:xfrm>
          <a:prstGeom prst="ellipse">
            <a:avLst/>
          </a:prstGeom>
          <a:solidFill>
            <a:srgbClr val="BFE6FF">
              <a:alpha val="4470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20"/>
          <p:cNvSpPr/>
          <p:nvPr/>
        </p:nvSpPr>
        <p:spPr>
          <a:xfrm>
            <a:off x="6507337" y="3808118"/>
            <a:ext cx="21373" cy="21373"/>
          </a:xfrm>
          <a:prstGeom prst="ellipse">
            <a:avLst/>
          </a:prstGeom>
          <a:solidFill>
            <a:srgbClr val="BFE6FF">
              <a:alpha val="2470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20"/>
          <p:cNvSpPr/>
          <p:nvPr/>
        </p:nvSpPr>
        <p:spPr>
          <a:xfrm>
            <a:off x="8095836" y="3421859"/>
            <a:ext cx="29690" cy="29690"/>
          </a:xfrm>
          <a:prstGeom prst="ellipse">
            <a:avLst/>
          </a:prstGeom>
          <a:solidFill>
            <a:srgbClr val="BFE6FF">
              <a:alpha val="2549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20"/>
          <p:cNvSpPr/>
          <p:nvPr/>
        </p:nvSpPr>
        <p:spPr>
          <a:xfrm>
            <a:off x="2993639" y="3479605"/>
            <a:ext cx="30662" cy="30661"/>
          </a:xfrm>
          <a:prstGeom prst="ellipse">
            <a:avLst/>
          </a:prstGeom>
          <a:solidFill>
            <a:srgbClr val="BFE6FF">
              <a:alpha val="4039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20"/>
          <p:cNvSpPr/>
          <p:nvPr/>
        </p:nvSpPr>
        <p:spPr>
          <a:xfrm>
            <a:off x="5898431" y="4344221"/>
            <a:ext cx="31765" cy="31765"/>
          </a:xfrm>
          <a:prstGeom prst="ellipse">
            <a:avLst/>
          </a:prstGeom>
          <a:solidFill>
            <a:srgbClr val="BFE6FF">
              <a:alpha val="3647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20"/>
          <p:cNvSpPr/>
          <p:nvPr/>
        </p:nvSpPr>
        <p:spPr>
          <a:xfrm>
            <a:off x="9070486" y="4047625"/>
            <a:ext cx="23822" cy="23822"/>
          </a:xfrm>
          <a:prstGeom prst="ellipse">
            <a:avLst/>
          </a:prstGeom>
          <a:solidFill>
            <a:srgbClr val="BFE6FF">
              <a:alpha val="4039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0"/>
          <p:cNvSpPr/>
          <p:nvPr/>
        </p:nvSpPr>
        <p:spPr>
          <a:xfrm>
            <a:off x="63700" y="2491617"/>
            <a:ext cx="24494" cy="24494"/>
          </a:xfrm>
          <a:prstGeom prst="ellipse">
            <a:avLst/>
          </a:prstGeom>
          <a:solidFill>
            <a:srgbClr val="BFE6FF">
              <a:alpha val="1921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0"/>
          <p:cNvSpPr/>
          <p:nvPr/>
        </p:nvSpPr>
        <p:spPr>
          <a:xfrm>
            <a:off x="1649397" y="3266233"/>
            <a:ext cx="31838" cy="31838"/>
          </a:xfrm>
          <a:prstGeom prst="ellipse">
            <a:avLst/>
          </a:prstGeom>
          <a:solidFill>
            <a:srgbClr val="BFE6FF">
              <a:alpha val="1960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0"/>
          <p:cNvSpPr/>
          <p:nvPr/>
        </p:nvSpPr>
        <p:spPr>
          <a:xfrm>
            <a:off x="2132790" y="1745072"/>
            <a:ext cx="34169" cy="34169"/>
          </a:xfrm>
          <a:prstGeom prst="ellipse">
            <a:avLst/>
          </a:prstGeom>
          <a:solidFill>
            <a:srgbClr val="BFE6FF">
              <a:alpha val="2313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0"/>
          <p:cNvSpPr/>
          <p:nvPr/>
        </p:nvSpPr>
        <p:spPr>
          <a:xfrm>
            <a:off x="1571444" y="4037126"/>
            <a:ext cx="26517" cy="26517"/>
          </a:xfrm>
          <a:prstGeom prst="ellipse">
            <a:avLst/>
          </a:prstGeom>
          <a:solidFill>
            <a:srgbClr val="BFE6FF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0"/>
          <p:cNvSpPr/>
          <p:nvPr/>
        </p:nvSpPr>
        <p:spPr>
          <a:xfrm>
            <a:off x="851928" y="17746"/>
            <a:ext cx="22159" cy="22160"/>
          </a:xfrm>
          <a:prstGeom prst="ellipse">
            <a:avLst/>
          </a:prstGeom>
          <a:solidFill>
            <a:srgbClr val="BFE6FF">
              <a:alpha val="3490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20"/>
          <p:cNvSpPr/>
          <p:nvPr/>
        </p:nvSpPr>
        <p:spPr>
          <a:xfrm>
            <a:off x="8795063" y="989737"/>
            <a:ext cx="31559" cy="31559"/>
          </a:xfrm>
          <a:prstGeom prst="ellipse">
            <a:avLst/>
          </a:prstGeom>
          <a:solidFill>
            <a:srgbClr val="BFE6FF">
              <a:alpha val="1725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20"/>
          <p:cNvSpPr/>
          <p:nvPr/>
        </p:nvSpPr>
        <p:spPr>
          <a:xfrm>
            <a:off x="3517417" y="3667077"/>
            <a:ext cx="30121" cy="30121"/>
          </a:xfrm>
          <a:prstGeom prst="ellipse">
            <a:avLst/>
          </a:prstGeom>
          <a:solidFill>
            <a:srgbClr val="BFE6FF">
              <a:alpha val="2862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20"/>
          <p:cNvSpPr/>
          <p:nvPr/>
        </p:nvSpPr>
        <p:spPr>
          <a:xfrm>
            <a:off x="3384515" y="1459529"/>
            <a:ext cx="33390" cy="33390"/>
          </a:xfrm>
          <a:prstGeom prst="ellipse">
            <a:avLst/>
          </a:prstGeom>
          <a:solidFill>
            <a:srgbClr val="BFE6FF">
              <a:alpha val="3686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20"/>
          <p:cNvSpPr/>
          <p:nvPr/>
        </p:nvSpPr>
        <p:spPr>
          <a:xfrm>
            <a:off x="5549136" y="1885940"/>
            <a:ext cx="17856" cy="17856"/>
          </a:xfrm>
          <a:prstGeom prst="ellipse">
            <a:avLst/>
          </a:prstGeom>
          <a:solidFill>
            <a:srgbClr val="BFE6FF">
              <a:alpha val="2666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20"/>
          <p:cNvSpPr/>
          <p:nvPr/>
        </p:nvSpPr>
        <p:spPr>
          <a:xfrm>
            <a:off x="4039415" y="3080257"/>
            <a:ext cx="31418" cy="31417"/>
          </a:xfrm>
          <a:prstGeom prst="ellipse">
            <a:avLst/>
          </a:prstGeom>
          <a:solidFill>
            <a:srgbClr val="BFE6FF">
              <a:alpha val="1960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20"/>
          <p:cNvSpPr/>
          <p:nvPr/>
        </p:nvSpPr>
        <p:spPr>
          <a:xfrm>
            <a:off x="3699964" y="681247"/>
            <a:ext cx="19591" cy="19591"/>
          </a:xfrm>
          <a:prstGeom prst="ellipse">
            <a:avLst/>
          </a:prstGeom>
          <a:solidFill>
            <a:srgbClr val="BFE6FF">
              <a:alpha val="3921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0"/>
          <p:cNvSpPr/>
          <p:nvPr/>
        </p:nvSpPr>
        <p:spPr>
          <a:xfrm>
            <a:off x="7982575" y="4010792"/>
            <a:ext cx="33866" cy="33866"/>
          </a:xfrm>
          <a:prstGeom prst="ellipse">
            <a:avLst/>
          </a:prstGeom>
          <a:solidFill>
            <a:srgbClr val="BFE6FF">
              <a:alpha val="3098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0"/>
          <p:cNvSpPr/>
          <p:nvPr/>
        </p:nvSpPr>
        <p:spPr>
          <a:xfrm>
            <a:off x="4090999" y="387356"/>
            <a:ext cx="17245" cy="17245"/>
          </a:xfrm>
          <a:prstGeom prst="ellipse">
            <a:avLst/>
          </a:prstGeom>
          <a:solidFill>
            <a:srgbClr val="BFE6FF">
              <a:alpha val="2627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0"/>
          <p:cNvSpPr/>
          <p:nvPr/>
        </p:nvSpPr>
        <p:spPr>
          <a:xfrm>
            <a:off x="8613658" y="920807"/>
            <a:ext cx="29001" cy="29001"/>
          </a:xfrm>
          <a:prstGeom prst="ellipse">
            <a:avLst/>
          </a:prstGeom>
          <a:solidFill>
            <a:srgbClr val="BFE6FF">
              <a:alpha val="3960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0"/>
          <p:cNvSpPr/>
          <p:nvPr/>
        </p:nvSpPr>
        <p:spPr>
          <a:xfrm>
            <a:off x="5850206" y="4212446"/>
            <a:ext cx="29296" cy="29296"/>
          </a:xfrm>
          <a:prstGeom prst="ellipse">
            <a:avLst/>
          </a:prstGeom>
          <a:solidFill>
            <a:srgbClr val="BFE6FF">
              <a:alpha val="1803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0"/>
          <p:cNvSpPr/>
          <p:nvPr/>
        </p:nvSpPr>
        <p:spPr>
          <a:xfrm>
            <a:off x="6263246" y="121815"/>
            <a:ext cx="31880" cy="31880"/>
          </a:xfrm>
          <a:prstGeom prst="ellipse">
            <a:avLst/>
          </a:prstGeom>
          <a:solidFill>
            <a:srgbClr val="BFE6FF">
              <a:alpha val="2117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20"/>
          <p:cNvSpPr/>
          <p:nvPr/>
        </p:nvSpPr>
        <p:spPr>
          <a:xfrm>
            <a:off x="7103931" y="3097820"/>
            <a:ext cx="20541" cy="20541"/>
          </a:xfrm>
          <a:prstGeom prst="ellipse">
            <a:avLst/>
          </a:prstGeom>
          <a:solidFill>
            <a:srgbClr val="BFE6FF">
              <a:alpha val="2705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20"/>
          <p:cNvSpPr/>
          <p:nvPr/>
        </p:nvSpPr>
        <p:spPr>
          <a:xfrm>
            <a:off x="273427" y="4047344"/>
            <a:ext cx="16655" cy="16655"/>
          </a:xfrm>
          <a:prstGeom prst="ellipse">
            <a:avLst/>
          </a:prstGeom>
          <a:solidFill>
            <a:srgbClr val="BFE6FF">
              <a:alpha val="2156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20"/>
          <p:cNvSpPr/>
          <p:nvPr/>
        </p:nvSpPr>
        <p:spPr>
          <a:xfrm>
            <a:off x="287099" y="4134127"/>
            <a:ext cx="21701" cy="21701"/>
          </a:xfrm>
          <a:prstGeom prst="ellipse">
            <a:avLst/>
          </a:prstGeom>
          <a:solidFill>
            <a:srgbClr val="BFE6FF">
              <a:alpha val="3725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0"/>
          <p:cNvSpPr/>
          <p:nvPr/>
        </p:nvSpPr>
        <p:spPr>
          <a:xfrm>
            <a:off x="2841020" y="926147"/>
            <a:ext cx="27426" cy="27426"/>
          </a:xfrm>
          <a:prstGeom prst="ellipse">
            <a:avLst/>
          </a:prstGeom>
          <a:solidFill>
            <a:srgbClr val="BFE6FF">
              <a:alpha val="2745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0"/>
          <p:cNvSpPr/>
          <p:nvPr/>
        </p:nvSpPr>
        <p:spPr>
          <a:xfrm>
            <a:off x="8772564" y="1939427"/>
            <a:ext cx="26438" cy="26438"/>
          </a:xfrm>
          <a:prstGeom prst="ellipse">
            <a:avLst/>
          </a:prstGeom>
          <a:solidFill>
            <a:srgbClr val="BFE6FF">
              <a:alpha val="1098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20"/>
          <p:cNvSpPr/>
          <p:nvPr/>
        </p:nvSpPr>
        <p:spPr>
          <a:xfrm>
            <a:off x="9071896" y="4561641"/>
            <a:ext cx="19882" cy="19882"/>
          </a:xfrm>
          <a:prstGeom prst="ellipse">
            <a:avLst/>
          </a:prstGeom>
          <a:solidFill>
            <a:srgbClr val="BFE6FF">
              <a:alpha val="2431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0"/>
          <p:cNvSpPr/>
          <p:nvPr/>
        </p:nvSpPr>
        <p:spPr>
          <a:xfrm>
            <a:off x="9135431" y="447571"/>
            <a:ext cx="26357" cy="26356"/>
          </a:xfrm>
          <a:prstGeom prst="ellipse">
            <a:avLst/>
          </a:prstGeom>
          <a:solidFill>
            <a:srgbClr val="BFE6FF">
              <a:alpha val="3725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0"/>
          <p:cNvSpPr/>
          <p:nvPr/>
        </p:nvSpPr>
        <p:spPr>
          <a:xfrm>
            <a:off x="5077730" y="3940660"/>
            <a:ext cx="19505" cy="19505"/>
          </a:xfrm>
          <a:prstGeom prst="ellipse">
            <a:avLst/>
          </a:prstGeom>
          <a:solidFill>
            <a:srgbClr val="BFE6FF">
              <a:alpha val="3254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20"/>
          <p:cNvSpPr/>
          <p:nvPr/>
        </p:nvSpPr>
        <p:spPr>
          <a:xfrm>
            <a:off x="5790409" y="1277382"/>
            <a:ext cx="28511" cy="28510"/>
          </a:xfrm>
          <a:prstGeom prst="ellipse">
            <a:avLst/>
          </a:prstGeom>
          <a:solidFill>
            <a:srgbClr val="BFE6FF">
              <a:alpha val="2235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20"/>
          <p:cNvSpPr/>
          <p:nvPr/>
        </p:nvSpPr>
        <p:spPr>
          <a:xfrm>
            <a:off x="2978709" y="1169861"/>
            <a:ext cx="28391" cy="28391"/>
          </a:xfrm>
          <a:prstGeom prst="ellipse">
            <a:avLst/>
          </a:prstGeom>
          <a:solidFill>
            <a:srgbClr val="BFE6FF">
              <a:alpha val="2666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0"/>
          <p:cNvSpPr/>
          <p:nvPr/>
        </p:nvSpPr>
        <p:spPr>
          <a:xfrm>
            <a:off x="7838457" y="4446985"/>
            <a:ext cx="26762" cy="26762"/>
          </a:xfrm>
          <a:prstGeom prst="ellipse">
            <a:avLst/>
          </a:prstGeom>
          <a:solidFill>
            <a:srgbClr val="BFE6FF">
              <a:alpha val="3137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20"/>
          <p:cNvSpPr/>
          <p:nvPr/>
        </p:nvSpPr>
        <p:spPr>
          <a:xfrm>
            <a:off x="1892782" y="4638934"/>
            <a:ext cx="23539" cy="23539"/>
          </a:xfrm>
          <a:prstGeom prst="ellipse">
            <a:avLst/>
          </a:prstGeom>
          <a:solidFill>
            <a:srgbClr val="BFE6FF">
              <a:alpha val="3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20"/>
          <p:cNvSpPr/>
          <p:nvPr/>
        </p:nvSpPr>
        <p:spPr>
          <a:xfrm>
            <a:off x="1427324" y="3265618"/>
            <a:ext cx="15272" cy="15272"/>
          </a:xfrm>
          <a:prstGeom prst="ellipse">
            <a:avLst/>
          </a:prstGeom>
          <a:solidFill>
            <a:srgbClr val="BFE6FF">
              <a:alpha val="3098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0"/>
          <p:cNvSpPr/>
          <p:nvPr/>
        </p:nvSpPr>
        <p:spPr>
          <a:xfrm>
            <a:off x="5909383" y="1256224"/>
            <a:ext cx="21785" cy="21785"/>
          </a:xfrm>
          <a:prstGeom prst="ellipse">
            <a:avLst/>
          </a:prstGeom>
          <a:solidFill>
            <a:srgbClr val="BFE6FF">
              <a:alpha val="2627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0"/>
          <p:cNvSpPr/>
          <p:nvPr/>
        </p:nvSpPr>
        <p:spPr>
          <a:xfrm>
            <a:off x="8014734" y="1041797"/>
            <a:ext cx="15444" cy="15444"/>
          </a:xfrm>
          <a:prstGeom prst="ellipse">
            <a:avLst/>
          </a:prstGeom>
          <a:solidFill>
            <a:srgbClr val="BFE6FF">
              <a:alpha val="1568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0"/>
          <p:cNvSpPr/>
          <p:nvPr/>
        </p:nvSpPr>
        <p:spPr>
          <a:xfrm>
            <a:off x="411480" y="288036"/>
            <a:ext cx="6172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C6FF"/>
              </a:buClr>
              <a:buSzPts val="900"/>
              <a:buFont typeface="Courier New"/>
              <a:buNone/>
            </a:pPr>
            <a:r>
              <a:rPr b="1" i="0" lang="it" sz="900" u="none" cap="none" strike="noStrike">
                <a:solidFill>
                  <a:srgbClr val="2FC6FF"/>
                </a:solidFill>
                <a:latin typeface="Courier New"/>
                <a:ea typeface="Courier New"/>
                <a:cs typeface="Courier New"/>
                <a:sym typeface="Courier New"/>
              </a:rPr>
              <a:t>02 — USER MANUAL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0"/>
          <p:cNvSpPr/>
          <p:nvPr/>
        </p:nvSpPr>
        <p:spPr>
          <a:xfrm>
            <a:off x="411480" y="466344"/>
            <a:ext cx="72694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2100"/>
              <a:buFont typeface="Courier New"/>
              <a:buNone/>
            </a:pPr>
            <a:r>
              <a:rPr b="1" i="0" lang="it" sz="2100" u="none" cap="none" strike="noStrike">
                <a:solidFill>
                  <a:srgbClr val="EAF6FF"/>
                </a:solidFill>
                <a:latin typeface="Courier New"/>
                <a:ea typeface="Courier New"/>
                <a:cs typeface="Courier New"/>
                <a:sym typeface="Courier New"/>
              </a:rPr>
              <a:t>The Victory Scene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0"/>
          <p:cNvSpPr/>
          <p:nvPr/>
        </p:nvSpPr>
        <p:spPr>
          <a:xfrm>
            <a:off x="8197367" y="288036"/>
            <a:ext cx="534924" cy="534924"/>
          </a:xfrm>
          <a:prstGeom prst="ellipse">
            <a:avLst/>
          </a:prstGeom>
          <a:solidFill>
            <a:srgbClr val="2FC6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19" name="Google Shape;51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7669" y="41833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20"/>
          <p:cNvSpPr/>
          <p:nvPr/>
        </p:nvSpPr>
        <p:spPr>
          <a:xfrm>
            <a:off x="411480" y="4855464"/>
            <a:ext cx="2743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700"/>
              <a:buFont typeface="Courier New"/>
              <a:buNone/>
            </a:pPr>
            <a:r>
              <a:rPr b="0" i="0" lang="it" sz="700" u="none" cap="none" strike="noStrike">
                <a:solidFill>
                  <a:srgbClr val="93B3D6"/>
                </a:solidFill>
                <a:latin typeface="Courier New"/>
                <a:ea typeface="Courier New"/>
                <a:cs typeface="Courier New"/>
                <a:sym typeface="Courier New"/>
              </a:rPr>
              <a:t>LUMEN DRIFT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0"/>
          <p:cNvSpPr/>
          <p:nvPr/>
        </p:nvSpPr>
        <p:spPr>
          <a:xfrm>
            <a:off x="8320811" y="4855464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700"/>
              <a:buFont typeface="Courier New"/>
              <a:buNone/>
            </a:pPr>
            <a:r>
              <a:rPr b="0" i="0" lang="it" sz="700" u="none" cap="none" strike="noStrike">
                <a:solidFill>
                  <a:srgbClr val="93B3D6"/>
                </a:solidFill>
                <a:latin typeface="Courier New"/>
                <a:ea typeface="Courier New"/>
                <a:cs typeface="Courier New"/>
                <a:sym typeface="Courier New"/>
              </a:rPr>
              <a:t>06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2" name="Google Shape;522;p20"/>
          <p:cNvPicPr preferRelativeResize="0"/>
          <p:nvPr/>
        </p:nvPicPr>
        <p:blipFill rotWithShape="1">
          <a:blip r:embed="rId4">
            <a:alphaModFix amt="75000"/>
          </a:blip>
          <a:srcRect b="0" l="0" r="0" t="0"/>
          <a:stretch/>
        </p:blipFill>
        <p:spPr>
          <a:xfrm>
            <a:off x="6593967" y="2331720"/>
            <a:ext cx="377190" cy="37719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20"/>
          <p:cNvSpPr/>
          <p:nvPr/>
        </p:nvSpPr>
        <p:spPr>
          <a:xfrm>
            <a:off x="411480" y="1110996"/>
            <a:ext cx="421767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100"/>
              <a:buFont typeface="Calibri"/>
              <a:buNone/>
            </a:pPr>
            <a:r>
              <a:rPr b="0" i="0" lang="it" sz="11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Once the reactor is carried back and placed on the central pedestal, the game transitions into a scripted ending cinematic.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0"/>
          <p:cNvSpPr/>
          <p:nvPr/>
        </p:nvSpPr>
        <p:spPr>
          <a:xfrm>
            <a:off x="411480" y="1831086"/>
            <a:ext cx="342900" cy="342900"/>
          </a:xfrm>
          <a:prstGeom prst="ellipse">
            <a:avLst/>
          </a:prstGeom>
          <a:solidFill>
            <a:srgbClr val="2FC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25" name="Google Shape;52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7205" y="1916811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20"/>
          <p:cNvSpPr/>
          <p:nvPr/>
        </p:nvSpPr>
        <p:spPr>
          <a:xfrm>
            <a:off x="905256" y="1796796"/>
            <a:ext cx="372389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Camera Detach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0"/>
          <p:cNvSpPr/>
          <p:nvPr/>
        </p:nvSpPr>
        <p:spPr>
          <a:xfrm>
            <a:off x="905256" y="2016252"/>
            <a:ext cx="372389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The player loses control as the camera smoothly orbits around the protagonist.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0"/>
          <p:cNvSpPr/>
          <p:nvPr/>
        </p:nvSpPr>
        <p:spPr>
          <a:xfrm>
            <a:off x="411480" y="2551176"/>
            <a:ext cx="342900" cy="342900"/>
          </a:xfrm>
          <a:prstGeom prst="ellipse">
            <a:avLst/>
          </a:prstGeom>
          <a:solidFill>
            <a:srgbClr val="FFB23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29" name="Google Shape;52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7205" y="2636901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20"/>
          <p:cNvSpPr/>
          <p:nvPr/>
        </p:nvSpPr>
        <p:spPr>
          <a:xfrm>
            <a:off x="905256" y="2516886"/>
            <a:ext cx="372389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Victory Animation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0"/>
          <p:cNvSpPr/>
          <p:nvPr/>
        </p:nvSpPr>
        <p:spPr>
          <a:xfrm>
            <a:off x="905256" y="2736342"/>
            <a:ext cx="372389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The android performs a celebratory animation, swinging its arms.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0"/>
          <p:cNvSpPr/>
          <p:nvPr/>
        </p:nvSpPr>
        <p:spPr>
          <a:xfrm>
            <a:off x="411480" y="3271266"/>
            <a:ext cx="342900" cy="342900"/>
          </a:xfrm>
          <a:prstGeom prst="ellipse">
            <a:avLst/>
          </a:prstGeom>
          <a:solidFill>
            <a:srgbClr val="2FC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33" name="Google Shape;533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7205" y="3356991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20"/>
          <p:cNvSpPr/>
          <p:nvPr/>
        </p:nvSpPr>
        <p:spPr>
          <a:xfrm>
            <a:off x="905256" y="3236976"/>
            <a:ext cx="372389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Holographic UI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0"/>
          <p:cNvSpPr/>
          <p:nvPr/>
        </p:nvSpPr>
        <p:spPr>
          <a:xfrm>
            <a:off x="905256" y="3456432"/>
            <a:ext cx="372389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A futuristic “Mission Accomplished” panel fades into the center of the screen.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6" name="Google Shape;536;p20" title="victory_screen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86275" y="1711413"/>
            <a:ext cx="3992575" cy="20676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B16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1"/>
          <p:cNvSpPr/>
          <p:nvPr/>
        </p:nvSpPr>
        <p:spPr>
          <a:xfrm>
            <a:off x="3963138" y="3787529"/>
            <a:ext cx="33932" cy="33932"/>
          </a:xfrm>
          <a:prstGeom prst="ellipse">
            <a:avLst/>
          </a:prstGeom>
          <a:solidFill>
            <a:srgbClr val="BFE6FF">
              <a:alpha val="3921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21"/>
          <p:cNvSpPr/>
          <p:nvPr/>
        </p:nvSpPr>
        <p:spPr>
          <a:xfrm>
            <a:off x="622867" y="515277"/>
            <a:ext cx="31358" cy="31358"/>
          </a:xfrm>
          <a:prstGeom prst="ellipse">
            <a:avLst/>
          </a:prstGeom>
          <a:solidFill>
            <a:srgbClr val="BFE6FF">
              <a:alpha val="1333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1"/>
          <p:cNvSpPr/>
          <p:nvPr/>
        </p:nvSpPr>
        <p:spPr>
          <a:xfrm>
            <a:off x="1030430" y="4120790"/>
            <a:ext cx="18492" cy="18492"/>
          </a:xfrm>
          <a:prstGeom prst="ellipse">
            <a:avLst/>
          </a:prstGeom>
          <a:solidFill>
            <a:srgbClr val="BFE6FF">
              <a:alpha val="2941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21"/>
          <p:cNvSpPr/>
          <p:nvPr/>
        </p:nvSpPr>
        <p:spPr>
          <a:xfrm>
            <a:off x="2132978" y="4776784"/>
            <a:ext cx="15858" cy="15858"/>
          </a:xfrm>
          <a:prstGeom prst="ellipse">
            <a:avLst/>
          </a:prstGeom>
          <a:solidFill>
            <a:srgbClr val="BFE6FF">
              <a:alpha val="3568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21"/>
          <p:cNvSpPr/>
          <p:nvPr/>
        </p:nvSpPr>
        <p:spPr>
          <a:xfrm>
            <a:off x="5455268" y="830488"/>
            <a:ext cx="30910" cy="30910"/>
          </a:xfrm>
          <a:prstGeom prst="ellipse">
            <a:avLst/>
          </a:prstGeom>
          <a:solidFill>
            <a:srgbClr val="BFE6FF">
              <a:alpha val="4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21"/>
          <p:cNvSpPr/>
          <p:nvPr/>
        </p:nvSpPr>
        <p:spPr>
          <a:xfrm>
            <a:off x="6897613" y="228602"/>
            <a:ext cx="28438" cy="28438"/>
          </a:xfrm>
          <a:prstGeom prst="ellipse">
            <a:avLst/>
          </a:prstGeom>
          <a:solidFill>
            <a:srgbClr val="BFE6FF">
              <a:alpha val="3254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21"/>
          <p:cNvSpPr/>
          <p:nvPr/>
        </p:nvSpPr>
        <p:spPr>
          <a:xfrm>
            <a:off x="7120800" y="3676607"/>
            <a:ext cx="18418" cy="18418"/>
          </a:xfrm>
          <a:prstGeom prst="ellipse">
            <a:avLst/>
          </a:prstGeom>
          <a:solidFill>
            <a:srgbClr val="BFE6FF">
              <a:alpha val="1803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21"/>
          <p:cNvSpPr/>
          <p:nvPr/>
        </p:nvSpPr>
        <p:spPr>
          <a:xfrm>
            <a:off x="4969368" y="1714083"/>
            <a:ext cx="15377" cy="15377"/>
          </a:xfrm>
          <a:prstGeom prst="ellipse">
            <a:avLst/>
          </a:prstGeom>
          <a:solidFill>
            <a:srgbClr val="BFE6FF">
              <a:alpha val="2039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21"/>
          <p:cNvSpPr/>
          <p:nvPr/>
        </p:nvSpPr>
        <p:spPr>
          <a:xfrm>
            <a:off x="8181289" y="320439"/>
            <a:ext cx="26911" cy="26911"/>
          </a:xfrm>
          <a:prstGeom prst="ellipse">
            <a:avLst/>
          </a:prstGeom>
          <a:solidFill>
            <a:srgbClr val="BFE6FF">
              <a:alpha val="2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21"/>
          <p:cNvSpPr/>
          <p:nvPr/>
        </p:nvSpPr>
        <p:spPr>
          <a:xfrm>
            <a:off x="4246800" y="4746695"/>
            <a:ext cx="12899" cy="12899"/>
          </a:xfrm>
          <a:prstGeom prst="ellipse">
            <a:avLst/>
          </a:prstGeom>
          <a:solidFill>
            <a:srgbClr val="BFE6FF">
              <a:alpha val="4039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21"/>
          <p:cNvSpPr/>
          <p:nvPr/>
        </p:nvSpPr>
        <p:spPr>
          <a:xfrm>
            <a:off x="4966280" y="4962652"/>
            <a:ext cx="15990" cy="15990"/>
          </a:xfrm>
          <a:prstGeom prst="ellipse">
            <a:avLst/>
          </a:prstGeom>
          <a:solidFill>
            <a:srgbClr val="BFE6FF">
              <a:alpha val="4509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21"/>
          <p:cNvSpPr/>
          <p:nvPr/>
        </p:nvSpPr>
        <p:spPr>
          <a:xfrm>
            <a:off x="3036613" y="4498162"/>
            <a:ext cx="24311" cy="24311"/>
          </a:xfrm>
          <a:prstGeom prst="ellipse">
            <a:avLst/>
          </a:prstGeom>
          <a:solidFill>
            <a:srgbClr val="BFE6FF">
              <a:alpha val="2274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1"/>
          <p:cNvSpPr/>
          <p:nvPr/>
        </p:nvSpPr>
        <p:spPr>
          <a:xfrm>
            <a:off x="5621510" y="616013"/>
            <a:ext cx="18382" cy="18382"/>
          </a:xfrm>
          <a:prstGeom prst="ellipse">
            <a:avLst/>
          </a:prstGeom>
          <a:solidFill>
            <a:srgbClr val="BFE6FF">
              <a:alpha val="1843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21"/>
          <p:cNvSpPr/>
          <p:nvPr/>
        </p:nvSpPr>
        <p:spPr>
          <a:xfrm>
            <a:off x="7070475" y="3769232"/>
            <a:ext cx="20280" cy="20280"/>
          </a:xfrm>
          <a:prstGeom prst="ellipse">
            <a:avLst/>
          </a:prstGeom>
          <a:solidFill>
            <a:srgbClr val="BFE6FF">
              <a:alpha val="4352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21"/>
          <p:cNvSpPr/>
          <p:nvPr/>
        </p:nvSpPr>
        <p:spPr>
          <a:xfrm>
            <a:off x="1302510" y="2951827"/>
            <a:ext cx="27279" cy="27279"/>
          </a:xfrm>
          <a:prstGeom prst="ellipse">
            <a:avLst/>
          </a:prstGeom>
          <a:solidFill>
            <a:srgbClr val="BFE6FF">
              <a:alpha val="4470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21"/>
          <p:cNvSpPr/>
          <p:nvPr/>
        </p:nvSpPr>
        <p:spPr>
          <a:xfrm>
            <a:off x="2562455" y="1060164"/>
            <a:ext cx="17475" cy="17475"/>
          </a:xfrm>
          <a:prstGeom prst="ellipse">
            <a:avLst/>
          </a:prstGeom>
          <a:solidFill>
            <a:srgbClr val="BFE6FF">
              <a:alpha val="4156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21"/>
          <p:cNvSpPr/>
          <p:nvPr/>
        </p:nvSpPr>
        <p:spPr>
          <a:xfrm>
            <a:off x="3045130" y="857147"/>
            <a:ext cx="14385" cy="14385"/>
          </a:xfrm>
          <a:prstGeom prst="ellipse">
            <a:avLst/>
          </a:prstGeom>
          <a:solidFill>
            <a:srgbClr val="BFE6FF">
              <a:alpha val="3254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21"/>
          <p:cNvSpPr/>
          <p:nvPr/>
        </p:nvSpPr>
        <p:spPr>
          <a:xfrm>
            <a:off x="4896074" y="1994224"/>
            <a:ext cx="19412" cy="19412"/>
          </a:xfrm>
          <a:prstGeom prst="ellipse">
            <a:avLst/>
          </a:prstGeom>
          <a:solidFill>
            <a:srgbClr val="BFE6FF">
              <a:alpha val="3607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21"/>
          <p:cNvSpPr/>
          <p:nvPr/>
        </p:nvSpPr>
        <p:spPr>
          <a:xfrm>
            <a:off x="1724924" y="2171636"/>
            <a:ext cx="21376" cy="21376"/>
          </a:xfrm>
          <a:prstGeom prst="ellipse">
            <a:avLst/>
          </a:prstGeom>
          <a:solidFill>
            <a:srgbClr val="BFE6FF">
              <a:alpha val="1725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21"/>
          <p:cNvSpPr/>
          <p:nvPr/>
        </p:nvSpPr>
        <p:spPr>
          <a:xfrm>
            <a:off x="8867265" y="684954"/>
            <a:ext cx="19637" cy="19637"/>
          </a:xfrm>
          <a:prstGeom prst="ellipse">
            <a:avLst/>
          </a:prstGeom>
          <a:solidFill>
            <a:srgbClr val="BFE6FF">
              <a:alpha val="4039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21"/>
          <p:cNvSpPr/>
          <p:nvPr/>
        </p:nvSpPr>
        <p:spPr>
          <a:xfrm>
            <a:off x="2078172" y="2576123"/>
            <a:ext cx="24091" cy="24091"/>
          </a:xfrm>
          <a:prstGeom prst="ellipse">
            <a:avLst/>
          </a:prstGeom>
          <a:solidFill>
            <a:srgbClr val="BFE6FF">
              <a:alpha val="2078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21"/>
          <p:cNvSpPr/>
          <p:nvPr/>
        </p:nvSpPr>
        <p:spPr>
          <a:xfrm>
            <a:off x="2706092" y="2815245"/>
            <a:ext cx="30181" cy="30181"/>
          </a:xfrm>
          <a:prstGeom prst="ellipse">
            <a:avLst/>
          </a:prstGeom>
          <a:solidFill>
            <a:srgbClr val="BFE6FF">
              <a:alpha val="3960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21"/>
          <p:cNvSpPr/>
          <p:nvPr/>
        </p:nvSpPr>
        <p:spPr>
          <a:xfrm>
            <a:off x="3563864" y="738678"/>
            <a:ext cx="26234" cy="26234"/>
          </a:xfrm>
          <a:prstGeom prst="ellipse">
            <a:avLst/>
          </a:prstGeom>
          <a:solidFill>
            <a:srgbClr val="BFE6FF">
              <a:alpha val="3098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21"/>
          <p:cNvSpPr/>
          <p:nvPr/>
        </p:nvSpPr>
        <p:spPr>
          <a:xfrm>
            <a:off x="9097262" y="2172653"/>
            <a:ext cx="13410" cy="13410"/>
          </a:xfrm>
          <a:prstGeom prst="ellipse">
            <a:avLst/>
          </a:prstGeom>
          <a:solidFill>
            <a:srgbClr val="BFE6FF">
              <a:alpha val="3607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21"/>
          <p:cNvSpPr/>
          <p:nvPr/>
        </p:nvSpPr>
        <p:spPr>
          <a:xfrm>
            <a:off x="6152732" y="1170845"/>
            <a:ext cx="19558" cy="19558"/>
          </a:xfrm>
          <a:prstGeom prst="ellipse">
            <a:avLst/>
          </a:prstGeom>
          <a:solidFill>
            <a:srgbClr val="BFE6FF">
              <a:alpha val="3686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21"/>
          <p:cNvSpPr/>
          <p:nvPr/>
        </p:nvSpPr>
        <p:spPr>
          <a:xfrm>
            <a:off x="8921353" y="411566"/>
            <a:ext cx="20574" cy="20574"/>
          </a:xfrm>
          <a:prstGeom prst="ellipse">
            <a:avLst/>
          </a:prstGeom>
          <a:solidFill>
            <a:srgbClr val="BFE6FF">
              <a:alpha val="4274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21"/>
          <p:cNvSpPr/>
          <p:nvPr/>
        </p:nvSpPr>
        <p:spPr>
          <a:xfrm>
            <a:off x="8209568" y="4701780"/>
            <a:ext cx="34223" cy="34222"/>
          </a:xfrm>
          <a:prstGeom prst="ellipse">
            <a:avLst/>
          </a:prstGeom>
          <a:solidFill>
            <a:srgbClr val="BFE6FF">
              <a:alpha val="1960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21"/>
          <p:cNvSpPr/>
          <p:nvPr/>
        </p:nvSpPr>
        <p:spPr>
          <a:xfrm>
            <a:off x="2415744" y="4317772"/>
            <a:ext cx="14594" cy="14593"/>
          </a:xfrm>
          <a:prstGeom prst="ellipse">
            <a:avLst/>
          </a:prstGeom>
          <a:solidFill>
            <a:srgbClr val="BFE6FF">
              <a:alpha val="1137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21"/>
          <p:cNvSpPr/>
          <p:nvPr/>
        </p:nvSpPr>
        <p:spPr>
          <a:xfrm>
            <a:off x="3439970" y="3808360"/>
            <a:ext cx="26085" cy="26085"/>
          </a:xfrm>
          <a:prstGeom prst="ellipse">
            <a:avLst/>
          </a:prstGeom>
          <a:solidFill>
            <a:srgbClr val="BFE6FF">
              <a:alpha val="1098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21"/>
          <p:cNvSpPr/>
          <p:nvPr/>
        </p:nvSpPr>
        <p:spPr>
          <a:xfrm>
            <a:off x="6513784" y="3346213"/>
            <a:ext cx="26717" cy="26717"/>
          </a:xfrm>
          <a:prstGeom prst="ellipse">
            <a:avLst/>
          </a:prstGeom>
          <a:solidFill>
            <a:srgbClr val="BFE6FF">
              <a:alpha val="1215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21"/>
          <p:cNvSpPr/>
          <p:nvPr/>
        </p:nvSpPr>
        <p:spPr>
          <a:xfrm>
            <a:off x="4789684" y="3554807"/>
            <a:ext cx="28613" cy="28613"/>
          </a:xfrm>
          <a:prstGeom prst="ellipse">
            <a:avLst/>
          </a:prstGeom>
          <a:solidFill>
            <a:srgbClr val="BFE6FF">
              <a:alpha val="3647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21"/>
          <p:cNvSpPr/>
          <p:nvPr/>
        </p:nvSpPr>
        <p:spPr>
          <a:xfrm>
            <a:off x="1255454" y="372710"/>
            <a:ext cx="20663" cy="20663"/>
          </a:xfrm>
          <a:prstGeom prst="ellipse">
            <a:avLst/>
          </a:prstGeom>
          <a:solidFill>
            <a:srgbClr val="BFE6FF">
              <a:alpha val="1607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21"/>
          <p:cNvSpPr/>
          <p:nvPr/>
        </p:nvSpPr>
        <p:spPr>
          <a:xfrm>
            <a:off x="3148189" y="3754802"/>
            <a:ext cx="27284" cy="27284"/>
          </a:xfrm>
          <a:prstGeom prst="ellipse">
            <a:avLst/>
          </a:prstGeom>
          <a:solidFill>
            <a:srgbClr val="BFE6FF">
              <a:alpha val="1647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21"/>
          <p:cNvSpPr/>
          <p:nvPr/>
        </p:nvSpPr>
        <p:spPr>
          <a:xfrm>
            <a:off x="7805307" y="2869212"/>
            <a:ext cx="26636" cy="26636"/>
          </a:xfrm>
          <a:prstGeom prst="ellipse">
            <a:avLst/>
          </a:prstGeom>
          <a:solidFill>
            <a:srgbClr val="BFE6FF">
              <a:alpha val="4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21"/>
          <p:cNvSpPr/>
          <p:nvPr/>
        </p:nvSpPr>
        <p:spPr>
          <a:xfrm>
            <a:off x="8419541" y="4964174"/>
            <a:ext cx="19055" cy="19055"/>
          </a:xfrm>
          <a:prstGeom prst="ellipse">
            <a:avLst/>
          </a:prstGeom>
          <a:solidFill>
            <a:srgbClr val="BFE6FF">
              <a:alpha val="3764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21"/>
          <p:cNvSpPr/>
          <p:nvPr/>
        </p:nvSpPr>
        <p:spPr>
          <a:xfrm>
            <a:off x="8482316" y="4740330"/>
            <a:ext cx="31510" cy="31510"/>
          </a:xfrm>
          <a:prstGeom prst="ellipse">
            <a:avLst/>
          </a:prstGeom>
          <a:solidFill>
            <a:srgbClr val="BFE6FF">
              <a:alpha val="3490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21"/>
          <p:cNvSpPr/>
          <p:nvPr/>
        </p:nvSpPr>
        <p:spPr>
          <a:xfrm>
            <a:off x="6961842" y="3125369"/>
            <a:ext cx="18013" cy="18013"/>
          </a:xfrm>
          <a:prstGeom prst="ellipse">
            <a:avLst/>
          </a:prstGeom>
          <a:solidFill>
            <a:srgbClr val="BFE6FF">
              <a:alpha val="4392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21"/>
          <p:cNvSpPr/>
          <p:nvPr/>
        </p:nvSpPr>
        <p:spPr>
          <a:xfrm>
            <a:off x="3401808" y="2469891"/>
            <a:ext cx="20988" cy="20988"/>
          </a:xfrm>
          <a:prstGeom prst="ellipse">
            <a:avLst/>
          </a:prstGeom>
          <a:solidFill>
            <a:srgbClr val="BFE6FF">
              <a:alpha val="2392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21"/>
          <p:cNvSpPr/>
          <p:nvPr/>
        </p:nvSpPr>
        <p:spPr>
          <a:xfrm>
            <a:off x="1636481" y="1315448"/>
            <a:ext cx="26927" cy="26927"/>
          </a:xfrm>
          <a:prstGeom prst="ellipse">
            <a:avLst/>
          </a:prstGeom>
          <a:solidFill>
            <a:srgbClr val="BFE6FF">
              <a:alpha val="3098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1"/>
          <p:cNvSpPr/>
          <p:nvPr/>
        </p:nvSpPr>
        <p:spPr>
          <a:xfrm>
            <a:off x="6088306" y="2110222"/>
            <a:ext cx="30432" cy="30432"/>
          </a:xfrm>
          <a:prstGeom prst="ellipse">
            <a:avLst/>
          </a:prstGeom>
          <a:solidFill>
            <a:srgbClr val="BFE6FF">
              <a:alpha val="1294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21"/>
          <p:cNvSpPr/>
          <p:nvPr/>
        </p:nvSpPr>
        <p:spPr>
          <a:xfrm>
            <a:off x="5486762" y="172664"/>
            <a:ext cx="26284" cy="26284"/>
          </a:xfrm>
          <a:prstGeom prst="ellipse">
            <a:avLst/>
          </a:prstGeom>
          <a:solidFill>
            <a:srgbClr val="BFE6FF">
              <a:alpha val="1647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21"/>
          <p:cNvSpPr/>
          <p:nvPr/>
        </p:nvSpPr>
        <p:spPr>
          <a:xfrm>
            <a:off x="883481" y="2384963"/>
            <a:ext cx="26176" cy="26176"/>
          </a:xfrm>
          <a:prstGeom prst="ellipse">
            <a:avLst/>
          </a:prstGeom>
          <a:solidFill>
            <a:srgbClr val="BFE6FF">
              <a:alpha val="4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21"/>
          <p:cNvSpPr/>
          <p:nvPr/>
        </p:nvSpPr>
        <p:spPr>
          <a:xfrm>
            <a:off x="6876397" y="1041821"/>
            <a:ext cx="29393" cy="29392"/>
          </a:xfrm>
          <a:prstGeom prst="ellipse">
            <a:avLst/>
          </a:prstGeom>
          <a:solidFill>
            <a:srgbClr val="BFE6FF">
              <a:alpha val="4392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21"/>
          <p:cNvSpPr/>
          <p:nvPr/>
        </p:nvSpPr>
        <p:spPr>
          <a:xfrm>
            <a:off x="7219533" y="542002"/>
            <a:ext cx="21134" cy="21134"/>
          </a:xfrm>
          <a:prstGeom prst="ellipse">
            <a:avLst/>
          </a:prstGeom>
          <a:solidFill>
            <a:srgbClr val="BFE6FF">
              <a:alpha val="3450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21"/>
          <p:cNvSpPr/>
          <p:nvPr/>
        </p:nvSpPr>
        <p:spPr>
          <a:xfrm>
            <a:off x="3735658" y="1754958"/>
            <a:ext cx="30413" cy="30413"/>
          </a:xfrm>
          <a:prstGeom prst="ellipse">
            <a:avLst/>
          </a:prstGeom>
          <a:solidFill>
            <a:srgbClr val="BFE6FF">
              <a:alpha val="3333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21"/>
          <p:cNvSpPr/>
          <p:nvPr/>
        </p:nvSpPr>
        <p:spPr>
          <a:xfrm>
            <a:off x="411480" y="288036"/>
            <a:ext cx="6172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C6FF"/>
              </a:buClr>
              <a:buSzPts val="900"/>
              <a:buFont typeface="Courier New"/>
              <a:buNone/>
            </a:pPr>
            <a:r>
              <a:rPr b="1" i="0" lang="it" sz="900" u="none" cap="none" strike="noStrike">
                <a:solidFill>
                  <a:srgbClr val="2FC6FF"/>
                </a:solidFill>
                <a:latin typeface="Courier New"/>
                <a:ea typeface="Courier New"/>
                <a:cs typeface="Courier New"/>
                <a:sym typeface="Courier New"/>
              </a:rPr>
              <a:t>03 — MODELS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1"/>
          <p:cNvSpPr/>
          <p:nvPr/>
        </p:nvSpPr>
        <p:spPr>
          <a:xfrm>
            <a:off x="411480" y="466344"/>
            <a:ext cx="72694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2100"/>
              <a:buFont typeface="Courier New"/>
              <a:buNone/>
            </a:pPr>
            <a:r>
              <a:rPr b="1" i="0" lang="it" sz="2100" u="none" cap="none" strike="noStrike">
                <a:solidFill>
                  <a:srgbClr val="EAF6FF"/>
                </a:solidFill>
                <a:latin typeface="Courier New"/>
                <a:ea typeface="Courier New"/>
                <a:cs typeface="Courier New"/>
                <a:sym typeface="Courier New"/>
              </a:rPr>
              <a:t>The Player: Hierarchical Model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1"/>
          <p:cNvSpPr/>
          <p:nvPr/>
        </p:nvSpPr>
        <p:spPr>
          <a:xfrm>
            <a:off x="8197367" y="288036"/>
            <a:ext cx="534924" cy="534924"/>
          </a:xfrm>
          <a:prstGeom prst="ellipse">
            <a:avLst/>
          </a:prstGeom>
          <a:solidFill>
            <a:srgbClr val="2FC6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90" name="Google Shape;59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7669" y="41833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21"/>
          <p:cNvSpPr/>
          <p:nvPr/>
        </p:nvSpPr>
        <p:spPr>
          <a:xfrm>
            <a:off x="411480" y="4855464"/>
            <a:ext cx="2743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700"/>
              <a:buFont typeface="Courier New"/>
              <a:buNone/>
            </a:pPr>
            <a:r>
              <a:rPr b="0" i="0" lang="it" sz="700" u="none" cap="none" strike="noStrike">
                <a:solidFill>
                  <a:srgbClr val="93B3D6"/>
                </a:solidFill>
                <a:latin typeface="Courier New"/>
                <a:ea typeface="Courier New"/>
                <a:cs typeface="Courier New"/>
                <a:sym typeface="Courier New"/>
              </a:rPr>
              <a:t>LUMEN DRIFT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1"/>
          <p:cNvSpPr/>
          <p:nvPr/>
        </p:nvSpPr>
        <p:spPr>
          <a:xfrm>
            <a:off x="8320811" y="4855464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700"/>
              <a:buFont typeface="Courier New"/>
              <a:buNone/>
            </a:pPr>
            <a:r>
              <a:rPr b="0" i="0" lang="it" sz="700" u="none" cap="none" strike="noStrike">
                <a:solidFill>
                  <a:srgbClr val="93B3D6"/>
                </a:solidFill>
                <a:latin typeface="Courier New"/>
                <a:ea typeface="Courier New"/>
                <a:cs typeface="Courier New"/>
                <a:sym typeface="Courier New"/>
              </a:rPr>
              <a:t>07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1"/>
          <p:cNvSpPr/>
          <p:nvPr/>
        </p:nvSpPr>
        <p:spPr>
          <a:xfrm>
            <a:off x="411480" y="1110996"/>
            <a:ext cx="41148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400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100"/>
              <a:buFont typeface="Calibri"/>
              <a:buChar char="▸"/>
            </a:pPr>
            <a:r>
              <a:rPr b="0" i="0" lang="it" sz="11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Original monolithic mesh sourced from Sketchfab, then reorganized in Blender into five functional components: Torso (root), LeftArm, RightArm, LeftLeg, RightLeg.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EAF6FF"/>
              </a:buClr>
              <a:buSzPts val="1100"/>
              <a:buFont typeface="Calibri"/>
              <a:buChar char="▸"/>
            </a:pPr>
            <a:r>
              <a:rPr b="0" i="0" lang="it" sz="11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A local kinematic chain is built with Blender's Object (Keep Transform) parenting, mapped directly into the scene graph by GLTFLoader.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EAF6FF"/>
              </a:buClr>
              <a:buSzPts val="1100"/>
              <a:buFont typeface="Calibri"/>
              <a:buChar char="▸"/>
            </a:pPr>
            <a:r>
              <a:rPr b="0" i="0" lang="it" sz="11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Global translation/rotation on the Torso propagates natively to every limb via matrix concatenation, while each limb still animates independently around its own joint during the walk cycle.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1"/>
          <p:cNvSpPr/>
          <p:nvPr/>
        </p:nvSpPr>
        <p:spPr>
          <a:xfrm>
            <a:off x="5177790" y="1213866"/>
            <a:ext cx="3552444" cy="2880360"/>
          </a:xfrm>
          <a:prstGeom prst="roundRect">
            <a:avLst>
              <a:gd fmla="val 2143" name="adj"/>
            </a:avLst>
          </a:prstGeom>
          <a:solidFill>
            <a:srgbClr val="0E183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21"/>
          <p:cNvSpPr/>
          <p:nvPr/>
        </p:nvSpPr>
        <p:spPr>
          <a:xfrm>
            <a:off x="6268212" y="1453896"/>
            <a:ext cx="1371600" cy="377190"/>
          </a:xfrm>
          <a:prstGeom prst="roundRect">
            <a:avLst>
              <a:gd fmla="val 12727" name="adj"/>
            </a:avLst>
          </a:prstGeom>
          <a:solidFill>
            <a:srgbClr val="2FC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21"/>
          <p:cNvSpPr/>
          <p:nvPr/>
        </p:nvSpPr>
        <p:spPr>
          <a:xfrm>
            <a:off x="6268212" y="1453896"/>
            <a:ext cx="13716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1019"/>
              </a:buClr>
              <a:buSzPts val="900"/>
              <a:buFont typeface="Calibri"/>
              <a:buNone/>
            </a:pPr>
            <a:r>
              <a:rPr b="1" i="0" lang="it" sz="900" u="none" cap="none" strike="noStrike">
                <a:solidFill>
                  <a:srgbClr val="081019"/>
                </a:solidFill>
                <a:latin typeface="Calibri"/>
                <a:ea typeface="Calibri"/>
                <a:cs typeface="Calibri"/>
                <a:sym typeface="Calibri"/>
              </a:rPr>
              <a:t>Torso (Root)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7" name="Google Shape;597;p21"/>
          <p:cNvCxnSpPr/>
          <p:nvPr/>
        </p:nvCxnSpPr>
        <p:spPr>
          <a:xfrm flipH="1">
            <a:off x="6017895" y="1831086"/>
            <a:ext cx="936117" cy="411480"/>
          </a:xfrm>
          <a:prstGeom prst="straightConnector1">
            <a:avLst/>
          </a:prstGeom>
          <a:noFill/>
          <a:ln cap="flat" cmpd="sng" w="19050">
            <a:solidFill>
              <a:srgbClr val="93B3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8" name="Google Shape;598;p21"/>
          <p:cNvSpPr/>
          <p:nvPr/>
        </p:nvSpPr>
        <p:spPr>
          <a:xfrm>
            <a:off x="5417820" y="2242566"/>
            <a:ext cx="1200150" cy="342900"/>
          </a:xfrm>
          <a:prstGeom prst="roundRect">
            <a:avLst>
              <a:gd fmla="val 12000" name="adj"/>
            </a:avLst>
          </a:prstGeom>
          <a:solidFill>
            <a:srgbClr val="16223F"/>
          </a:solidFill>
          <a:ln cap="flat" cmpd="sng" w="12700">
            <a:solidFill>
              <a:srgbClr val="2B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21"/>
          <p:cNvSpPr/>
          <p:nvPr/>
        </p:nvSpPr>
        <p:spPr>
          <a:xfrm>
            <a:off x="5417820" y="2242566"/>
            <a:ext cx="12001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LeftArm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0" name="Google Shape;600;p21"/>
          <p:cNvCxnSpPr/>
          <p:nvPr/>
        </p:nvCxnSpPr>
        <p:spPr>
          <a:xfrm>
            <a:off x="6954012" y="1831086"/>
            <a:ext cx="936117" cy="411480"/>
          </a:xfrm>
          <a:prstGeom prst="straightConnector1">
            <a:avLst/>
          </a:prstGeom>
          <a:noFill/>
          <a:ln cap="flat" cmpd="sng" w="19050">
            <a:solidFill>
              <a:srgbClr val="93B3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1" name="Google Shape;601;p21"/>
          <p:cNvSpPr/>
          <p:nvPr/>
        </p:nvSpPr>
        <p:spPr>
          <a:xfrm>
            <a:off x="7290054" y="2242566"/>
            <a:ext cx="1200150" cy="342900"/>
          </a:xfrm>
          <a:prstGeom prst="roundRect">
            <a:avLst>
              <a:gd fmla="val 12000" name="adj"/>
            </a:avLst>
          </a:prstGeom>
          <a:solidFill>
            <a:srgbClr val="16223F"/>
          </a:solidFill>
          <a:ln cap="flat" cmpd="sng" w="12700">
            <a:solidFill>
              <a:srgbClr val="2B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21"/>
          <p:cNvSpPr/>
          <p:nvPr/>
        </p:nvSpPr>
        <p:spPr>
          <a:xfrm>
            <a:off x="7290054" y="2242566"/>
            <a:ext cx="12001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RightArm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3" name="Google Shape;603;p21"/>
          <p:cNvCxnSpPr/>
          <p:nvPr/>
        </p:nvCxnSpPr>
        <p:spPr>
          <a:xfrm>
            <a:off x="6017895" y="2585466"/>
            <a:ext cx="0" cy="342900"/>
          </a:xfrm>
          <a:prstGeom prst="straightConnector1">
            <a:avLst/>
          </a:prstGeom>
          <a:noFill/>
          <a:ln cap="flat" cmpd="sng" w="19050">
            <a:solidFill>
              <a:srgbClr val="93B3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4" name="Google Shape;604;p21"/>
          <p:cNvSpPr/>
          <p:nvPr/>
        </p:nvSpPr>
        <p:spPr>
          <a:xfrm>
            <a:off x="5417820" y="2928366"/>
            <a:ext cx="1200150" cy="342900"/>
          </a:xfrm>
          <a:prstGeom prst="roundRect">
            <a:avLst>
              <a:gd fmla="val 12000" name="adj"/>
            </a:avLst>
          </a:prstGeom>
          <a:solidFill>
            <a:srgbClr val="16223F"/>
          </a:solidFill>
          <a:ln cap="flat" cmpd="sng" w="12700">
            <a:solidFill>
              <a:srgbClr val="2B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21"/>
          <p:cNvSpPr/>
          <p:nvPr/>
        </p:nvSpPr>
        <p:spPr>
          <a:xfrm>
            <a:off x="5417820" y="2928366"/>
            <a:ext cx="12001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LeftLeg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6" name="Google Shape;606;p21"/>
          <p:cNvCxnSpPr/>
          <p:nvPr/>
        </p:nvCxnSpPr>
        <p:spPr>
          <a:xfrm>
            <a:off x="7890129" y="2585466"/>
            <a:ext cx="0" cy="342900"/>
          </a:xfrm>
          <a:prstGeom prst="straightConnector1">
            <a:avLst/>
          </a:prstGeom>
          <a:noFill/>
          <a:ln cap="flat" cmpd="sng" w="19050">
            <a:solidFill>
              <a:srgbClr val="93B3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7" name="Google Shape;607;p21"/>
          <p:cNvSpPr/>
          <p:nvPr/>
        </p:nvSpPr>
        <p:spPr>
          <a:xfrm>
            <a:off x="7290054" y="2928366"/>
            <a:ext cx="1200150" cy="342900"/>
          </a:xfrm>
          <a:prstGeom prst="roundRect">
            <a:avLst>
              <a:gd fmla="val 12000" name="adj"/>
            </a:avLst>
          </a:prstGeom>
          <a:solidFill>
            <a:srgbClr val="16223F"/>
          </a:solidFill>
          <a:ln cap="flat" cmpd="sng" w="12700">
            <a:solidFill>
              <a:srgbClr val="2B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21"/>
          <p:cNvSpPr/>
          <p:nvPr/>
        </p:nvSpPr>
        <p:spPr>
          <a:xfrm>
            <a:off x="7290054" y="2928366"/>
            <a:ext cx="12001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RightLeg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1"/>
          <p:cNvSpPr/>
          <p:nvPr/>
        </p:nvSpPr>
        <p:spPr>
          <a:xfrm>
            <a:off x="5177790" y="3819906"/>
            <a:ext cx="3552444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800"/>
              <a:buFont typeface="Calibri"/>
              <a:buNone/>
            </a:pPr>
            <a:r>
              <a:rPr b="0" i="1" lang="it" sz="8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Scene-graph topology of the player character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0" name="Google Shape;610;p21" title="Screenshot 2026-06-15 13094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6575" y="3051150"/>
            <a:ext cx="1708476" cy="17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B16"/>
        </a:solidFill>
      </p:bgPr>
    </p:bg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22"/>
          <p:cNvSpPr/>
          <p:nvPr/>
        </p:nvSpPr>
        <p:spPr>
          <a:xfrm>
            <a:off x="4909741" y="788227"/>
            <a:ext cx="28450" cy="28451"/>
          </a:xfrm>
          <a:prstGeom prst="ellipse">
            <a:avLst/>
          </a:prstGeom>
          <a:solidFill>
            <a:srgbClr val="BFE6FF">
              <a:alpha val="1411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22"/>
          <p:cNvSpPr/>
          <p:nvPr/>
        </p:nvSpPr>
        <p:spPr>
          <a:xfrm>
            <a:off x="2460749" y="2917927"/>
            <a:ext cx="33229" cy="33229"/>
          </a:xfrm>
          <a:prstGeom prst="ellipse">
            <a:avLst/>
          </a:prstGeom>
          <a:solidFill>
            <a:srgbClr val="BFE6FF">
              <a:alpha val="2784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22"/>
          <p:cNvSpPr/>
          <p:nvPr/>
        </p:nvSpPr>
        <p:spPr>
          <a:xfrm>
            <a:off x="8750291" y="203239"/>
            <a:ext cx="24888" cy="24888"/>
          </a:xfrm>
          <a:prstGeom prst="ellipse">
            <a:avLst/>
          </a:prstGeom>
          <a:solidFill>
            <a:srgbClr val="BFE6FF">
              <a:alpha val="4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22"/>
          <p:cNvSpPr/>
          <p:nvPr/>
        </p:nvSpPr>
        <p:spPr>
          <a:xfrm>
            <a:off x="6320348" y="1618823"/>
            <a:ext cx="12814" cy="12815"/>
          </a:xfrm>
          <a:prstGeom prst="ellipse">
            <a:avLst/>
          </a:prstGeom>
          <a:solidFill>
            <a:srgbClr val="BFE6FF">
              <a:alpha val="4392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22"/>
          <p:cNvSpPr/>
          <p:nvPr/>
        </p:nvSpPr>
        <p:spPr>
          <a:xfrm>
            <a:off x="609469" y="3339823"/>
            <a:ext cx="19220" cy="19220"/>
          </a:xfrm>
          <a:prstGeom prst="ellipse">
            <a:avLst/>
          </a:prstGeom>
          <a:solidFill>
            <a:srgbClr val="BFE6FF">
              <a:alpha val="2941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22"/>
          <p:cNvSpPr/>
          <p:nvPr/>
        </p:nvSpPr>
        <p:spPr>
          <a:xfrm>
            <a:off x="5833952" y="646113"/>
            <a:ext cx="23149" cy="23149"/>
          </a:xfrm>
          <a:prstGeom prst="ellipse">
            <a:avLst/>
          </a:prstGeom>
          <a:solidFill>
            <a:srgbClr val="BFE6FF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22"/>
          <p:cNvSpPr/>
          <p:nvPr/>
        </p:nvSpPr>
        <p:spPr>
          <a:xfrm>
            <a:off x="4246426" y="4170509"/>
            <a:ext cx="23221" cy="23221"/>
          </a:xfrm>
          <a:prstGeom prst="ellipse">
            <a:avLst/>
          </a:prstGeom>
          <a:solidFill>
            <a:srgbClr val="BFE6FF">
              <a:alpha val="3254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22"/>
          <p:cNvSpPr/>
          <p:nvPr/>
        </p:nvSpPr>
        <p:spPr>
          <a:xfrm>
            <a:off x="4897909" y="2203892"/>
            <a:ext cx="15109" cy="15109"/>
          </a:xfrm>
          <a:prstGeom prst="ellipse">
            <a:avLst/>
          </a:prstGeom>
          <a:solidFill>
            <a:srgbClr val="BFE6FF">
              <a:alpha val="2941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22"/>
          <p:cNvSpPr/>
          <p:nvPr/>
        </p:nvSpPr>
        <p:spPr>
          <a:xfrm>
            <a:off x="2487609" y="548829"/>
            <a:ext cx="27344" cy="27344"/>
          </a:xfrm>
          <a:prstGeom prst="ellipse">
            <a:avLst/>
          </a:prstGeom>
          <a:solidFill>
            <a:srgbClr val="BFE6FF">
              <a:alpha val="3176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22"/>
          <p:cNvSpPr/>
          <p:nvPr/>
        </p:nvSpPr>
        <p:spPr>
          <a:xfrm>
            <a:off x="7262474" y="436984"/>
            <a:ext cx="23215" cy="23215"/>
          </a:xfrm>
          <a:prstGeom prst="ellipse">
            <a:avLst/>
          </a:prstGeom>
          <a:solidFill>
            <a:srgbClr val="BFE6FF">
              <a:alpha val="4392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22"/>
          <p:cNvSpPr/>
          <p:nvPr/>
        </p:nvSpPr>
        <p:spPr>
          <a:xfrm>
            <a:off x="3665366" y="3972785"/>
            <a:ext cx="24314" cy="24314"/>
          </a:xfrm>
          <a:prstGeom prst="ellipse">
            <a:avLst/>
          </a:prstGeom>
          <a:solidFill>
            <a:srgbClr val="BFE6FF">
              <a:alpha val="3725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22"/>
          <p:cNvSpPr/>
          <p:nvPr/>
        </p:nvSpPr>
        <p:spPr>
          <a:xfrm>
            <a:off x="3778518" y="4191059"/>
            <a:ext cx="17527" cy="17527"/>
          </a:xfrm>
          <a:prstGeom prst="ellipse">
            <a:avLst/>
          </a:prstGeom>
          <a:solidFill>
            <a:srgbClr val="BFE6FF">
              <a:alpha val="3333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22"/>
          <p:cNvSpPr/>
          <p:nvPr/>
        </p:nvSpPr>
        <p:spPr>
          <a:xfrm>
            <a:off x="6029488" y="1202775"/>
            <a:ext cx="32756" cy="32756"/>
          </a:xfrm>
          <a:prstGeom prst="ellipse">
            <a:avLst/>
          </a:prstGeom>
          <a:solidFill>
            <a:srgbClr val="BFE6FF">
              <a:alpha val="3372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22"/>
          <p:cNvSpPr/>
          <p:nvPr/>
        </p:nvSpPr>
        <p:spPr>
          <a:xfrm>
            <a:off x="4811092" y="3642898"/>
            <a:ext cx="17463" cy="17463"/>
          </a:xfrm>
          <a:prstGeom prst="ellipse">
            <a:avLst/>
          </a:prstGeom>
          <a:solidFill>
            <a:srgbClr val="BFE6FF">
              <a:alpha val="3882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22"/>
          <p:cNvSpPr/>
          <p:nvPr/>
        </p:nvSpPr>
        <p:spPr>
          <a:xfrm>
            <a:off x="2875049" y="716809"/>
            <a:ext cx="33599" cy="33599"/>
          </a:xfrm>
          <a:prstGeom prst="ellipse">
            <a:avLst/>
          </a:prstGeom>
          <a:solidFill>
            <a:srgbClr val="BFE6FF">
              <a:alpha val="1803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22"/>
          <p:cNvSpPr/>
          <p:nvPr/>
        </p:nvSpPr>
        <p:spPr>
          <a:xfrm>
            <a:off x="2181643" y="4435397"/>
            <a:ext cx="33541" cy="33541"/>
          </a:xfrm>
          <a:prstGeom prst="ellipse">
            <a:avLst/>
          </a:prstGeom>
          <a:solidFill>
            <a:srgbClr val="BFE6FF">
              <a:alpha val="3529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22"/>
          <p:cNvSpPr/>
          <p:nvPr/>
        </p:nvSpPr>
        <p:spPr>
          <a:xfrm>
            <a:off x="4687083" y="3905237"/>
            <a:ext cx="18255" cy="18255"/>
          </a:xfrm>
          <a:prstGeom prst="ellipse">
            <a:avLst/>
          </a:prstGeom>
          <a:solidFill>
            <a:srgbClr val="BFE6FF">
              <a:alpha val="1411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22"/>
          <p:cNvSpPr/>
          <p:nvPr/>
        </p:nvSpPr>
        <p:spPr>
          <a:xfrm>
            <a:off x="447168" y="4908090"/>
            <a:ext cx="22469" cy="22468"/>
          </a:xfrm>
          <a:prstGeom prst="ellipse">
            <a:avLst/>
          </a:prstGeom>
          <a:solidFill>
            <a:srgbClr val="BFE6FF">
              <a:alpha val="3098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22"/>
          <p:cNvSpPr/>
          <p:nvPr/>
        </p:nvSpPr>
        <p:spPr>
          <a:xfrm>
            <a:off x="4927942" y="1316660"/>
            <a:ext cx="29531" cy="29531"/>
          </a:xfrm>
          <a:prstGeom prst="ellipse">
            <a:avLst/>
          </a:prstGeom>
          <a:solidFill>
            <a:srgbClr val="BFE6FF">
              <a:alpha val="4352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22"/>
          <p:cNvSpPr/>
          <p:nvPr/>
        </p:nvSpPr>
        <p:spPr>
          <a:xfrm>
            <a:off x="8603384" y="3228697"/>
            <a:ext cx="26316" cy="26316"/>
          </a:xfrm>
          <a:prstGeom prst="ellipse">
            <a:avLst/>
          </a:prstGeom>
          <a:solidFill>
            <a:srgbClr val="BFE6FF">
              <a:alpha val="1764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22"/>
          <p:cNvSpPr/>
          <p:nvPr/>
        </p:nvSpPr>
        <p:spPr>
          <a:xfrm>
            <a:off x="2263270" y="4693921"/>
            <a:ext cx="33732" cy="33732"/>
          </a:xfrm>
          <a:prstGeom prst="ellipse">
            <a:avLst/>
          </a:prstGeom>
          <a:solidFill>
            <a:srgbClr val="BFE6FF">
              <a:alpha val="4078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22"/>
          <p:cNvSpPr/>
          <p:nvPr/>
        </p:nvSpPr>
        <p:spPr>
          <a:xfrm>
            <a:off x="6412496" y="4382745"/>
            <a:ext cx="19083" cy="19083"/>
          </a:xfrm>
          <a:prstGeom prst="ellipse">
            <a:avLst/>
          </a:prstGeom>
          <a:solidFill>
            <a:srgbClr val="BFE6FF">
              <a:alpha val="1450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22"/>
          <p:cNvSpPr/>
          <p:nvPr/>
        </p:nvSpPr>
        <p:spPr>
          <a:xfrm>
            <a:off x="4179450" y="1933381"/>
            <a:ext cx="12437" cy="12437"/>
          </a:xfrm>
          <a:prstGeom prst="ellipse">
            <a:avLst/>
          </a:prstGeom>
          <a:solidFill>
            <a:srgbClr val="BFE6FF">
              <a:alpha val="3137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22"/>
          <p:cNvSpPr/>
          <p:nvPr/>
        </p:nvSpPr>
        <p:spPr>
          <a:xfrm>
            <a:off x="3748428" y="467783"/>
            <a:ext cx="17441" cy="17441"/>
          </a:xfrm>
          <a:prstGeom prst="ellipse">
            <a:avLst/>
          </a:prstGeom>
          <a:solidFill>
            <a:srgbClr val="BFE6FF">
              <a:alpha val="3098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22"/>
          <p:cNvSpPr/>
          <p:nvPr/>
        </p:nvSpPr>
        <p:spPr>
          <a:xfrm>
            <a:off x="7294210" y="2216117"/>
            <a:ext cx="19351" cy="19351"/>
          </a:xfrm>
          <a:prstGeom prst="ellipse">
            <a:avLst/>
          </a:prstGeom>
          <a:solidFill>
            <a:srgbClr val="BFE6FF">
              <a:alpha val="4352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22"/>
          <p:cNvSpPr/>
          <p:nvPr/>
        </p:nvSpPr>
        <p:spPr>
          <a:xfrm>
            <a:off x="5058551" y="2213936"/>
            <a:ext cx="17675" cy="17674"/>
          </a:xfrm>
          <a:prstGeom prst="ellipse">
            <a:avLst/>
          </a:prstGeom>
          <a:solidFill>
            <a:srgbClr val="BFE6FF">
              <a:alpha val="4470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22"/>
          <p:cNvSpPr/>
          <p:nvPr/>
        </p:nvSpPr>
        <p:spPr>
          <a:xfrm>
            <a:off x="7015640" y="1876192"/>
            <a:ext cx="25616" cy="25616"/>
          </a:xfrm>
          <a:prstGeom prst="ellipse">
            <a:avLst/>
          </a:prstGeom>
          <a:solidFill>
            <a:srgbClr val="BFE6FF">
              <a:alpha val="4039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22"/>
          <p:cNvSpPr/>
          <p:nvPr/>
        </p:nvSpPr>
        <p:spPr>
          <a:xfrm>
            <a:off x="6339223" y="4476689"/>
            <a:ext cx="15276" cy="15276"/>
          </a:xfrm>
          <a:prstGeom prst="ellipse">
            <a:avLst/>
          </a:prstGeom>
          <a:solidFill>
            <a:srgbClr val="BFE6FF">
              <a:alpha val="2352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22"/>
          <p:cNvSpPr/>
          <p:nvPr/>
        </p:nvSpPr>
        <p:spPr>
          <a:xfrm>
            <a:off x="7316582" y="651473"/>
            <a:ext cx="22943" cy="22943"/>
          </a:xfrm>
          <a:prstGeom prst="ellipse">
            <a:avLst/>
          </a:prstGeom>
          <a:solidFill>
            <a:srgbClr val="BFE6FF">
              <a:alpha val="2235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22"/>
          <p:cNvSpPr/>
          <p:nvPr/>
        </p:nvSpPr>
        <p:spPr>
          <a:xfrm>
            <a:off x="3859058" y="4793992"/>
            <a:ext cx="13994" cy="13994"/>
          </a:xfrm>
          <a:prstGeom prst="ellipse">
            <a:avLst/>
          </a:prstGeom>
          <a:solidFill>
            <a:srgbClr val="BFE6FF">
              <a:alpha val="1215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22"/>
          <p:cNvSpPr/>
          <p:nvPr/>
        </p:nvSpPr>
        <p:spPr>
          <a:xfrm>
            <a:off x="6318872" y="4063857"/>
            <a:ext cx="12356" cy="12356"/>
          </a:xfrm>
          <a:prstGeom prst="ellipse">
            <a:avLst/>
          </a:prstGeom>
          <a:solidFill>
            <a:srgbClr val="BFE6FF">
              <a:alpha val="1411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22"/>
          <p:cNvSpPr/>
          <p:nvPr/>
        </p:nvSpPr>
        <p:spPr>
          <a:xfrm>
            <a:off x="5552370" y="3035707"/>
            <a:ext cx="31124" cy="31124"/>
          </a:xfrm>
          <a:prstGeom prst="ellipse">
            <a:avLst/>
          </a:prstGeom>
          <a:solidFill>
            <a:srgbClr val="BFE6FF">
              <a:alpha val="3215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22"/>
          <p:cNvSpPr/>
          <p:nvPr/>
        </p:nvSpPr>
        <p:spPr>
          <a:xfrm>
            <a:off x="6073878" y="3094958"/>
            <a:ext cx="32904" cy="32904"/>
          </a:xfrm>
          <a:prstGeom prst="ellipse">
            <a:avLst/>
          </a:prstGeom>
          <a:solidFill>
            <a:srgbClr val="BFE6FF">
              <a:alpha val="1647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22"/>
          <p:cNvSpPr/>
          <p:nvPr/>
        </p:nvSpPr>
        <p:spPr>
          <a:xfrm>
            <a:off x="1995285" y="2643450"/>
            <a:ext cx="27414" cy="27414"/>
          </a:xfrm>
          <a:prstGeom prst="ellipse">
            <a:avLst/>
          </a:prstGeom>
          <a:solidFill>
            <a:srgbClr val="BFE6FF">
              <a:alpha val="3960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22"/>
          <p:cNvSpPr/>
          <p:nvPr/>
        </p:nvSpPr>
        <p:spPr>
          <a:xfrm>
            <a:off x="2724640" y="2601881"/>
            <a:ext cx="29301" cy="29301"/>
          </a:xfrm>
          <a:prstGeom prst="ellipse">
            <a:avLst/>
          </a:prstGeom>
          <a:solidFill>
            <a:srgbClr val="BFE6FF">
              <a:alpha val="2509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22"/>
          <p:cNvSpPr/>
          <p:nvPr/>
        </p:nvSpPr>
        <p:spPr>
          <a:xfrm>
            <a:off x="5379664" y="3509021"/>
            <a:ext cx="31511" cy="31511"/>
          </a:xfrm>
          <a:prstGeom prst="ellipse">
            <a:avLst/>
          </a:prstGeom>
          <a:solidFill>
            <a:srgbClr val="BFE6FF">
              <a:alpha val="3254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22"/>
          <p:cNvSpPr/>
          <p:nvPr/>
        </p:nvSpPr>
        <p:spPr>
          <a:xfrm>
            <a:off x="7731053" y="3644378"/>
            <a:ext cx="33611" cy="33611"/>
          </a:xfrm>
          <a:prstGeom prst="ellipse">
            <a:avLst/>
          </a:prstGeom>
          <a:solidFill>
            <a:srgbClr val="BFE6FF">
              <a:alpha val="3058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22"/>
          <p:cNvSpPr/>
          <p:nvPr/>
        </p:nvSpPr>
        <p:spPr>
          <a:xfrm>
            <a:off x="1682705" y="4725224"/>
            <a:ext cx="15074" cy="15074"/>
          </a:xfrm>
          <a:prstGeom prst="ellipse">
            <a:avLst/>
          </a:prstGeom>
          <a:solidFill>
            <a:srgbClr val="BFE6FF">
              <a:alpha val="3490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22"/>
          <p:cNvSpPr/>
          <p:nvPr/>
        </p:nvSpPr>
        <p:spPr>
          <a:xfrm>
            <a:off x="8643723" y="2247681"/>
            <a:ext cx="28027" cy="28027"/>
          </a:xfrm>
          <a:prstGeom prst="ellipse">
            <a:avLst/>
          </a:prstGeom>
          <a:solidFill>
            <a:srgbClr val="BFE6FF">
              <a:alpha val="1058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22"/>
          <p:cNvSpPr/>
          <p:nvPr/>
        </p:nvSpPr>
        <p:spPr>
          <a:xfrm>
            <a:off x="2920919" y="2675841"/>
            <a:ext cx="17753" cy="17753"/>
          </a:xfrm>
          <a:prstGeom prst="ellipse">
            <a:avLst/>
          </a:prstGeom>
          <a:solidFill>
            <a:srgbClr val="BFE6FF">
              <a:alpha val="4078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22"/>
          <p:cNvSpPr/>
          <p:nvPr/>
        </p:nvSpPr>
        <p:spPr>
          <a:xfrm>
            <a:off x="2839079" y="4921448"/>
            <a:ext cx="13880" cy="13880"/>
          </a:xfrm>
          <a:prstGeom prst="ellipse">
            <a:avLst/>
          </a:prstGeom>
          <a:solidFill>
            <a:srgbClr val="BFE6FF">
              <a:alpha val="3411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22"/>
          <p:cNvSpPr/>
          <p:nvPr/>
        </p:nvSpPr>
        <p:spPr>
          <a:xfrm>
            <a:off x="6103695" y="4318220"/>
            <a:ext cx="24914" cy="24914"/>
          </a:xfrm>
          <a:prstGeom prst="ellipse">
            <a:avLst/>
          </a:prstGeom>
          <a:solidFill>
            <a:srgbClr val="BFE6FF">
              <a:alpha val="1607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22"/>
          <p:cNvSpPr/>
          <p:nvPr/>
        </p:nvSpPr>
        <p:spPr>
          <a:xfrm>
            <a:off x="712796" y="3818337"/>
            <a:ext cx="26033" cy="26033"/>
          </a:xfrm>
          <a:prstGeom prst="ellipse">
            <a:avLst/>
          </a:prstGeom>
          <a:solidFill>
            <a:srgbClr val="BFE6FF">
              <a:alpha val="2352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22"/>
          <p:cNvSpPr/>
          <p:nvPr/>
        </p:nvSpPr>
        <p:spPr>
          <a:xfrm>
            <a:off x="7352906" y="4587816"/>
            <a:ext cx="19138" cy="19139"/>
          </a:xfrm>
          <a:prstGeom prst="ellipse">
            <a:avLst/>
          </a:prstGeom>
          <a:solidFill>
            <a:srgbClr val="BFE6FF">
              <a:alpha val="2549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22"/>
          <p:cNvSpPr/>
          <p:nvPr/>
        </p:nvSpPr>
        <p:spPr>
          <a:xfrm>
            <a:off x="3444176" y="2976133"/>
            <a:ext cx="21057" cy="21057"/>
          </a:xfrm>
          <a:prstGeom prst="ellipse">
            <a:avLst/>
          </a:prstGeom>
          <a:solidFill>
            <a:srgbClr val="BFE6FF">
              <a:alpha val="3176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22"/>
          <p:cNvSpPr/>
          <p:nvPr/>
        </p:nvSpPr>
        <p:spPr>
          <a:xfrm>
            <a:off x="411480" y="288036"/>
            <a:ext cx="6172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C6FF"/>
              </a:buClr>
              <a:buSzPts val="900"/>
              <a:buFont typeface="Courier New"/>
              <a:buNone/>
            </a:pPr>
            <a:r>
              <a:rPr b="1" i="0" lang="it" sz="900" u="none" cap="none" strike="noStrike">
                <a:solidFill>
                  <a:srgbClr val="2FC6FF"/>
                </a:solidFill>
                <a:latin typeface="Courier New"/>
                <a:ea typeface="Courier New"/>
                <a:cs typeface="Courier New"/>
                <a:sym typeface="Courier New"/>
              </a:rPr>
              <a:t>03 — MODELS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2"/>
          <p:cNvSpPr/>
          <p:nvPr/>
        </p:nvSpPr>
        <p:spPr>
          <a:xfrm>
            <a:off x="411480" y="466344"/>
            <a:ext cx="72694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2100"/>
              <a:buFont typeface="Courier New"/>
              <a:buNone/>
            </a:pPr>
            <a:r>
              <a:rPr b="1" i="0" lang="it" sz="2100" u="none" cap="none" strike="noStrike">
                <a:solidFill>
                  <a:srgbClr val="EAF6FF"/>
                </a:solidFill>
                <a:latin typeface="Courier New"/>
                <a:ea typeface="Courier New"/>
                <a:cs typeface="Courier New"/>
                <a:sym typeface="Courier New"/>
              </a:rPr>
              <a:t>Celestial Bodies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2"/>
          <p:cNvSpPr/>
          <p:nvPr/>
        </p:nvSpPr>
        <p:spPr>
          <a:xfrm>
            <a:off x="8197367" y="288036"/>
            <a:ext cx="534924" cy="534924"/>
          </a:xfrm>
          <a:prstGeom prst="ellipse">
            <a:avLst/>
          </a:prstGeom>
          <a:solidFill>
            <a:srgbClr val="2FC6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64" name="Google Shape;66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7669" y="41833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22"/>
          <p:cNvSpPr/>
          <p:nvPr/>
        </p:nvSpPr>
        <p:spPr>
          <a:xfrm>
            <a:off x="411480" y="4855464"/>
            <a:ext cx="2743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700"/>
              <a:buFont typeface="Courier New"/>
              <a:buNone/>
            </a:pPr>
            <a:r>
              <a:rPr b="0" i="0" lang="it" sz="700" u="none" cap="none" strike="noStrike">
                <a:solidFill>
                  <a:srgbClr val="93B3D6"/>
                </a:solidFill>
                <a:latin typeface="Courier New"/>
                <a:ea typeface="Courier New"/>
                <a:cs typeface="Courier New"/>
                <a:sym typeface="Courier New"/>
              </a:rPr>
              <a:t>LUMEN DRIFT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2"/>
          <p:cNvSpPr/>
          <p:nvPr/>
        </p:nvSpPr>
        <p:spPr>
          <a:xfrm>
            <a:off x="8320811" y="4855464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700"/>
              <a:buFont typeface="Courier New"/>
              <a:buNone/>
            </a:pPr>
            <a:r>
              <a:rPr b="0" i="0" lang="it" sz="700" u="none" cap="none" strike="noStrike">
                <a:solidFill>
                  <a:srgbClr val="93B3D6"/>
                </a:solidFill>
                <a:latin typeface="Courier New"/>
                <a:ea typeface="Courier New"/>
                <a:cs typeface="Courier New"/>
                <a:sym typeface="Courier New"/>
              </a:rPr>
              <a:t>08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2"/>
          <p:cNvSpPr/>
          <p:nvPr/>
        </p:nvSpPr>
        <p:spPr>
          <a:xfrm>
            <a:off x="411480" y="1110996"/>
            <a:ext cx="78867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900"/>
              <a:buFont typeface="Calibri"/>
              <a:buNone/>
            </a:pPr>
            <a:r>
              <a:rPr b="0" i="1" lang="it" sz="9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All major planetary assets were modeled from scratch in Blender using sculpting and material shading techniques.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2"/>
          <p:cNvSpPr/>
          <p:nvPr/>
        </p:nvSpPr>
        <p:spPr>
          <a:xfrm>
            <a:off x="411480" y="1488186"/>
            <a:ext cx="2626614" cy="1474470"/>
          </a:xfrm>
          <a:prstGeom prst="roundRect">
            <a:avLst>
              <a:gd fmla="val 3721" name="adj"/>
            </a:avLst>
          </a:prstGeom>
          <a:solidFill>
            <a:srgbClr val="0E1830"/>
          </a:solidFill>
          <a:ln>
            <a:noFill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22"/>
          <p:cNvSpPr/>
          <p:nvPr/>
        </p:nvSpPr>
        <p:spPr>
          <a:xfrm>
            <a:off x="562356" y="1639062"/>
            <a:ext cx="315468" cy="315468"/>
          </a:xfrm>
          <a:prstGeom prst="ellipse">
            <a:avLst/>
          </a:prstGeom>
          <a:solidFill>
            <a:srgbClr val="2FC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70" name="Google Shape;67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223" y="1717929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22"/>
          <p:cNvSpPr/>
          <p:nvPr/>
        </p:nvSpPr>
        <p:spPr>
          <a:xfrm>
            <a:off x="562356" y="2036826"/>
            <a:ext cx="232486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000"/>
              <a:buFont typeface="Calibri"/>
              <a:buNone/>
            </a:pPr>
            <a:r>
              <a:rPr b="1" i="0" lang="it" sz="10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Planets &amp; Moon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2"/>
          <p:cNvSpPr/>
          <p:nvPr/>
        </p:nvSpPr>
        <p:spPr>
          <a:xfrm>
            <a:off x="562356" y="2324862"/>
            <a:ext cx="232486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UV spheres sculpted with brushes to create surface irregularities and craters. One of the standard p</a:t>
            </a:r>
            <a:r>
              <a:rPr lang="it" sz="800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lanet has a satellite </a:t>
            </a:r>
            <a:r>
              <a:rPr lang="it" sz="800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orbiting</a:t>
            </a:r>
            <a:r>
              <a:rPr lang="it" sz="800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 around it.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2"/>
          <p:cNvSpPr/>
          <p:nvPr/>
        </p:nvSpPr>
        <p:spPr>
          <a:xfrm>
            <a:off x="3140964" y="1488186"/>
            <a:ext cx="2626614" cy="1474470"/>
          </a:xfrm>
          <a:prstGeom prst="roundRect">
            <a:avLst>
              <a:gd fmla="val 3721" name="adj"/>
            </a:avLst>
          </a:prstGeom>
          <a:solidFill>
            <a:srgbClr val="0E1830"/>
          </a:solidFill>
          <a:ln>
            <a:noFill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22"/>
          <p:cNvSpPr/>
          <p:nvPr/>
        </p:nvSpPr>
        <p:spPr>
          <a:xfrm>
            <a:off x="3291840" y="1639062"/>
            <a:ext cx="315468" cy="315468"/>
          </a:xfrm>
          <a:prstGeom prst="ellipse">
            <a:avLst/>
          </a:prstGeom>
          <a:solidFill>
            <a:srgbClr val="FFB23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75" name="Google Shape;67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70707" y="1717929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22"/>
          <p:cNvSpPr/>
          <p:nvPr/>
        </p:nvSpPr>
        <p:spPr>
          <a:xfrm>
            <a:off x="3291840" y="2036826"/>
            <a:ext cx="232486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000"/>
              <a:buFont typeface="Calibri"/>
              <a:buNone/>
            </a:pPr>
            <a:r>
              <a:rPr b="1" i="0" lang="it" sz="10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Shattered Planet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2"/>
          <p:cNvSpPr/>
          <p:nvPr/>
        </p:nvSpPr>
        <p:spPr>
          <a:xfrm>
            <a:off x="3291840" y="2324862"/>
            <a:ext cx="232486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Cell-Fracture add-on splits a sphere via a Voronoi algorithm into grouped shards, lit by an internal purple point light.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2"/>
          <p:cNvSpPr/>
          <p:nvPr/>
        </p:nvSpPr>
        <p:spPr>
          <a:xfrm>
            <a:off x="5870448" y="1488186"/>
            <a:ext cx="2626614" cy="1474470"/>
          </a:xfrm>
          <a:prstGeom prst="roundRect">
            <a:avLst>
              <a:gd fmla="val 3721" name="adj"/>
            </a:avLst>
          </a:prstGeom>
          <a:solidFill>
            <a:srgbClr val="0E1830"/>
          </a:solidFill>
          <a:ln>
            <a:noFill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22"/>
          <p:cNvSpPr/>
          <p:nvPr/>
        </p:nvSpPr>
        <p:spPr>
          <a:xfrm>
            <a:off x="6021324" y="1639062"/>
            <a:ext cx="315468" cy="315468"/>
          </a:xfrm>
          <a:prstGeom prst="ellipse">
            <a:avLst/>
          </a:prstGeom>
          <a:solidFill>
            <a:srgbClr val="2FC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80" name="Google Shape;68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00191" y="1717929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22"/>
          <p:cNvSpPr/>
          <p:nvPr/>
        </p:nvSpPr>
        <p:spPr>
          <a:xfrm>
            <a:off x="6021324" y="2036826"/>
            <a:ext cx="232486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000"/>
              <a:buFont typeface="Calibri"/>
              <a:buNone/>
            </a:pPr>
            <a:r>
              <a:rPr b="1" i="0" lang="it" sz="10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Ringed Planet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2"/>
          <p:cNvSpPr/>
          <p:nvPr/>
        </p:nvSpPr>
        <p:spPr>
          <a:xfrm>
            <a:off x="6021324" y="2324862"/>
            <a:ext cx="232486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A sculpted sphere paired with a flattened Torus ring using a custom gradient texture.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2"/>
          <p:cNvSpPr/>
          <p:nvPr/>
        </p:nvSpPr>
        <p:spPr>
          <a:xfrm>
            <a:off x="411480" y="3099816"/>
            <a:ext cx="2626614" cy="1474470"/>
          </a:xfrm>
          <a:prstGeom prst="roundRect">
            <a:avLst>
              <a:gd fmla="val 3721" name="adj"/>
            </a:avLst>
          </a:prstGeom>
          <a:solidFill>
            <a:srgbClr val="0E1830"/>
          </a:solidFill>
          <a:ln>
            <a:noFill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22"/>
          <p:cNvSpPr/>
          <p:nvPr/>
        </p:nvSpPr>
        <p:spPr>
          <a:xfrm>
            <a:off x="562356" y="3250692"/>
            <a:ext cx="315468" cy="315468"/>
          </a:xfrm>
          <a:prstGeom prst="ellipse">
            <a:avLst/>
          </a:prstGeom>
          <a:solidFill>
            <a:srgbClr val="2FC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85" name="Google Shape;685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1223" y="3329559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22"/>
          <p:cNvSpPr/>
          <p:nvPr/>
        </p:nvSpPr>
        <p:spPr>
          <a:xfrm>
            <a:off x="562356" y="3648456"/>
            <a:ext cx="232486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000"/>
              <a:buFont typeface="Calibri"/>
              <a:buNone/>
            </a:pPr>
            <a:r>
              <a:rPr b="1" i="0" lang="it" sz="10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Volcanic Planet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2"/>
          <p:cNvSpPr/>
          <p:nvPr/>
        </p:nvSpPr>
        <p:spPr>
          <a:xfrm>
            <a:off x="562356" y="3936492"/>
            <a:ext cx="232486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Emissive magma core wrapped by a cratered crust with deleted faces and extruded volcano cones.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2"/>
          <p:cNvSpPr/>
          <p:nvPr/>
        </p:nvSpPr>
        <p:spPr>
          <a:xfrm>
            <a:off x="3140964" y="3099816"/>
            <a:ext cx="2626614" cy="1474470"/>
          </a:xfrm>
          <a:prstGeom prst="roundRect">
            <a:avLst>
              <a:gd fmla="val 3721" name="adj"/>
            </a:avLst>
          </a:prstGeom>
          <a:solidFill>
            <a:srgbClr val="0E1830"/>
          </a:solidFill>
          <a:ln>
            <a:noFill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22"/>
          <p:cNvSpPr/>
          <p:nvPr/>
        </p:nvSpPr>
        <p:spPr>
          <a:xfrm>
            <a:off x="3291840" y="3250692"/>
            <a:ext cx="315468" cy="315468"/>
          </a:xfrm>
          <a:prstGeom prst="ellipse">
            <a:avLst/>
          </a:prstGeom>
          <a:solidFill>
            <a:srgbClr val="FFB23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90" name="Google Shape;690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370707" y="3329559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22"/>
          <p:cNvSpPr/>
          <p:nvPr/>
        </p:nvSpPr>
        <p:spPr>
          <a:xfrm>
            <a:off x="3291840" y="3648456"/>
            <a:ext cx="232486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000"/>
              <a:buFont typeface="Calibri"/>
              <a:buNone/>
            </a:pPr>
            <a:r>
              <a:rPr b="1" i="0" lang="it" sz="10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Glacial Planet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2"/>
          <p:cNvSpPr/>
          <p:nvPr/>
        </p:nvSpPr>
        <p:spPr>
          <a:xfrm>
            <a:off x="3291840" y="3936492"/>
            <a:ext cx="232486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Pale-blue emissive sphere, Cell-Fractured for cracks, scattered with independent ice-crystal meshes.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2"/>
          <p:cNvSpPr/>
          <p:nvPr/>
        </p:nvSpPr>
        <p:spPr>
          <a:xfrm>
            <a:off x="5870448" y="3099816"/>
            <a:ext cx="2626614" cy="1474470"/>
          </a:xfrm>
          <a:prstGeom prst="roundRect">
            <a:avLst>
              <a:gd fmla="val 3721" name="adj"/>
            </a:avLst>
          </a:prstGeom>
          <a:solidFill>
            <a:srgbClr val="0E1830"/>
          </a:solidFill>
          <a:ln>
            <a:noFill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22"/>
          <p:cNvSpPr/>
          <p:nvPr/>
        </p:nvSpPr>
        <p:spPr>
          <a:xfrm>
            <a:off x="6021324" y="3250692"/>
            <a:ext cx="315468" cy="315468"/>
          </a:xfrm>
          <a:prstGeom prst="ellipse">
            <a:avLst/>
          </a:prstGeom>
          <a:solidFill>
            <a:srgbClr val="2FC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95" name="Google Shape;695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100191" y="3329559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22"/>
          <p:cNvSpPr/>
          <p:nvPr/>
        </p:nvSpPr>
        <p:spPr>
          <a:xfrm>
            <a:off x="6021324" y="3648456"/>
            <a:ext cx="232486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000"/>
              <a:buFont typeface="Calibri"/>
              <a:buNone/>
            </a:pPr>
            <a:r>
              <a:rPr b="1" i="0" lang="it" sz="10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The Comet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2"/>
          <p:cNvSpPr/>
          <p:nvPr/>
        </p:nvSpPr>
        <p:spPr>
          <a:xfrm>
            <a:off x="6021324" y="3936492"/>
            <a:ext cx="232486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Asymmetrical sculpted nucleus with an attached particle system simulating its tail.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8" name="Google Shape;698;p22" title="moon.png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707727" y="1577439"/>
            <a:ext cx="981368" cy="709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p22" title="planet.png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645218" y="1574314"/>
            <a:ext cx="1106383" cy="715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0" name="Google Shape;700;p22" title="fractured.png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566064" y="1584199"/>
            <a:ext cx="930199" cy="71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p22" title="comet.png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183541" y="3183128"/>
            <a:ext cx="1106375" cy="683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702" name="Google Shape;702;p22" title="ringed.png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944068" y="1605201"/>
            <a:ext cx="1378457" cy="59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p22" title="binary_planets.png"/>
          <p:cNvPicPr preferRelativeResize="0"/>
          <p:nvPr/>
        </p:nvPicPr>
        <p:blipFill rotWithShape="1">
          <a:blip r:embed="rId15">
            <a:alphaModFix/>
          </a:blip>
          <a:srcRect b="0" l="56652" r="0" t="0"/>
          <a:stretch/>
        </p:blipFill>
        <p:spPr>
          <a:xfrm>
            <a:off x="2036709" y="3152224"/>
            <a:ext cx="771640" cy="71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4" name="Google Shape;704;p22" title="binary_planets.png"/>
          <p:cNvPicPr preferRelativeResize="0"/>
          <p:nvPr/>
        </p:nvPicPr>
        <p:blipFill rotWithShape="1">
          <a:blip r:embed="rId15">
            <a:alphaModFix/>
          </a:blip>
          <a:srcRect b="0" l="0" r="48176" t="0"/>
          <a:stretch/>
        </p:blipFill>
        <p:spPr>
          <a:xfrm>
            <a:off x="4645995" y="3183125"/>
            <a:ext cx="842792" cy="71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5" name="Google Shape;705;p22" title="satellite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004178" y="1661340"/>
            <a:ext cx="577197" cy="42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B16"/>
        </a:solidFill>
      </p:bgPr>
    </p:bg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23"/>
          <p:cNvSpPr/>
          <p:nvPr/>
        </p:nvSpPr>
        <p:spPr>
          <a:xfrm>
            <a:off x="5982158" y="4983346"/>
            <a:ext cx="15545" cy="15545"/>
          </a:xfrm>
          <a:prstGeom prst="ellipse">
            <a:avLst/>
          </a:prstGeom>
          <a:solidFill>
            <a:srgbClr val="BFE6FF">
              <a:alpha val="3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23"/>
          <p:cNvSpPr/>
          <p:nvPr/>
        </p:nvSpPr>
        <p:spPr>
          <a:xfrm>
            <a:off x="5419640" y="382352"/>
            <a:ext cx="28917" cy="28917"/>
          </a:xfrm>
          <a:prstGeom prst="ellipse">
            <a:avLst/>
          </a:prstGeom>
          <a:solidFill>
            <a:srgbClr val="BFE6FF">
              <a:alpha val="2470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23"/>
          <p:cNvSpPr/>
          <p:nvPr/>
        </p:nvSpPr>
        <p:spPr>
          <a:xfrm>
            <a:off x="349296" y="2313943"/>
            <a:ext cx="30382" cy="30383"/>
          </a:xfrm>
          <a:prstGeom prst="ellipse">
            <a:avLst/>
          </a:prstGeom>
          <a:solidFill>
            <a:srgbClr val="BFE6FF">
              <a:alpha val="2784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23"/>
          <p:cNvSpPr/>
          <p:nvPr/>
        </p:nvSpPr>
        <p:spPr>
          <a:xfrm>
            <a:off x="3053915" y="2280462"/>
            <a:ext cx="17121" cy="17121"/>
          </a:xfrm>
          <a:prstGeom prst="ellipse">
            <a:avLst/>
          </a:prstGeom>
          <a:solidFill>
            <a:srgbClr val="BFE6FF">
              <a:alpha val="4274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23"/>
          <p:cNvSpPr/>
          <p:nvPr/>
        </p:nvSpPr>
        <p:spPr>
          <a:xfrm>
            <a:off x="7466144" y="4674743"/>
            <a:ext cx="19538" cy="19538"/>
          </a:xfrm>
          <a:prstGeom prst="ellipse">
            <a:avLst/>
          </a:prstGeom>
          <a:solidFill>
            <a:srgbClr val="BFE6FF">
              <a:alpha val="1254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23"/>
          <p:cNvSpPr/>
          <p:nvPr/>
        </p:nvSpPr>
        <p:spPr>
          <a:xfrm>
            <a:off x="2643784" y="867935"/>
            <a:ext cx="28992" cy="28992"/>
          </a:xfrm>
          <a:prstGeom prst="ellipse">
            <a:avLst/>
          </a:prstGeom>
          <a:solidFill>
            <a:srgbClr val="BFE6FF">
              <a:alpha val="2117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23"/>
          <p:cNvSpPr/>
          <p:nvPr/>
        </p:nvSpPr>
        <p:spPr>
          <a:xfrm>
            <a:off x="487811" y="2803968"/>
            <a:ext cx="25053" cy="25053"/>
          </a:xfrm>
          <a:prstGeom prst="ellipse">
            <a:avLst/>
          </a:prstGeom>
          <a:solidFill>
            <a:srgbClr val="BFE6FF">
              <a:alpha val="2352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23"/>
          <p:cNvSpPr/>
          <p:nvPr/>
        </p:nvSpPr>
        <p:spPr>
          <a:xfrm>
            <a:off x="8155028" y="4305247"/>
            <a:ext cx="14874" cy="14874"/>
          </a:xfrm>
          <a:prstGeom prst="ellipse">
            <a:avLst/>
          </a:prstGeom>
          <a:solidFill>
            <a:srgbClr val="BFE6FF">
              <a:alpha val="2705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23"/>
          <p:cNvSpPr/>
          <p:nvPr/>
        </p:nvSpPr>
        <p:spPr>
          <a:xfrm>
            <a:off x="6795877" y="160618"/>
            <a:ext cx="22770" cy="22770"/>
          </a:xfrm>
          <a:prstGeom prst="ellipse">
            <a:avLst/>
          </a:prstGeom>
          <a:solidFill>
            <a:srgbClr val="BFE6FF">
              <a:alpha val="1333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23"/>
          <p:cNvSpPr/>
          <p:nvPr/>
        </p:nvSpPr>
        <p:spPr>
          <a:xfrm>
            <a:off x="7815588" y="1402839"/>
            <a:ext cx="30462" cy="30462"/>
          </a:xfrm>
          <a:prstGeom prst="ellipse">
            <a:avLst/>
          </a:prstGeom>
          <a:solidFill>
            <a:srgbClr val="BFE6FF">
              <a:alpha val="3882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23"/>
          <p:cNvSpPr/>
          <p:nvPr/>
        </p:nvSpPr>
        <p:spPr>
          <a:xfrm>
            <a:off x="2041968" y="4060808"/>
            <a:ext cx="25318" cy="25318"/>
          </a:xfrm>
          <a:prstGeom prst="ellipse">
            <a:avLst/>
          </a:prstGeom>
          <a:solidFill>
            <a:srgbClr val="BFE6FF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23"/>
          <p:cNvSpPr/>
          <p:nvPr/>
        </p:nvSpPr>
        <p:spPr>
          <a:xfrm>
            <a:off x="270326" y="1673803"/>
            <a:ext cx="31516" cy="31517"/>
          </a:xfrm>
          <a:prstGeom prst="ellipse">
            <a:avLst/>
          </a:prstGeom>
          <a:solidFill>
            <a:srgbClr val="BFE6FF">
              <a:alpha val="1058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23"/>
          <p:cNvSpPr/>
          <p:nvPr/>
        </p:nvSpPr>
        <p:spPr>
          <a:xfrm>
            <a:off x="3117653" y="24376"/>
            <a:ext cx="14592" cy="14592"/>
          </a:xfrm>
          <a:prstGeom prst="ellipse">
            <a:avLst/>
          </a:prstGeom>
          <a:solidFill>
            <a:srgbClr val="BFE6FF">
              <a:alpha val="2901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23"/>
          <p:cNvSpPr/>
          <p:nvPr/>
        </p:nvSpPr>
        <p:spPr>
          <a:xfrm>
            <a:off x="4477520" y="2320534"/>
            <a:ext cx="20605" cy="20605"/>
          </a:xfrm>
          <a:prstGeom prst="ellipse">
            <a:avLst/>
          </a:prstGeom>
          <a:solidFill>
            <a:srgbClr val="BFE6FF">
              <a:alpha val="1490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23"/>
          <p:cNvSpPr/>
          <p:nvPr/>
        </p:nvSpPr>
        <p:spPr>
          <a:xfrm>
            <a:off x="8662859" y="2091302"/>
            <a:ext cx="32271" cy="32271"/>
          </a:xfrm>
          <a:prstGeom prst="ellipse">
            <a:avLst/>
          </a:prstGeom>
          <a:solidFill>
            <a:srgbClr val="BFE6FF">
              <a:alpha val="2156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23"/>
          <p:cNvSpPr/>
          <p:nvPr/>
        </p:nvSpPr>
        <p:spPr>
          <a:xfrm>
            <a:off x="4863558" y="3140352"/>
            <a:ext cx="26266" cy="26266"/>
          </a:xfrm>
          <a:prstGeom prst="ellipse">
            <a:avLst/>
          </a:prstGeom>
          <a:solidFill>
            <a:srgbClr val="BFE6FF">
              <a:alpha val="2666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23"/>
          <p:cNvSpPr/>
          <p:nvPr/>
        </p:nvSpPr>
        <p:spPr>
          <a:xfrm>
            <a:off x="3784801" y="2242325"/>
            <a:ext cx="26228" cy="26228"/>
          </a:xfrm>
          <a:prstGeom prst="ellipse">
            <a:avLst/>
          </a:prstGeom>
          <a:solidFill>
            <a:srgbClr val="BFE6FF">
              <a:alpha val="1411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23"/>
          <p:cNvSpPr/>
          <p:nvPr/>
        </p:nvSpPr>
        <p:spPr>
          <a:xfrm>
            <a:off x="3646102" y="4509017"/>
            <a:ext cx="24828" cy="24828"/>
          </a:xfrm>
          <a:prstGeom prst="ellipse">
            <a:avLst/>
          </a:prstGeom>
          <a:solidFill>
            <a:srgbClr val="BFE6FF">
              <a:alpha val="4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23"/>
          <p:cNvSpPr/>
          <p:nvPr/>
        </p:nvSpPr>
        <p:spPr>
          <a:xfrm>
            <a:off x="6502685" y="4408324"/>
            <a:ext cx="16505" cy="16505"/>
          </a:xfrm>
          <a:prstGeom prst="ellipse">
            <a:avLst/>
          </a:prstGeom>
          <a:solidFill>
            <a:srgbClr val="BFE6FF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23"/>
          <p:cNvSpPr/>
          <p:nvPr/>
        </p:nvSpPr>
        <p:spPr>
          <a:xfrm>
            <a:off x="9085198" y="3208073"/>
            <a:ext cx="26255" cy="26255"/>
          </a:xfrm>
          <a:prstGeom prst="ellipse">
            <a:avLst/>
          </a:prstGeom>
          <a:solidFill>
            <a:srgbClr val="BFE6FF">
              <a:alpha val="2823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23"/>
          <p:cNvSpPr/>
          <p:nvPr/>
        </p:nvSpPr>
        <p:spPr>
          <a:xfrm>
            <a:off x="752006" y="4960627"/>
            <a:ext cx="23110" cy="23110"/>
          </a:xfrm>
          <a:prstGeom prst="ellipse">
            <a:avLst/>
          </a:prstGeom>
          <a:solidFill>
            <a:srgbClr val="BFE6FF">
              <a:alpha val="4392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23"/>
          <p:cNvSpPr/>
          <p:nvPr/>
        </p:nvSpPr>
        <p:spPr>
          <a:xfrm>
            <a:off x="1215851" y="3474118"/>
            <a:ext cx="28250" cy="28250"/>
          </a:xfrm>
          <a:prstGeom prst="ellipse">
            <a:avLst/>
          </a:prstGeom>
          <a:solidFill>
            <a:srgbClr val="BFE6FF">
              <a:alpha val="2470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23"/>
          <p:cNvSpPr/>
          <p:nvPr/>
        </p:nvSpPr>
        <p:spPr>
          <a:xfrm>
            <a:off x="3728486" y="582724"/>
            <a:ext cx="19359" cy="19359"/>
          </a:xfrm>
          <a:prstGeom prst="ellipse">
            <a:avLst/>
          </a:prstGeom>
          <a:solidFill>
            <a:srgbClr val="BFE6FF">
              <a:alpha val="2823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23"/>
          <p:cNvSpPr/>
          <p:nvPr/>
        </p:nvSpPr>
        <p:spPr>
          <a:xfrm>
            <a:off x="6844595" y="1516820"/>
            <a:ext cx="26333" cy="26333"/>
          </a:xfrm>
          <a:prstGeom prst="ellipse">
            <a:avLst/>
          </a:prstGeom>
          <a:solidFill>
            <a:srgbClr val="BFE6FF">
              <a:alpha val="4274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23"/>
          <p:cNvSpPr/>
          <p:nvPr/>
        </p:nvSpPr>
        <p:spPr>
          <a:xfrm>
            <a:off x="5475877" y="2642029"/>
            <a:ext cx="15602" cy="15602"/>
          </a:xfrm>
          <a:prstGeom prst="ellipse">
            <a:avLst/>
          </a:prstGeom>
          <a:solidFill>
            <a:srgbClr val="BFE6FF">
              <a:alpha val="3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23"/>
          <p:cNvSpPr/>
          <p:nvPr/>
        </p:nvSpPr>
        <p:spPr>
          <a:xfrm>
            <a:off x="6371016" y="593453"/>
            <a:ext cx="14495" cy="14495"/>
          </a:xfrm>
          <a:prstGeom prst="ellipse">
            <a:avLst/>
          </a:prstGeom>
          <a:solidFill>
            <a:srgbClr val="BFE6FF">
              <a:alpha val="2862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23"/>
          <p:cNvSpPr/>
          <p:nvPr/>
        </p:nvSpPr>
        <p:spPr>
          <a:xfrm>
            <a:off x="3038825" y="2838347"/>
            <a:ext cx="32444" cy="32444"/>
          </a:xfrm>
          <a:prstGeom prst="ellipse">
            <a:avLst/>
          </a:prstGeom>
          <a:solidFill>
            <a:srgbClr val="BFE6FF">
              <a:alpha val="2274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23"/>
          <p:cNvSpPr/>
          <p:nvPr/>
        </p:nvSpPr>
        <p:spPr>
          <a:xfrm>
            <a:off x="6319980" y="14344"/>
            <a:ext cx="15508" cy="15509"/>
          </a:xfrm>
          <a:prstGeom prst="ellipse">
            <a:avLst/>
          </a:prstGeom>
          <a:solidFill>
            <a:srgbClr val="BFE6FF">
              <a:alpha val="1803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23"/>
          <p:cNvSpPr/>
          <p:nvPr/>
        </p:nvSpPr>
        <p:spPr>
          <a:xfrm>
            <a:off x="2244716" y="2763425"/>
            <a:ext cx="14877" cy="14877"/>
          </a:xfrm>
          <a:prstGeom prst="ellipse">
            <a:avLst/>
          </a:prstGeom>
          <a:solidFill>
            <a:srgbClr val="BFE6FF">
              <a:alpha val="2588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23"/>
          <p:cNvSpPr/>
          <p:nvPr/>
        </p:nvSpPr>
        <p:spPr>
          <a:xfrm>
            <a:off x="135633" y="2368765"/>
            <a:ext cx="33632" cy="33632"/>
          </a:xfrm>
          <a:prstGeom prst="ellipse">
            <a:avLst/>
          </a:prstGeom>
          <a:solidFill>
            <a:srgbClr val="BFE6FF">
              <a:alpha val="3960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23"/>
          <p:cNvSpPr/>
          <p:nvPr/>
        </p:nvSpPr>
        <p:spPr>
          <a:xfrm>
            <a:off x="3656724" y="2473358"/>
            <a:ext cx="16806" cy="16806"/>
          </a:xfrm>
          <a:prstGeom prst="ellipse">
            <a:avLst/>
          </a:prstGeom>
          <a:solidFill>
            <a:srgbClr val="BFE6FF">
              <a:alpha val="1843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23"/>
          <p:cNvSpPr/>
          <p:nvPr/>
        </p:nvSpPr>
        <p:spPr>
          <a:xfrm>
            <a:off x="2405171" y="4211735"/>
            <a:ext cx="19487" cy="19487"/>
          </a:xfrm>
          <a:prstGeom prst="ellipse">
            <a:avLst/>
          </a:prstGeom>
          <a:solidFill>
            <a:srgbClr val="BFE6FF">
              <a:alpha val="2431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23"/>
          <p:cNvSpPr/>
          <p:nvPr/>
        </p:nvSpPr>
        <p:spPr>
          <a:xfrm>
            <a:off x="6191174" y="4641668"/>
            <a:ext cx="30802" cy="30802"/>
          </a:xfrm>
          <a:prstGeom prst="ellipse">
            <a:avLst/>
          </a:prstGeom>
          <a:solidFill>
            <a:srgbClr val="BFE6FF">
              <a:alpha val="3490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23"/>
          <p:cNvSpPr/>
          <p:nvPr/>
        </p:nvSpPr>
        <p:spPr>
          <a:xfrm>
            <a:off x="8406536" y="5038219"/>
            <a:ext cx="13999" cy="13999"/>
          </a:xfrm>
          <a:prstGeom prst="ellipse">
            <a:avLst/>
          </a:prstGeom>
          <a:solidFill>
            <a:srgbClr val="BFE6FF">
              <a:alpha val="2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23"/>
          <p:cNvSpPr/>
          <p:nvPr/>
        </p:nvSpPr>
        <p:spPr>
          <a:xfrm>
            <a:off x="714626" y="853739"/>
            <a:ext cx="31713" cy="31713"/>
          </a:xfrm>
          <a:prstGeom prst="ellipse">
            <a:avLst/>
          </a:prstGeom>
          <a:solidFill>
            <a:srgbClr val="BFE6FF">
              <a:alpha val="2823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23"/>
          <p:cNvSpPr/>
          <p:nvPr/>
        </p:nvSpPr>
        <p:spPr>
          <a:xfrm>
            <a:off x="2427788" y="821926"/>
            <a:ext cx="18710" cy="18710"/>
          </a:xfrm>
          <a:prstGeom prst="ellipse">
            <a:avLst/>
          </a:prstGeom>
          <a:solidFill>
            <a:srgbClr val="BFE6FF">
              <a:alpha val="1058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23"/>
          <p:cNvSpPr/>
          <p:nvPr/>
        </p:nvSpPr>
        <p:spPr>
          <a:xfrm>
            <a:off x="9115318" y="3760689"/>
            <a:ext cx="20560" cy="20561"/>
          </a:xfrm>
          <a:prstGeom prst="ellipse">
            <a:avLst/>
          </a:prstGeom>
          <a:solidFill>
            <a:srgbClr val="BFE6FF">
              <a:alpha val="4392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23"/>
          <p:cNvSpPr/>
          <p:nvPr/>
        </p:nvSpPr>
        <p:spPr>
          <a:xfrm>
            <a:off x="2591367" y="370302"/>
            <a:ext cx="28625" cy="28625"/>
          </a:xfrm>
          <a:prstGeom prst="ellipse">
            <a:avLst/>
          </a:prstGeom>
          <a:solidFill>
            <a:srgbClr val="BFE6FF">
              <a:alpha val="2705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23"/>
          <p:cNvSpPr/>
          <p:nvPr/>
        </p:nvSpPr>
        <p:spPr>
          <a:xfrm>
            <a:off x="5537052" y="4142680"/>
            <a:ext cx="20543" cy="20543"/>
          </a:xfrm>
          <a:prstGeom prst="ellipse">
            <a:avLst/>
          </a:prstGeom>
          <a:solidFill>
            <a:srgbClr val="BFE6FF">
              <a:alpha val="1254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23"/>
          <p:cNvSpPr/>
          <p:nvPr/>
        </p:nvSpPr>
        <p:spPr>
          <a:xfrm>
            <a:off x="411480" y="288036"/>
            <a:ext cx="6172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C6FF"/>
              </a:buClr>
              <a:buSzPts val="900"/>
              <a:buFont typeface="Courier New"/>
              <a:buNone/>
            </a:pPr>
            <a:r>
              <a:rPr b="1" i="0" lang="it" sz="900" u="none" cap="none" strike="noStrike">
                <a:solidFill>
                  <a:srgbClr val="2FC6FF"/>
                </a:solidFill>
                <a:latin typeface="Courier New"/>
                <a:ea typeface="Courier New"/>
                <a:cs typeface="Courier New"/>
                <a:sym typeface="Courier New"/>
              </a:rPr>
              <a:t>03 — MODELS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23"/>
          <p:cNvSpPr/>
          <p:nvPr/>
        </p:nvSpPr>
        <p:spPr>
          <a:xfrm>
            <a:off x="411480" y="466344"/>
            <a:ext cx="72694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2100"/>
              <a:buFont typeface="Courier New"/>
              <a:buNone/>
            </a:pPr>
            <a:r>
              <a:rPr b="1" i="0" lang="it" sz="2100" u="none" cap="none" strike="noStrike">
                <a:solidFill>
                  <a:srgbClr val="EAF6FF"/>
                </a:solidFill>
                <a:latin typeface="Courier New"/>
                <a:ea typeface="Courier New"/>
                <a:cs typeface="Courier New"/>
                <a:sym typeface="Courier New"/>
              </a:rPr>
              <a:t>Interactive Elements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23"/>
          <p:cNvSpPr/>
          <p:nvPr/>
        </p:nvSpPr>
        <p:spPr>
          <a:xfrm>
            <a:off x="8197367" y="288036"/>
            <a:ext cx="534924" cy="534924"/>
          </a:xfrm>
          <a:prstGeom prst="ellipse">
            <a:avLst/>
          </a:prstGeom>
          <a:solidFill>
            <a:srgbClr val="2FC6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53" name="Google Shape;75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7669" y="41833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23"/>
          <p:cNvSpPr/>
          <p:nvPr/>
        </p:nvSpPr>
        <p:spPr>
          <a:xfrm>
            <a:off x="411480" y="4855464"/>
            <a:ext cx="2743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700"/>
              <a:buFont typeface="Courier New"/>
              <a:buNone/>
            </a:pPr>
            <a:r>
              <a:rPr b="0" i="0" lang="it" sz="700" u="none" cap="none" strike="noStrike">
                <a:solidFill>
                  <a:srgbClr val="93B3D6"/>
                </a:solidFill>
                <a:latin typeface="Courier New"/>
                <a:ea typeface="Courier New"/>
                <a:cs typeface="Courier New"/>
                <a:sym typeface="Courier New"/>
              </a:rPr>
              <a:t>LUMEN DRIFT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23"/>
          <p:cNvSpPr/>
          <p:nvPr/>
        </p:nvSpPr>
        <p:spPr>
          <a:xfrm>
            <a:off x="8320811" y="4855464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700"/>
              <a:buFont typeface="Courier New"/>
              <a:buNone/>
            </a:pPr>
            <a:r>
              <a:rPr b="0" i="0" lang="it" sz="700" u="none" cap="none" strike="noStrike">
                <a:solidFill>
                  <a:srgbClr val="93B3D6"/>
                </a:solidFill>
                <a:latin typeface="Courier New"/>
                <a:ea typeface="Courier New"/>
                <a:cs typeface="Courier New"/>
                <a:sym typeface="Courier New"/>
              </a:rPr>
              <a:t>09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23"/>
          <p:cNvSpPr/>
          <p:nvPr/>
        </p:nvSpPr>
        <p:spPr>
          <a:xfrm>
            <a:off x="411480" y="1110996"/>
            <a:ext cx="342900" cy="342900"/>
          </a:xfrm>
          <a:prstGeom prst="ellipse">
            <a:avLst/>
          </a:prstGeom>
          <a:solidFill>
            <a:srgbClr val="2FC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57" name="Google Shape;75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7205" y="1196721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23"/>
          <p:cNvSpPr/>
          <p:nvPr/>
        </p:nvSpPr>
        <p:spPr>
          <a:xfrm>
            <a:off x="905256" y="1076706"/>
            <a:ext cx="399821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Light Sensors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3"/>
          <p:cNvSpPr/>
          <p:nvPr/>
        </p:nvSpPr>
        <p:spPr>
          <a:xfrm>
            <a:off x="905256" y="1296162"/>
            <a:ext cx="399821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Sci-fi geometry crafted in Blender. The crystalline top is a detached object, allowing the script to spin it continuously whenever its activation state updates.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3"/>
          <p:cNvSpPr/>
          <p:nvPr/>
        </p:nvSpPr>
        <p:spPr>
          <a:xfrm>
            <a:off x="411480" y="2036826"/>
            <a:ext cx="342900" cy="342900"/>
          </a:xfrm>
          <a:prstGeom prst="ellipse">
            <a:avLst/>
          </a:prstGeom>
          <a:solidFill>
            <a:srgbClr val="FFB23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61" name="Google Shape;76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7205" y="2122551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23"/>
          <p:cNvSpPr/>
          <p:nvPr/>
        </p:nvSpPr>
        <p:spPr>
          <a:xfrm>
            <a:off x="905256" y="2002536"/>
            <a:ext cx="399821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Interactive Buttons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23"/>
          <p:cNvSpPr/>
          <p:nvPr/>
        </p:nvSpPr>
        <p:spPr>
          <a:xfrm>
            <a:off x="905256" y="2221992"/>
            <a:ext cx="399821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A Sketchfab prop refactored so the movable Key mesh is isolated from the static Base — letting Tween.js interpolate the key's Z-depth for a pressing animation. Triggers a Sketchfab alarm-lamp model.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23"/>
          <p:cNvSpPr/>
          <p:nvPr/>
        </p:nvSpPr>
        <p:spPr>
          <a:xfrm>
            <a:off x="411480" y="2962656"/>
            <a:ext cx="342900" cy="342900"/>
          </a:xfrm>
          <a:prstGeom prst="ellipse">
            <a:avLst/>
          </a:prstGeom>
          <a:solidFill>
            <a:srgbClr val="2FC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65" name="Google Shape;765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7205" y="3048381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23"/>
          <p:cNvSpPr/>
          <p:nvPr/>
        </p:nvSpPr>
        <p:spPr>
          <a:xfrm>
            <a:off x="905256" y="2928366"/>
            <a:ext cx="399821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The Reactor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23"/>
          <p:cNvSpPr/>
          <p:nvPr/>
        </p:nvSpPr>
        <p:spPr>
          <a:xfrm>
            <a:off x="905256" y="3147822"/>
            <a:ext cx="399821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The mission's primary objective, modeled from scratch in Blender. Can be picked up outside the ship and carried back to the core pedestal.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23"/>
          <p:cNvSpPr/>
          <p:nvPr/>
        </p:nvSpPr>
        <p:spPr>
          <a:xfrm>
            <a:off x="411480" y="3957066"/>
            <a:ext cx="78867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800"/>
              <a:buFont typeface="Calibri"/>
              <a:buNone/>
            </a:pPr>
            <a:r>
              <a:rPr b="0" i="1" lang="it" sz="8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Textures ship embedded inside each glTF asset. Sketchfab models keep their downloaded textures. Blender-made models use custom-authored ones.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9" name="Google Shape;769;p23" title="reactor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70011" y="1067368"/>
            <a:ext cx="1121639" cy="122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0" name="Google Shape;770;p23" title="Sketchfab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20750" y="2662475"/>
            <a:ext cx="2147163" cy="1201558"/>
          </a:xfrm>
          <a:prstGeom prst="rect">
            <a:avLst/>
          </a:prstGeom>
          <a:noFill/>
          <a:ln>
            <a:noFill/>
          </a:ln>
        </p:spPr>
      </p:pic>
      <p:pic>
        <p:nvPicPr>
          <p:cNvPr id="771" name="Google Shape;771;p23" title="sensor.png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645425" y="666593"/>
            <a:ext cx="1183025" cy="1836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B16"/>
        </a:solidFill>
      </p:bgPr>
    </p:bg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24"/>
          <p:cNvSpPr/>
          <p:nvPr/>
        </p:nvSpPr>
        <p:spPr>
          <a:xfrm>
            <a:off x="1641913" y="4750371"/>
            <a:ext cx="20513" cy="20513"/>
          </a:xfrm>
          <a:prstGeom prst="ellipse">
            <a:avLst/>
          </a:prstGeom>
          <a:solidFill>
            <a:srgbClr val="BFE6FF">
              <a:alpha val="4392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24"/>
          <p:cNvSpPr/>
          <p:nvPr/>
        </p:nvSpPr>
        <p:spPr>
          <a:xfrm>
            <a:off x="6292145" y="523621"/>
            <a:ext cx="33751" cy="33751"/>
          </a:xfrm>
          <a:prstGeom prst="ellipse">
            <a:avLst/>
          </a:prstGeom>
          <a:solidFill>
            <a:srgbClr val="BFE6FF">
              <a:alpha val="1176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24"/>
          <p:cNvSpPr/>
          <p:nvPr/>
        </p:nvSpPr>
        <p:spPr>
          <a:xfrm>
            <a:off x="6126521" y="402164"/>
            <a:ext cx="25070" cy="25070"/>
          </a:xfrm>
          <a:prstGeom prst="ellipse">
            <a:avLst/>
          </a:prstGeom>
          <a:solidFill>
            <a:srgbClr val="BFE6FF">
              <a:alpha val="3960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24"/>
          <p:cNvSpPr/>
          <p:nvPr/>
        </p:nvSpPr>
        <p:spPr>
          <a:xfrm>
            <a:off x="7605024" y="62567"/>
            <a:ext cx="29106" cy="29106"/>
          </a:xfrm>
          <a:prstGeom prst="ellipse">
            <a:avLst/>
          </a:prstGeom>
          <a:solidFill>
            <a:srgbClr val="BFE6FF">
              <a:alpha val="4078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24"/>
          <p:cNvSpPr/>
          <p:nvPr/>
        </p:nvSpPr>
        <p:spPr>
          <a:xfrm>
            <a:off x="1154897" y="1988826"/>
            <a:ext cx="25261" cy="25262"/>
          </a:xfrm>
          <a:prstGeom prst="ellipse">
            <a:avLst/>
          </a:prstGeom>
          <a:solidFill>
            <a:srgbClr val="BFE6FF">
              <a:alpha val="3098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24"/>
          <p:cNvSpPr/>
          <p:nvPr/>
        </p:nvSpPr>
        <p:spPr>
          <a:xfrm>
            <a:off x="6641101" y="170153"/>
            <a:ext cx="15196" cy="15196"/>
          </a:xfrm>
          <a:prstGeom prst="ellipse">
            <a:avLst/>
          </a:prstGeom>
          <a:solidFill>
            <a:srgbClr val="BFE6FF">
              <a:alpha val="1058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24"/>
          <p:cNvSpPr/>
          <p:nvPr/>
        </p:nvSpPr>
        <p:spPr>
          <a:xfrm>
            <a:off x="8782703" y="1089953"/>
            <a:ext cx="32984" cy="32984"/>
          </a:xfrm>
          <a:prstGeom prst="ellipse">
            <a:avLst/>
          </a:prstGeom>
          <a:solidFill>
            <a:srgbClr val="BFE6FF">
              <a:alpha val="4274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24"/>
          <p:cNvSpPr/>
          <p:nvPr/>
        </p:nvSpPr>
        <p:spPr>
          <a:xfrm>
            <a:off x="8621893" y="4048099"/>
            <a:ext cx="14530" cy="14530"/>
          </a:xfrm>
          <a:prstGeom prst="ellipse">
            <a:avLst/>
          </a:prstGeom>
          <a:solidFill>
            <a:srgbClr val="BFE6FF">
              <a:alpha val="4039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24"/>
          <p:cNvSpPr/>
          <p:nvPr/>
        </p:nvSpPr>
        <p:spPr>
          <a:xfrm>
            <a:off x="6044573" y="4750162"/>
            <a:ext cx="23502" cy="23502"/>
          </a:xfrm>
          <a:prstGeom prst="ellipse">
            <a:avLst/>
          </a:prstGeom>
          <a:solidFill>
            <a:srgbClr val="BFE6FF">
              <a:alpha val="2078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24"/>
          <p:cNvSpPr/>
          <p:nvPr/>
        </p:nvSpPr>
        <p:spPr>
          <a:xfrm>
            <a:off x="1154411" y="746765"/>
            <a:ext cx="24173" cy="24173"/>
          </a:xfrm>
          <a:prstGeom prst="ellipse">
            <a:avLst/>
          </a:prstGeom>
          <a:solidFill>
            <a:srgbClr val="BFE6FF">
              <a:alpha val="2588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24"/>
          <p:cNvSpPr/>
          <p:nvPr/>
        </p:nvSpPr>
        <p:spPr>
          <a:xfrm>
            <a:off x="8213172" y="4495766"/>
            <a:ext cx="23560" cy="23560"/>
          </a:xfrm>
          <a:prstGeom prst="ellipse">
            <a:avLst/>
          </a:prstGeom>
          <a:solidFill>
            <a:srgbClr val="BFE6FF">
              <a:alpha val="2235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24"/>
          <p:cNvSpPr/>
          <p:nvPr/>
        </p:nvSpPr>
        <p:spPr>
          <a:xfrm>
            <a:off x="773726" y="1430448"/>
            <a:ext cx="22792" cy="22792"/>
          </a:xfrm>
          <a:prstGeom prst="ellipse">
            <a:avLst/>
          </a:prstGeom>
          <a:solidFill>
            <a:srgbClr val="BFE6FF">
              <a:alpha val="4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24"/>
          <p:cNvSpPr/>
          <p:nvPr/>
        </p:nvSpPr>
        <p:spPr>
          <a:xfrm>
            <a:off x="5181354" y="2252873"/>
            <a:ext cx="30355" cy="30355"/>
          </a:xfrm>
          <a:prstGeom prst="ellipse">
            <a:avLst/>
          </a:prstGeom>
          <a:solidFill>
            <a:srgbClr val="BFE6FF">
              <a:alpha val="4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24"/>
          <p:cNvSpPr/>
          <p:nvPr/>
        </p:nvSpPr>
        <p:spPr>
          <a:xfrm>
            <a:off x="7737999" y="2211740"/>
            <a:ext cx="19070" cy="19070"/>
          </a:xfrm>
          <a:prstGeom prst="ellipse">
            <a:avLst/>
          </a:prstGeom>
          <a:solidFill>
            <a:srgbClr val="BFE6FF">
              <a:alpha val="3843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24"/>
          <p:cNvSpPr/>
          <p:nvPr/>
        </p:nvSpPr>
        <p:spPr>
          <a:xfrm>
            <a:off x="4460977" y="4741678"/>
            <a:ext cx="28673" cy="28673"/>
          </a:xfrm>
          <a:prstGeom prst="ellipse">
            <a:avLst/>
          </a:prstGeom>
          <a:solidFill>
            <a:srgbClr val="BFE6FF">
              <a:alpha val="4039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24"/>
          <p:cNvSpPr/>
          <p:nvPr/>
        </p:nvSpPr>
        <p:spPr>
          <a:xfrm>
            <a:off x="1348130" y="1992043"/>
            <a:ext cx="14125" cy="14126"/>
          </a:xfrm>
          <a:prstGeom prst="ellipse">
            <a:avLst/>
          </a:prstGeom>
          <a:solidFill>
            <a:srgbClr val="BFE6FF">
              <a:alpha val="1411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24"/>
          <p:cNvSpPr/>
          <p:nvPr/>
        </p:nvSpPr>
        <p:spPr>
          <a:xfrm>
            <a:off x="8992543" y="1960664"/>
            <a:ext cx="19076" cy="19076"/>
          </a:xfrm>
          <a:prstGeom prst="ellipse">
            <a:avLst/>
          </a:prstGeom>
          <a:solidFill>
            <a:srgbClr val="BFE6FF">
              <a:alpha val="1176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24"/>
          <p:cNvSpPr/>
          <p:nvPr/>
        </p:nvSpPr>
        <p:spPr>
          <a:xfrm>
            <a:off x="6471815" y="4584325"/>
            <a:ext cx="13588" cy="13588"/>
          </a:xfrm>
          <a:prstGeom prst="ellipse">
            <a:avLst/>
          </a:prstGeom>
          <a:solidFill>
            <a:srgbClr val="BFE6FF">
              <a:alpha val="2078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24"/>
          <p:cNvSpPr/>
          <p:nvPr/>
        </p:nvSpPr>
        <p:spPr>
          <a:xfrm>
            <a:off x="5533910" y="969212"/>
            <a:ext cx="27945" cy="27945"/>
          </a:xfrm>
          <a:prstGeom prst="ellipse">
            <a:avLst/>
          </a:prstGeom>
          <a:solidFill>
            <a:srgbClr val="BFE6FF">
              <a:alpha val="1529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24"/>
          <p:cNvSpPr/>
          <p:nvPr/>
        </p:nvSpPr>
        <p:spPr>
          <a:xfrm>
            <a:off x="2801986" y="949769"/>
            <a:ext cx="21379" cy="21380"/>
          </a:xfrm>
          <a:prstGeom prst="ellipse">
            <a:avLst/>
          </a:prstGeom>
          <a:solidFill>
            <a:srgbClr val="BFE6FF">
              <a:alpha val="2392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24"/>
          <p:cNvSpPr/>
          <p:nvPr/>
        </p:nvSpPr>
        <p:spPr>
          <a:xfrm>
            <a:off x="2540264" y="191501"/>
            <a:ext cx="30296" cy="30296"/>
          </a:xfrm>
          <a:prstGeom prst="ellipse">
            <a:avLst/>
          </a:prstGeom>
          <a:solidFill>
            <a:srgbClr val="BFE6FF">
              <a:alpha val="1803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24"/>
          <p:cNvSpPr/>
          <p:nvPr/>
        </p:nvSpPr>
        <p:spPr>
          <a:xfrm>
            <a:off x="2415433" y="4377493"/>
            <a:ext cx="32220" cy="32220"/>
          </a:xfrm>
          <a:prstGeom prst="ellipse">
            <a:avLst/>
          </a:prstGeom>
          <a:solidFill>
            <a:srgbClr val="BFE6FF">
              <a:alpha val="4078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24"/>
          <p:cNvSpPr/>
          <p:nvPr/>
        </p:nvSpPr>
        <p:spPr>
          <a:xfrm>
            <a:off x="1420549" y="151124"/>
            <a:ext cx="13788" cy="13788"/>
          </a:xfrm>
          <a:prstGeom prst="ellipse">
            <a:avLst/>
          </a:prstGeom>
          <a:solidFill>
            <a:srgbClr val="BFE6FF">
              <a:alpha val="1921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24"/>
          <p:cNvSpPr/>
          <p:nvPr/>
        </p:nvSpPr>
        <p:spPr>
          <a:xfrm>
            <a:off x="5663786" y="700488"/>
            <a:ext cx="32971" cy="32972"/>
          </a:xfrm>
          <a:prstGeom prst="ellipse">
            <a:avLst/>
          </a:prstGeom>
          <a:solidFill>
            <a:srgbClr val="BFE6FF">
              <a:alpha val="2392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24"/>
          <p:cNvSpPr/>
          <p:nvPr/>
        </p:nvSpPr>
        <p:spPr>
          <a:xfrm>
            <a:off x="4941326" y="1190611"/>
            <a:ext cx="26051" cy="26051"/>
          </a:xfrm>
          <a:prstGeom prst="ellipse">
            <a:avLst/>
          </a:prstGeom>
          <a:solidFill>
            <a:srgbClr val="BFE6FF">
              <a:alpha val="2470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24"/>
          <p:cNvSpPr/>
          <p:nvPr/>
        </p:nvSpPr>
        <p:spPr>
          <a:xfrm>
            <a:off x="3179475" y="1055999"/>
            <a:ext cx="20827" cy="20827"/>
          </a:xfrm>
          <a:prstGeom prst="ellipse">
            <a:avLst/>
          </a:prstGeom>
          <a:solidFill>
            <a:srgbClr val="BFE6FF">
              <a:alpha val="2392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24"/>
          <p:cNvSpPr/>
          <p:nvPr/>
        </p:nvSpPr>
        <p:spPr>
          <a:xfrm>
            <a:off x="7178724" y="613217"/>
            <a:ext cx="26371" cy="26372"/>
          </a:xfrm>
          <a:prstGeom prst="ellipse">
            <a:avLst/>
          </a:prstGeom>
          <a:solidFill>
            <a:srgbClr val="BFE6FF">
              <a:alpha val="1372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24"/>
          <p:cNvSpPr/>
          <p:nvPr/>
        </p:nvSpPr>
        <p:spPr>
          <a:xfrm>
            <a:off x="8786553" y="1003906"/>
            <a:ext cx="23509" cy="23509"/>
          </a:xfrm>
          <a:prstGeom prst="ellipse">
            <a:avLst/>
          </a:prstGeom>
          <a:solidFill>
            <a:srgbClr val="BFE6FF">
              <a:alpha val="1529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24"/>
          <p:cNvSpPr/>
          <p:nvPr/>
        </p:nvSpPr>
        <p:spPr>
          <a:xfrm>
            <a:off x="4765907" y="4233580"/>
            <a:ext cx="23010" cy="23010"/>
          </a:xfrm>
          <a:prstGeom prst="ellipse">
            <a:avLst/>
          </a:prstGeom>
          <a:solidFill>
            <a:srgbClr val="BFE6FF">
              <a:alpha val="3882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24"/>
          <p:cNvSpPr/>
          <p:nvPr/>
        </p:nvSpPr>
        <p:spPr>
          <a:xfrm>
            <a:off x="3761411" y="532223"/>
            <a:ext cx="23869" cy="23869"/>
          </a:xfrm>
          <a:prstGeom prst="ellipse">
            <a:avLst/>
          </a:prstGeom>
          <a:solidFill>
            <a:srgbClr val="BFE6FF">
              <a:alpha val="1803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24"/>
          <p:cNvSpPr/>
          <p:nvPr/>
        </p:nvSpPr>
        <p:spPr>
          <a:xfrm>
            <a:off x="8671379" y="1368071"/>
            <a:ext cx="12395" cy="12395"/>
          </a:xfrm>
          <a:prstGeom prst="ellipse">
            <a:avLst/>
          </a:prstGeom>
          <a:solidFill>
            <a:srgbClr val="BFE6FF">
              <a:alpha val="3764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24"/>
          <p:cNvSpPr/>
          <p:nvPr/>
        </p:nvSpPr>
        <p:spPr>
          <a:xfrm>
            <a:off x="5000163" y="1459534"/>
            <a:ext cx="28330" cy="28330"/>
          </a:xfrm>
          <a:prstGeom prst="ellipse">
            <a:avLst/>
          </a:prstGeom>
          <a:solidFill>
            <a:srgbClr val="BFE6FF">
              <a:alpha val="3647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24"/>
          <p:cNvSpPr/>
          <p:nvPr/>
        </p:nvSpPr>
        <p:spPr>
          <a:xfrm>
            <a:off x="2433488" y="935396"/>
            <a:ext cx="27889" cy="27889"/>
          </a:xfrm>
          <a:prstGeom prst="ellipse">
            <a:avLst/>
          </a:prstGeom>
          <a:solidFill>
            <a:srgbClr val="BFE6FF">
              <a:alpha val="3058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24"/>
          <p:cNvSpPr/>
          <p:nvPr/>
        </p:nvSpPr>
        <p:spPr>
          <a:xfrm>
            <a:off x="4897222" y="3743001"/>
            <a:ext cx="16401" cy="16401"/>
          </a:xfrm>
          <a:prstGeom prst="ellipse">
            <a:avLst/>
          </a:prstGeom>
          <a:solidFill>
            <a:srgbClr val="BFE6FF">
              <a:alpha val="1333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24"/>
          <p:cNvSpPr/>
          <p:nvPr/>
        </p:nvSpPr>
        <p:spPr>
          <a:xfrm>
            <a:off x="5870528" y="4993298"/>
            <a:ext cx="13984" cy="13984"/>
          </a:xfrm>
          <a:prstGeom prst="ellipse">
            <a:avLst/>
          </a:prstGeom>
          <a:solidFill>
            <a:srgbClr val="BFE6FF">
              <a:alpha val="1764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24"/>
          <p:cNvSpPr/>
          <p:nvPr/>
        </p:nvSpPr>
        <p:spPr>
          <a:xfrm>
            <a:off x="411480" y="288036"/>
            <a:ext cx="6172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C6FF"/>
              </a:buClr>
              <a:buSzPts val="900"/>
              <a:buFont typeface="Courier New"/>
              <a:buNone/>
            </a:pPr>
            <a:r>
              <a:rPr b="1" i="0" lang="it" sz="900" u="none" cap="none" strike="noStrike">
                <a:solidFill>
                  <a:srgbClr val="2FC6FF"/>
                </a:solidFill>
                <a:latin typeface="Courier New"/>
                <a:ea typeface="Courier New"/>
                <a:cs typeface="Courier New"/>
                <a:sym typeface="Courier New"/>
              </a:rPr>
              <a:t>04 — ENVIRONMENT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24"/>
          <p:cNvSpPr/>
          <p:nvPr/>
        </p:nvSpPr>
        <p:spPr>
          <a:xfrm>
            <a:off x="411480" y="466344"/>
            <a:ext cx="72694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2100"/>
              <a:buFont typeface="Courier New"/>
              <a:buNone/>
            </a:pPr>
            <a:r>
              <a:rPr b="1" i="0" lang="it" sz="2100" u="none" cap="none" strike="noStrike">
                <a:solidFill>
                  <a:srgbClr val="EAF6FF"/>
                </a:solidFill>
                <a:latin typeface="Courier New"/>
                <a:ea typeface="Courier New"/>
                <a:cs typeface="Courier New"/>
                <a:sym typeface="Courier New"/>
              </a:rPr>
              <a:t>The Command Vessel &amp; The Black Hole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24"/>
          <p:cNvSpPr/>
          <p:nvPr/>
        </p:nvSpPr>
        <p:spPr>
          <a:xfrm>
            <a:off x="8197367" y="288036"/>
            <a:ext cx="534924" cy="534924"/>
          </a:xfrm>
          <a:prstGeom prst="ellipse">
            <a:avLst/>
          </a:prstGeom>
          <a:solidFill>
            <a:srgbClr val="2FC6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15" name="Google Shape;81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7669" y="41833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24"/>
          <p:cNvSpPr/>
          <p:nvPr/>
        </p:nvSpPr>
        <p:spPr>
          <a:xfrm>
            <a:off x="411480" y="4855464"/>
            <a:ext cx="2743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700"/>
              <a:buFont typeface="Courier New"/>
              <a:buNone/>
            </a:pPr>
            <a:r>
              <a:rPr b="0" i="0" lang="it" sz="700" u="none" cap="none" strike="noStrike">
                <a:solidFill>
                  <a:srgbClr val="93B3D6"/>
                </a:solidFill>
                <a:latin typeface="Courier New"/>
                <a:ea typeface="Courier New"/>
                <a:cs typeface="Courier New"/>
                <a:sym typeface="Courier New"/>
              </a:rPr>
              <a:t>LUMEN DRIFT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24"/>
          <p:cNvSpPr/>
          <p:nvPr/>
        </p:nvSpPr>
        <p:spPr>
          <a:xfrm>
            <a:off x="8320811" y="4855464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700"/>
              <a:buFont typeface="Courier New"/>
              <a:buNone/>
            </a:pPr>
            <a:r>
              <a:rPr b="0" i="0" lang="it" sz="700" u="none" cap="none" strike="noStrike">
                <a:solidFill>
                  <a:srgbClr val="93B3D6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4"/>
          <p:cNvSpPr/>
          <p:nvPr/>
        </p:nvSpPr>
        <p:spPr>
          <a:xfrm>
            <a:off x="411480" y="1110996"/>
            <a:ext cx="342900" cy="342900"/>
          </a:xfrm>
          <a:prstGeom prst="ellipse">
            <a:avLst/>
          </a:prstGeom>
          <a:solidFill>
            <a:srgbClr val="2FC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19" name="Google Shape;81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7205" y="1196721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24"/>
          <p:cNvSpPr/>
          <p:nvPr/>
        </p:nvSpPr>
        <p:spPr>
          <a:xfrm>
            <a:off x="905256" y="1076706"/>
            <a:ext cx="344957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The Command Vessel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24"/>
          <p:cNvSpPr/>
          <p:nvPr/>
        </p:nvSpPr>
        <p:spPr>
          <a:xfrm>
            <a:off x="905256" y="1296162"/>
            <a:ext cx="344957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The visible hull is a hierarchical assembly of Three.js group objects composed with local transformations — a convincing massive spaceship without heavy imported meshes.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4"/>
          <p:cNvSpPr/>
          <p:nvPr/>
        </p:nvSpPr>
        <p:spPr>
          <a:xfrm>
            <a:off x="4869180" y="1110996"/>
            <a:ext cx="342900" cy="342900"/>
          </a:xfrm>
          <a:prstGeom prst="ellipse">
            <a:avLst/>
          </a:prstGeom>
          <a:solidFill>
            <a:srgbClr val="FFB23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23" name="Google Shape;82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54905" y="1196721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24"/>
          <p:cNvSpPr/>
          <p:nvPr/>
        </p:nvSpPr>
        <p:spPr>
          <a:xfrm>
            <a:off x="5362956" y="1076706"/>
            <a:ext cx="338099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The Black Hole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24"/>
          <p:cNvSpPr/>
          <p:nvPr/>
        </p:nvSpPr>
        <p:spPr>
          <a:xfrm>
            <a:off x="5362956" y="1296162"/>
            <a:ext cx="338099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The accretion disk is a THREE.BufferGeometry particle system: thousands of vertices whose position and color are computed each frame via trigonometric functions, simulating matter spiraling toward the event horizon.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6" name="Google Shape;826;p24" title="sspaceship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2613" y="2639535"/>
            <a:ext cx="4489648" cy="1104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7" name="Google Shape;827;p24" title="blackhole+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42963" y="2074650"/>
            <a:ext cx="3649599" cy="2413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B16"/>
        </a:solidFill>
      </p:bgPr>
    </p:bg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25"/>
          <p:cNvSpPr/>
          <p:nvPr/>
        </p:nvSpPr>
        <p:spPr>
          <a:xfrm>
            <a:off x="5979236" y="3182377"/>
            <a:ext cx="25404" cy="25404"/>
          </a:xfrm>
          <a:prstGeom prst="ellipse">
            <a:avLst/>
          </a:prstGeom>
          <a:solidFill>
            <a:srgbClr val="BFE6FF">
              <a:alpha val="2941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25"/>
          <p:cNvSpPr/>
          <p:nvPr/>
        </p:nvSpPr>
        <p:spPr>
          <a:xfrm>
            <a:off x="1948604" y="4739231"/>
            <a:ext cx="13199" cy="13199"/>
          </a:xfrm>
          <a:prstGeom prst="ellipse">
            <a:avLst/>
          </a:prstGeom>
          <a:solidFill>
            <a:srgbClr val="BFE6FF">
              <a:alpha val="3843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25"/>
          <p:cNvSpPr/>
          <p:nvPr/>
        </p:nvSpPr>
        <p:spPr>
          <a:xfrm>
            <a:off x="3231922" y="2638350"/>
            <a:ext cx="32011" cy="32011"/>
          </a:xfrm>
          <a:prstGeom prst="ellipse">
            <a:avLst/>
          </a:prstGeom>
          <a:solidFill>
            <a:srgbClr val="BFE6FF">
              <a:alpha val="2431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25"/>
          <p:cNvSpPr/>
          <p:nvPr/>
        </p:nvSpPr>
        <p:spPr>
          <a:xfrm>
            <a:off x="2080382" y="4304411"/>
            <a:ext cx="26176" cy="26176"/>
          </a:xfrm>
          <a:prstGeom prst="ellipse">
            <a:avLst/>
          </a:prstGeom>
          <a:solidFill>
            <a:srgbClr val="BFE6FF">
              <a:alpha val="3490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25"/>
          <p:cNvSpPr/>
          <p:nvPr/>
        </p:nvSpPr>
        <p:spPr>
          <a:xfrm>
            <a:off x="775113" y="2608770"/>
            <a:ext cx="31634" cy="31634"/>
          </a:xfrm>
          <a:prstGeom prst="ellipse">
            <a:avLst/>
          </a:prstGeom>
          <a:solidFill>
            <a:srgbClr val="BFE6FF">
              <a:alpha val="1137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25"/>
          <p:cNvSpPr/>
          <p:nvPr/>
        </p:nvSpPr>
        <p:spPr>
          <a:xfrm>
            <a:off x="187504" y="3593213"/>
            <a:ext cx="13882" cy="13882"/>
          </a:xfrm>
          <a:prstGeom prst="ellipse">
            <a:avLst/>
          </a:prstGeom>
          <a:solidFill>
            <a:srgbClr val="BFE6FF">
              <a:alpha val="2235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25"/>
          <p:cNvSpPr/>
          <p:nvPr/>
        </p:nvSpPr>
        <p:spPr>
          <a:xfrm>
            <a:off x="322709" y="2618019"/>
            <a:ext cx="22158" cy="22158"/>
          </a:xfrm>
          <a:prstGeom prst="ellipse">
            <a:avLst/>
          </a:prstGeom>
          <a:solidFill>
            <a:srgbClr val="BFE6FF">
              <a:alpha val="1803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25"/>
          <p:cNvSpPr/>
          <p:nvPr/>
        </p:nvSpPr>
        <p:spPr>
          <a:xfrm>
            <a:off x="7312151" y="2951424"/>
            <a:ext cx="22363" cy="22363"/>
          </a:xfrm>
          <a:prstGeom prst="ellipse">
            <a:avLst/>
          </a:prstGeom>
          <a:solidFill>
            <a:srgbClr val="BFE6FF">
              <a:alpha val="2666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25"/>
          <p:cNvSpPr/>
          <p:nvPr/>
        </p:nvSpPr>
        <p:spPr>
          <a:xfrm>
            <a:off x="4852841" y="4481243"/>
            <a:ext cx="31098" cy="31098"/>
          </a:xfrm>
          <a:prstGeom prst="ellipse">
            <a:avLst/>
          </a:prstGeom>
          <a:solidFill>
            <a:srgbClr val="BFE6FF">
              <a:alpha val="4392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25"/>
          <p:cNvSpPr/>
          <p:nvPr/>
        </p:nvSpPr>
        <p:spPr>
          <a:xfrm>
            <a:off x="5683246" y="1273227"/>
            <a:ext cx="29258" cy="29258"/>
          </a:xfrm>
          <a:prstGeom prst="ellipse">
            <a:avLst/>
          </a:prstGeom>
          <a:solidFill>
            <a:srgbClr val="BFE6FF">
              <a:alpha val="3058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25"/>
          <p:cNvSpPr/>
          <p:nvPr/>
        </p:nvSpPr>
        <p:spPr>
          <a:xfrm>
            <a:off x="1325192" y="195440"/>
            <a:ext cx="30779" cy="30779"/>
          </a:xfrm>
          <a:prstGeom prst="ellipse">
            <a:avLst/>
          </a:prstGeom>
          <a:solidFill>
            <a:srgbClr val="BFE6FF">
              <a:alpha val="3176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25"/>
          <p:cNvSpPr/>
          <p:nvPr/>
        </p:nvSpPr>
        <p:spPr>
          <a:xfrm>
            <a:off x="5110428" y="4301379"/>
            <a:ext cx="32307" cy="32307"/>
          </a:xfrm>
          <a:prstGeom prst="ellipse">
            <a:avLst/>
          </a:prstGeom>
          <a:solidFill>
            <a:srgbClr val="BFE6FF">
              <a:alpha val="2078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25"/>
          <p:cNvSpPr/>
          <p:nvPr/>
        </p:nvSpPr>
        <p:spPr>
          <a:xfrm>
            <a:off x="5361047" y="805107"/>
            <a:ext cx="23539" cy="23539"/>
          </a:xfrm>
          <a:prstGeom prst="ellipse">
            <a:avLst/>
          </a:prstGeom>
          <a:solidFill>
            <a:srgbClr val="BFE6FF">
              <a:alpha val="3176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25"/>
          <p:cNvSpPr/>
          <p:nvPr/>
        </p:nvSpPr>
        <p:spPr>
          <a:xfrm>
            <a:off x="7674382" y="2128524"/>
            <a:ext cx="16643" cy="16642"/>
          </a:xfrm>
          <a:prstGeom prst="ellipse">
            <a:avLst/>
          </a:prstGeom>
          <a:solidFill>
            <a:srgbClr val="BFE6FF">
              <a:alpha val="3960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25"/>
          <p:cNvSpPr/>
          <p:nvPr/>
        </p:nvSpPr>
        <p:spPr>
          <a:xfrm>
            <a:off x="5623616" y="4618604"/>
            <a:ext cx="16535" cy="16535"/>
          </a:xfrm>
          <a:prstGeom prst="ellipse">
            <a:avLst/>
          </a:prstGeom>
          <a:solidFill>
            <a:srgbClr val="BFE6FF">
              <a:alpha val="2274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25"/>
          <p:cNvSpPr/>
          <p:nvPr/>
        </p:nvSpPr>
        <p:spPr>
          <a:xfrm>
            <a:off x="7768316" y="1949512"/>
            <a:ext cx="30801" cy="30801"/>
          </a:xfrm>
          <a:prstGeom prst="ellipse">
            <a:avLst/>
          </a:prstGeom>
          <a:solidFill>
            <a:srgbClr val="BFE6FF">
              <a:alpha val="2980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25"/>
          <p:cNvSpPr/>
          <p:nvPr/>
        </p:nvSpPr>
        <p:spPr>
          <a:xfrm>
            <a:off x="5475464" y="2394884"/>
            <a:ext cx="31060" cy="31060"/>
          </a:xfrm>
          <a:prstGeom prst="ellipse">
            <a:avLst/>
          </a:prstGeom>
          <a:solidFill>
            <a:srgbClr val="BFE6FF">
              <a:alpha val="2549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25"/>
          <p:cNvSpPr/>
          <p:nvPr/>
        </p:nvSpPr>
        <p:spPr>
          <a:xfrm>
            <a:off x="7421787" y="4620945"/>
            <a:ext cx="16919" cy="16919"/>
          </a:xfrm>
          <a:prstGeom prst="ellipse">
            <a:avLst/>
          </a:prstGeom>
          <a:solidFill>
            <a:srgbClr val="BFE6FF">
              <a:alpha val="4470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25"/>
          <p:cNvSpPr/>
          <p:nvPr/>
        </p:nvSpPr>
        <p:spPr>
          <a:xfrm>
            <a:off x="3944804" y="2404977"/>
            <a:ext cx="32365" cy="32365"/>
          </a:xfrm>
          <a:prstGeom prst="ellipse">
            <a:avLst/>
          </a:prstGeom>
          <a:solidFill>
            <a:srgbClr val="BFE6FF">
              <a:alpha val="2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25"/>
          <p:cNvSpPr/>
          <p:nvPr/>
        </p:nvSpPr>
        <p:spPr>
          <a:xfrm>
            <a:off x="602486" y="4293063"/>
            <a:ext cx="16881" cy="16881"/>
          </a:xfrm>
          <a:prstGeom prst="ellipse">
            <a:avLst/>
          </a:prstGeom>
          <a:solidFill>
            <a:srgbClr val="BFE6FF">
              <a:alpha val="4274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25"/>
          <p:cNvSpPr/>
          <p:nvPr/>
        </p:nvSpPr>
        <p:spPr>
          <a:xfrm>
            <a:off x="4860263" y="5079709"/>
            <a:ext cx="24754" cy="24754"/>
          </a:xfrm>
          <a:prstGeom prst="ellipse">
            <a:avLst/>
          </a:prstGeom>
          <a:solidFill>
            <a:srgbClr val="BFE6FF">
              <a:alpha val="3176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25"/>
          <p:cNvSpPr/>
          <p:nvPr/>
        </p:nvSpPr>
        <p:spPr>
          <a:xfrm>
            <a:off x="1028359" y="1611634"/>
            <a:ext cx="26547" cy="26547"/>
          </a:xfrm>
          <a:prstGeom prst="ellipse">
            <a:avLst/>
          </a:prstGeom>
          <a:solidFill>
            <a:srgbClr val="BFE6FF">
              <a:alpha val="3921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25"/>
          <p:cNvSpPr/>
          <p:nvPr/>
        </p:nvSpPr>
        <p:spPr>
          <a:xfrm>
            <a:off x="7446878" y="1957810"/>
            <a:ext cx="26120" cy="26119"/>
          </a:xfrm>
          <a:prstGeom prst="ellipse">
            <a:avLst/>
          </a:prstGeom>
          <a:solidFill>
            <a:srgbClr val="BFE6FF">
              <a:alpha val="3294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25"/>
          <p:cNvSpPr/>
          <p:nvPr/>
        </p:nvSpPr>
        <p:spPr>
          <a:xfrm>
            <a:off x="6171383" y="3233843"/>
            <a:ext cx="24650" cy="24650"/>
          </a:xfrm>
          <a:prstGeom prst="ellipse">
            <a:avLst/>
          </a:prstGeom>
          <a:solidFill>
            <a:srgbClr val="BFE6FF">
              <a:alpha val="1333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25"/>
          <p:cNvSpPr/>
          <p:nvPr/>
        </p:nvSpPr>
        <p:spPr>
          <a:xfrm>
            <a:off x="3194349" y="157277"/>
            <a:ext cx="15362" cy="15362"/>
          </a:xfrm>
          <a:prstGeom prst="ellipse">
            <a:avLst/>
          </a:prstGeom>
          <a:solidFill>
            <a:srgbClr val="BFE6FF">
              <a:alpha val="1411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25"/>
          <p:cNvSpPr/>
          <p:nvPr/>
        </p:nvSpPr>
        <p:spPr>
          <a:xfrm>
            <a:off x="5339187" y="965497"/>
            <a:ext cx="31822" cy="31823"/>
          </a:xfrm>
          <a:prstGeom prst="ellipse">
            <a:avLst/>
          </a:prstGeom>
          <a:solidFill>
            <a:srgbClr val="BFE6FF">
              <a:alpha val="4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25"/>
          <p:cNvSpPr/>
          <p:nvPr/>
        </p:nvSpPr>
        <p:spPr>
          <a:xfrm>
            <a:off x="97802" y="5063486"/>
            <a:ext cx="16384" cy="16385"/>
          </a:xfrm>
          <a:prstGeom prst="ellipse">
            <a:avLst/>
          </a:prstGeom>
          <a:solidFill>
            <a:srgbClr val="BFE6FF">
              <a:alpha val="1450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25"/>
          <p:cNvSpPr/>
          <p:nvPr/>
        </p:nvSpPr>
        <p:spPr>
          <a:xfrm>
            <a:off x="8052059" y="5013011"/>
            <a:ext cx="14351" cy="14350"/>
          </a:xfrm>
          <a:prstGeom prst="ellipse">
            <a:avLst/>
          </a:prstGeom>
          <a:solidFill>
            <a:srgbClr val="BFE6FF">
              <a:alpha val="3686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25"/>
          <p:cNvSpPr/>
          <p:nvPr/>
        </p:nvSpPr>
        <p:spPr>
          <a:xfrm>
            <a:off x="2567210" y="1059581"/>
            <a:ext cx="18292" cy="18292"/>
          </a:xfrm>
          <a:prstGeom prst="ellipse">
            <a:avLst/>
          </a:prstGeom>
          <a:solidFill>
            <a:srgbClr val="BFE6FF">
              <a:alpha val="2470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25"/>
          <p:cNvSpPr/>
          <p:nvPr/>
        </p:nvSpPr>
        <p:spPr>
          <a:xfrm>
            <a:off x="3525025" y="1668467"/>
            <a:ext cx="18891" cy="18891"/>
          </a:xfrm>
          <a:prstGeom prst="ellipse">
            <a:avLst/>
          </a:prstGeom>
          <a:solidFill>
            <a:srgbClr val="BFE6FF">
              <a:alpha val="1098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25"/>
          <p:cNvSpPr/>
          <p:nvPr/>
        </p:nvSpPr>
        <p:spPr>
          <a:xfrm>
            <a:off x="7905520" y="1082841"/>
            <a:ext cx="33382" cy="33382"/>
          </a:xfrm>
          <a:prstGeom prst="ellipse">
            <a:avLst/>
          </a:prstGeom>
          <a:solidFill>
            <a:srgbClr val="BFE6FF">
              <a:alpha val="1411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25"/>
          <p:cNvSpPr/>
          <p:nvPr/>
        </p:nvSpPr>
        <p:spPr>
          <a:xfrm>
            <a:off x="78683" y="625283"/>
            <a:ext cx="23450" cy="23450"/>
          </a:xfrm>
          <a:prstGeom prst="ellipse">
            <a:avLst/>
          </a:prstGeom>
          <a:solidFill>
            <a:srgbClr val="BFE6FF">
              <a:alpha val="3372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25"/>
          <p:cNvSpPr/>
          <p:nvPr/>
        </p:nvSpPr>
        <p:spPr>
          <a:xfrm>
            <a:off x="7538540" y="2491410"/>
            <a:ext cx="20546" cy="20546"/>
          </a:xfrm>
          <a:prstGeom prst="ellipse">
            <a:avLst/>
          </a:prstGeom>
          <a:solidFill>
            <a:srgbClr val="BFE6FF">
              <a:alpha val="3058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25"/>
          <p:cNvSpPr/>
          <p:nvPr/>
        </p:nvSpPr>
        <p:spPr>
          <a:xfrm>
            <a:off x="5386987" y="2329559"/>
            <a:ext cx="18922" cy="18922"/>
          </a:xfrm>
          <a:prstGeom prst="ellipse">
            <a:avLst/>
          </a:prstGeom>
          <a:solidFill>
            <a:srgbClr val="BFE6FF">
              <a:alpha val="4078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25"/>
          <p:cNvSpPr/>
          <p:nvPr/>
        </p:nvSpPr>
        <p:spPr>
          <a:xfrm>
            <a:off x="6911599" y="4587649"/>
            <a:ext cx="24762" cy="24762"/>
          </a:xfrm>
          <a:prstGeom prst="ellipse">
            <a:avLst/>
          </a:prstGeom>
          <a:solidFill>
            <a:srgbClr val="BFE6FF">
              <a:alpha val="1254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25"/>
          <p:cNvSpPr/>
          <p:nvPr/>
        </p:nvSpPr>
        <p:spPr>
          <a:xfrm>
            <a:off x="5839116" y="4398902"/>
            <a:ext cx="21059" cy="21059"/>
          </a:xfrm>
          <a:prstGeom prst="ellipse">
            <a:avLst/>
          </a:prstGeom>
          <a:solidFill>
            <a:srgbClr val="BFE6FF">
              <a:alpha val="1058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25"/>
          <p:cNvSpPr/>
          <p:nvPr/>
        </p:nvSpPr>
        <p:spPr>
          <a:xfrm>
            <a:off x="74034" y="3362882"/>
            <a:ext cx="19742" cy="19742"/>
          </a:xfrm>
          <a:prstGeom prst="ellipse">
            <a:avLst/>
          </a:prstGeom>
          <a:solidFill>
            <a:srgbClr val="BFE6FF">
              <a:alpha val="1725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25"/>
          <p:cNvSpPr/>
          <p:nvPr/>
        </p:nvSpPr>
        <p:spPr>
          <a:xfrm>
            <a:off x="2343775" y="2497471"/>
            <a:ext cx="30156" cy="30156"/>
          </a:xfrm>
          <a:prstGeom prst="ellipse">
            <a:avLst/>
          </a:prstGeom>
          <a:solidFill>
            <a:srgbClr val="BFE6FF">
              <a:alpha val="2666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25"/>
          <p:cNvSpPr/>
          <p:nvPr/>
        </p:nvSpPr>
        <p:spPr>
          <a:xfrm>
            <a:off x="3645139" y="1615628"/>
            <a:ext cx="29551" cy="29551"/>
          </a:xfrm>
          <a:prstGeom prst="ellipse">
            <a:avLst/>
          </a:prstGeom>
          <a:solidFill>
            <a:srgbClr val="BFE6FF">
              <a:alpha val="1254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25"/>
          <p:cNvSpPr/>
          <p:nvPr/>
        </p:nvSpPr>
        <p:spPr>
          <a:xfrm>
            <a:off x="7808065" y="2724736"/>
            <a:ext cx="20563" cy="20563"/>
          </a:xfrm>
          <a:prstGeom prst="ellipse">
            <a:avLst/>
          </a:prstGeom>
          <a:solidFill>
            <a:srgbClr val="BFE6FF">
              <a:alpha val="1764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25"/>
          <p:cNvSpPr/>
          <p:nvPr/>
        </p:nvSpPr>
        <p:spPr>
          <a:xfrm>
            <a:off x="2510968" y="51994"/>
            <a:ext cx="27002" cy="27002"/>
          </a:xfrm>
          <a:prstGeom prst="ellipse">
            <a:avLst/>
          </a:prstGeom>
          <a:solidFill>
            <a:srgbClr val="BFE6FF">
              <a:alpha val="2039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25"/>
          <p:cNvSpPr/>
          <p:nvPr/>
        </p:nvSpPr>
        <p:spPr>
          <a:xfrm>
            <a:off x="411480" y="288036"/>
            <a:ext cx="6172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C6FF"/>
              </a:buClr>
              <a:buSzPts val="900"/>
              <a:buFont typeface="Courier New"/>
              <a:buNone/>
            </a:pPr>
            <a:r>
              <a:rPr b="1" i="0" lang="it" sz="900" u="none" cap="none" strike="noStrike">
                <a:solidFill>
                  <a:srgbClr val="2FC6FF"/>
                </a:solidFill>
                <a:latin typeface="Courier New"/>
                <a:ea typeface="Courier New"/>
                <a:cs typeface="Courier New"/>
                <a:sym typeface="Courier New"/>
              </a:rPr>
              <a:t>04 — ENVIRONMENT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25"/>
          <p:cNvSpPr/>
          <p:nvPr/>
        </p:nvSpPr>
        <p:spPr>
          <a:xfrm>
            <a:off x="411480" y="466344"/>
            <a:ext cx="72694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2100"/>
              <a:buFont typeface="Courier New"/>
              <a:buNone/>
            </a:pPr>
            <a:r>
              <a:rPr b="1" i="0" lang="it" sz="2100" u="none" cap="none" strike="noStrike">
                <a:solidFill>
                  <a:srgbClr val="EAF6FF"/>
                </a:solidFill>
                <a:latin typeface="Courier New"/>
                <a:ea typeface="Courier New"/>
                <a:cs typeface="Courier New"/>
                <a:sym typeface="Courier New"/>
              </a:rPr>
              <a:t>Galactic Clusters &amp; Sci-Fi Furnishings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25"/>
          <p:cNvSpPr/>
          <p:nvPr/>
        </p:nvSpPr>
        <p:spPr>
          <a:xfrm>
            <a:off x="8197367" y="288036"/>
            <a:ext cx="534924" cy="534924"/>
          </a:xfrm>
          <a:prstGeom prst="ellipse">
            <a:avLst/>
          </a:prstGeom>
          <a:solidFill>
            <a:srgbClr val="2FC6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77" name="Google Shape;87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7669" y="41833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25"/>
          <p:cNvSpPr/>
          <p:nvPr/>
        </p:nvSpPr>
        <p:spPr>
          <a:xfrm>
            <a:off x="411480" y="4855464"/>
            <a:ext cx="2743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700"/>
              <a:buFont typeface="Courier New"/>
              <a:buNone/>
            </a:pPr>
            <a:r>
              <a:rPr b="0" i="0" lang="it" sz="700" u="none" cap="none" strike="noStrike">
                <a:solidFill>
                  <a:srgbClr val="93B3D6"/>
                </a:solidFill>
                <a:latin typeface="Courier New"/>
                <a:ea typeface="Courier New"/>
                <a:cs typeface="Courier New"/>
                <a:sym typeface="Courier New"/>
              </a:rPr>
              <a:t>LUMEN DRIFT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25"/>
          <p:cNvSpPr/>
          <p:nvPr/>
        </p:nvSpPr>
        <p:spPr>
          <a:xfrm>
            <a:off x="8320811" y="4855464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700"/>
              <a:buFont typeface="Courier New"/>
              <a:buNone/>
            </a:pPr>
            <a:r>
              <a:rPr b="0" i="0" lang="it" sz="700" u="none" cap="none" strike="noStrike">
                <a:solidFill>
                  <a:srgbClr val="93B3D6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25"/>
          <p:cNvSpPr/>
          <p:nvPr/>
        </p:nvSpPr>
        <p:spPr>
          <a:xfrm>
            <a:off x="411480" y="1110996"/>
            <a:ext cx="34290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238"/>
              </a:buClr>
              <a:buSzPts val="1000"/>
              <a:buFont typeface="Calibri"/>
              <a:buNone/>
            </a:pPr>
            <a:r>
              <a:rPr b="1" i="0" lang="it" sz="1000" u="none" cap="none" strike="noStrike">
                <a:solidFill>
                  <a:srgbClr val="FFB238"/>
                </a:solidFill>
                <a:latin typeface="Calibri"/>
                <a:ea typeface="Calibri"/>
                <a:cs typeface="Calibri"/>
                <a:sym typeface="Calibri"/>
              </a:rPr>
              <a:t>Galactic Clusters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25"/>
          <p:cNvSpPr/>
          <p:nvPr/>
        </p:nvSpPr>
        <p:spPr>
          <a:xfrm>
            <a:off x="411480" y="1351026"/>
            <a:ext cx="38404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Each background galaxy is a point-based BufferGeometry cloud of 15,000 particles arranged on a spiral, with interpolated size and color gradients. Treated as particle clouds rather than monolithic meshes, the engine culls off-screen points and manages thousands of entities with minimal GPU pressure.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25"/>
          <p:cNvSpPr/>
          <p:nvPr/>
        </p:nvSpPr>
        <p:spPr>
          <a:xfrm>
            <a:off x="4834890" y="1110996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238"/>
              </a:buClr>
              <a:buSzPts val="1000"/>
              <a:buFont typeface="Calibri"/>
              <a:buNone/>
            </a:pPr>
            <a:r>
              <a:rPr b="1" i="0" lang="it" sz="1000" u="none" cap="none" strike="noStrike">
                <a:solidFill>
                  <a:srgbClr val="FFB238"/>
                </a:solidFill>
                <a:latin typeface="Calibri"/>
                <a:ea typeface="Calibri"/>
                <a:cs typeface="Calibri"/>
                <a:sym typeface="Calibri"/>
              </a:rPr>
              <a:t>Sci-Fi Industrial Furnishings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25"/>
          <p:cNvSpPr/>
          <p:nvPr/>
        </p:nvSpPr>
        <p:spPr>
          <a:xfrm>
            <a:off x="4834890" y="1385316"/>
            <a:ext cx="1906524" cy="1062990"/>
          </a:xfrm>
          <a:prstGeom prst="roundRect">
            <a:avLst>
              <a:gd fmla="val 5161" name="adj"/>
            </a:avLst>
          </a:prstGeom>
          <a:solidFill>
            <a:srgbClr val="0E1830"/>
          </a:solidFill>
          <a:ln>
            <a:noFill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25"/>
          <p:cNvSpPr/>
          <p:nvPr/>
        </p:nvSpPr>
        <p:spPr>
          <a:xfrm>
            <a:off x="4985766" y="1536192"/>
            <a:ext cx="315468" cy="315468"/>
          </a:xfrm>
          <a:prstGeom prst="ellipse">
            <a:avLst/>
          </a:prstGeom>
          <a:solidFill>
            <a:srgbClr val="2FC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85" name="Google Shape;88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64633" y="1615059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25"/>
          <p:cNvSpPr/>
          <p:nvPr/>
        </p:nvSpPr>
        <p:spPr>
          <a:xfrm>
            <a:off x="4985766" y="1933956"/>
            <a:ext cx="160477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000"/>
              <a:buFont typeface="Calibri"/>
              <a:buNone/>
            </a:pPr>
            <a:r>
              <a:rPr b="1" i="0" lang="it" sz="10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Cryo-pods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25"/>
          <p:cNvSpPr/>
          <p:nvPr/>
        </p:nvSpPr>
        <p:spPr>
          <a:xfrm>
            <a:off x="4985766" y="2221992"/>
            <a:ext cx="1604772" cy="10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Nested geometry simulating glass reflections.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25"/>
          <p:cNvSpPr/>
          <p:nvPr/>
        </p:nvSpPr>
        <p:spPr>
          <a:xfrm>
            <a:off x="6864858" y="1385316"/>
            <a:ext cx="1906524" cy="1062990"/>
          </a:xfrm>
          <a:prstGeom prst="roundRect">
            <a:avLst>
              <a:gd fmla="val 5161" name="adj"/>
            </a:avLst>
          </a:prstGeom>
          <a:solidFill>
            <a:srgbClr val="0E1830"/>
          </a:solidFill>
          <a:ln>
            <a:noFill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25"/>
          <p:cNvSpPr/>
          <p:nvPr/>
        </p:nvSpPr>
        <p:spPr>
          <a:xfrm>
            <a:off x="7015734" y="1536192"/>
            <a:ext cx="315468" cy="315468"/>
          </a:xfrm>
          <a:prstGeom prst="ellipse">
            <a:avLst/>
          </a:prstGeom>
          <a:solidFill>
            <a:srgbClr val="FFB23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90" name="Google Shape;89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94601" y="1615059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p25"/>
          <p:cNvSpPr/>
          <p:nvPr/>
        </p:nvSpPr>
        <p:spPr>
          <a:xfrm>
            <a:off x="7015734" y="1933956"/>
            <a:ext cx="160477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000"/>
              <a:buFont typeface="Calibri"/>
              <a:buNone/>
            </a:pPr>
            <a:r>
              <a:rPr b="1" i="0" lang="it" sz="10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Mainframe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25"/>
          <p:cNvSpPr/>
          <p:nvPr/>
        </p:nvSpPr>
        <p:spPr>
          <a:xfrm>
            <a:off x="7015734" y="2221992"/>
            <a:ext cx="1604772" cy="10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Procedural hardware with periodic LED blinking.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25"/>
          <p:cNvSpPr/>
          <p:nvPr/>
        </p:nvSpPr>
        <p:spPr>
          <a:xfrm>
            <a:off x="4834890" y="2558034"/>
            <a:ext cx="1906524" cy="1062990"/>
          </a:xfrm>
          <a:prstGeom prst="roundRect">
            <a:avLst>
              <a:gd fmla="val 5161" name="adj"/>
            </a:avLst>
          </a:prstGeom>
          <a:solidFill>
            <a:srgbClr val="0E1830"/>
          </a:solidFill>
          <a:ln>
            <a:noFill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25"/>
          <p:cNvSpPr/>
          <p:nvPr/>
        </p:nvSpPr>
        <p:spPr>
          <a:xfrm>
            <a:off x="4985766" y="2708910"/>
            <a:ext cx="315468" cy="315468"/>
          </a:xfrm>
          <a:prstGeom prst="ellipse">
            <a:avLst/>
          </a:prstGeom>
          <a:solidFill>
            <a:srgbClr val="2FC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95" name="Google Shape;895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64633" y="2787777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p25"/>
          <p:cNvSpPr/>
          <p:nvPr/>
        </p:nvSpPr>
        <p:spPr>
          <a:xfrm>
            <a:off x="4985766" y="3106674"/>
            <a:ext cx="160477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000"/>
              <a:buFont typeface="Calibri"/>
              <a:buNone/>
            </a:pPr>
            <a:r>
              <a:rPr b="1" i="0" lang="it" sz="10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Reactor Pedestal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25"/>
          <p:cNvSpPr/>
          <p:nvPr/>
        </p:nvSpPr>
        <p:spPr>
          <a:xfrm>
            <a:off x="4985766" y="3394710"/>
            <a:ext cx="1604772" cy="10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Cylinder &amp; torus altar for the reactor.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25"/>
          <p:cNvSpPr/>
          <p:nvPr/>
        </p:nvSpPr>
        <p:spPr>
          <a:xfrm>
            <a:off x="6864858" y="2558034"/>
            <a:ext cx="1906524" cy="1062990"/>
          </a:xfrm>
          <a:prstGeom prst="roundRect">
            <a:avLst>
              <a:gd fmla="val 5161" name="adj"/>
            </a:avLst>
          </a:prstGeom>
          <a:solidFill>
            <a:srgbClr val="0E1830"/>
          </a:solidFill>
          <a:ln>
            <a:noFill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25"/>
          <p:cNvSpPr/>
          <p:nvPr/>
        </p:nvSpPr>
        <p:spPr>
          <a:xfrm>
            <a:off x="7015734" y="2708910"/>
            <a:ext cx="315468" cy="315468"/>
          </a:xfrm>
          <a:prstGeom prst="ellipse">
            <a:avLst/>
          </a:prstGeom>
          <a:solidFill>
            <a:srgbClr val="FFB23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00" name="Google Shape;900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94601" y="2787777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25"/>
          <p:cNvSpPr/>
          <p:nvPr/>
        </p:nvSpPr>
        <p:spPr>
          <a:xfrm>
            <a:off x="7015734" y="3106674"/>
            <a:ext cx="160477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000"/>
              <a:buFont typeface="Calibri"/>
              <a:buNone/>
            </a:pPr>
            <a:r>
              <a:rPr b="1" i="0" lang="it" sz="10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Radar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25"/>
          <p:cNvSpPr/>
          <p:nvPr/>
        </p:nvSpPr>
        <p:spPr>
          <a:xfrm>
            <a:off x="7015734" y="3394710"/>
            <a:ext cx="1604772" cy="10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Cylindrical primitives with a scanning blip.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25"/>
          <p:cNvSpPr/>
          <p:nvPr/>
        </p:nvSpPr>
        <p:spPr>
          <a:xfrm>
            <a:off x="4834890" y="3730752"/>
            <a:ext cx="1906524" cy="1062990"/>
          </a:xfrm>
          <a:prstGeom prst="roundRect">
            <a:avLst>
              <a:gd fmla="val 5161" name="adj"/>
            </a:avLst>
          </a:prstGeom>
          <a:solidFill>
            <a:srgbClr val="0E1830"/>
          </a:solidFill>
          <a:ln>
            <a:noFill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25"/>
          <p:cNvSpPr/>
          <p:nvPr/>
        </p:nvSpPr>
        <p:spPr>
          <a:xfrm>
            <a:off x="4985766" y="3881628"/>
            <a:ext cx="315468" cy="315468"/>
          </a:xfrm>
          <a:prstGeom prst="ellipse">
            <a:avLst/>
          </a:prstGeom>
          <a:solidFill>
            <a:srgbClr val="2FC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05" name="Google Shape;905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64633" y="3960495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p25"/>
          <p:cNvSpPr/>
          <p:nvPr/>
        </p:nvSpPr>
        <p:spPr>
          <a:xfrm>
            <a:off x="4985766" y="4279392"/>
            <a:ext cx="160477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000"/>
              <a:buFont typeface="Calibri"/>
              <a:buNone/>
            </a:pPr>
            <a:r>
              <a:rPr b="1" i="0" lang="it" sz="10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Hologram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25"/>
          <p:cNvSpPr/>
          <p:nvPr/>
        </p:nvSpPr>
        <p:spPr>
          <a:xfrm>
            <a:off x="4985766" y="4567428"/>
            <a:ext cx="1604772" cy="10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Rotating wireframe solar-system display.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25"/>
          <p:cNvSpPr/>
          <p:nvPr/>
        </p:nvSpPr>
        <p:spPr>
          <a:xfrm>
            <a:off x="6864858" y="3730752"/>
            <a:ext cx="1906524" cy="1062990"/>
          </a:xfrm>
          <a:prstGeom prst="roundRect">
            <a:avLst>
              <a:gd fmla="val 5161" name="adj"/>
            </a:avLst>
          </a:prstGeom>
          <a:solidFill>
            <a:srgbClr val="0E1830"/>
          </a:solidFill>
          <a:ln>
            <a:noFill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25"/>
          <p:cNvSpPr/>
          <p:nvPr/>
        </p:nvSpPr>
        <p:spPr>
          <a:xfrm>
            <a:off x="7015734" y="3881628"/>
            <a:ext cx="315468" cy="315468"/>
          </a:xfrm>
          <a:prstGeom prst="ellipse">
            <a:avLst/>
          </a:prstGeom>
          <a:solidFill>
            <a:srgbClr val="FFB23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10" name="Google Shape;910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094601" y="3960495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911" name="Google Shape;911;p25"/>
          <p:cNvSpPr/>
          <p:nvPr/>
        </p:nvSpPr>
        <p:spPr>
          <a:xfrm>
            <a:off x="7015734" y="4279392"/>
            <a:ext cx="160477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000"/>
              <a:buFont typeface="Calibri"/>
              <a:buNone/>
            </a:pPr>
            <a:r>
              <a:rPr b="1" i="0" lang="it" sz="10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Wall Console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25"/>
          <p:cNvSpPr/>
          <p:nvPr/>
        </p:nvSpPr>
        <p:spPr>
          <a:xfrm>
            <a:off x="7015734" y="4567428"/>
            <a:ext cx="1604772" cy="10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Layered box primitives for reading logs.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3" name="Google Shape;913;p25" title="galaxxy.png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88111" y="2528863"/>
            <a:ext cx="2487213" cy="1834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B16"/>
        </a:solidFill>
      </p:bgPr>
    </p:bg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26"/>
          <p:cNvSpPr/>
          <p:nvPr/>
        </p:nvSpPr>
        <p:spPr>
          <a:xfrm>
            <a:off x="1203860" y="2545036"/>
            <a:ext cx="18000" cy="18000"/>
          </a:xfrm>
          <a:prstGeom prst="ellipse">
            <a:avLst/>
          </a:prstGeom>
          <a:solidFill>
            <a:srgbClr val="BFE6FF">
              <a:alpha val="3215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26"/>
          <p:cNvSpPr/>
          <p:nvPr/>
        </p:nvSpPr>
        <p:spPr>
          <a:xfrm>
            <a:off x="6059240" y="1647480"/>
            <a:ext cx="26700" cy="26700"/>
          </a:xfrm>
          <a:prstGeom prst="ellipse">
            <a:avLst/>
          </a:prstGeom>
          <a:solidFill>
            <a:srgbClr val="BFE6FF">
              <a:alpha val="2823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26"/>
          <p:cNvSpPr/>
          <p:nvPr/>
        </p:nvSpPr>
        <p:spPr>
          <a:xfrm>
            <a:off x="1634986" y="1864926"/>
            <a:ext cx="26400" cy="26400"/>
          </a:xfrm>
          <a:prstGeom prst="ellipse">
            <a:avLst/>
          </a:prstGeom>
          <a:solidFill>
            <a:srgbClr val="BFE6FF">
              <a:alpha val="2156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26"/>
          <p:cNvSpPr/>
          <p:nvPr/>
        </p:nvSpPr>
        <p:spPr>
          <a:xfrm>
            <a:off x="8657381" y="1924453"/>
            <a:ext cx="29400" cy="29400"/>
          </a:xfrm>
          <a:prstGeom prst="ellipse">
            <a:avLst/>
          </a:prstGeom>
          <a:solidFill>
            <a:srgbClr val="BFE6FF">
              <a:alpha val="1764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26"/>
          <p:cNvSpPr/>
          <p:nvPr/>
        </p:nvSpPr>
        <p:spPr>
          <a:xfrm>
            <a:off x="4080819" y="2048949"/>
            <a:ext cx="31800" cy="31800"/>
          </a:xfrm>
          <a:prstGeom prst="ellipse">
            <a:avLst/>
          </a:prstGeom>
          <a:solidFill>
            <a:srgbClr val="BFE6FF">
              <a:alpha val="2588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26"/>
          <p:cNvSpPr/>
          <p:nvPr/>
        </p:nvSpPr>
        <p:spPr>
          <a:xfrm>
            <a:off x="9065303" y="444029"/>
            <a:ext cx="31200" cy="31200"/>
          </a:xfrm>
          <a:prstGeom prst="ellipse">
            <a:avLst/>
          </a:prstGeom>
          <a:solidFill>
            <a:srgbClr val="BFE6FF">
              <a:alpha val="4509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26"/>
          <p:cNvSpPr/>
          <p:nvPr/>
        </p:nvSpPr>
        <p:spPr>
          <a:xfrm>
            <a:off x="3068090" y="2044308"/>
            <a:ext cx="27000" cy="27000"/>
          </a:xfrm>
          <a:prstGeom prst="ellipse">
            <a:avLst/>
          </a:prstGeom>
          <a:solidFill>
            <a:srgbClr val="BFE6FF">
              <a:alpha val="1960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26"/>
          <p:cNvSpPr/>
          <p:nvPr/>
        </p:nvSpPr>
        <p:spPr>
          <a:xfrm>
            <a:off x="6144191" y="4794942"/>
            <a:ext cx="19200" cy="19200"/>
          </a:xfrm>
          <a:prstGeom prst="ellipse">
            <a:avLst/>
          </a:prstGeom>
          <a:solidFill>
            <a:srgbClr val="BFE6FF">
              <a:alpha val="3450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26"/>
          <p:cNvSpPr/>
          <p:nvPr/>
        </p:nvSpPr>
        <p:spPr>
          <a:xfrm>
            <a:off x="7301278" y="3803793"/>
            <a:ext cx="20400" cy="20400"/>
          </a:xfrm>
          <a:prstGeom prst="ellipse">
            <a:avLst/>
          </a:prstGeom>
          <a:solidFill>
            <a:srgbClr val="BFE6FF">
              <a:alpha val="2980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26"/>
          <p:cNvSpPr/>
          <p:nvPr/>
        </p:nvSpPr>
        <p:spPr>
          <a:xfrm>
            <a:off x="549263" y="3305287"/>
            <a:ext cx="19500" cy="19500"/>
          </a:xfrm>
          <a:prstGeom prst="ellipse">
            <a:avLst/>
          </a:prstGeom>
          <a:solidFill>
            <a:srgbClr val="BFE6FF">
              <a:alpha val="1254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26"/>
          <p:cNvSpPr/>
          <p:nvPr/>
        </p:nvSpPr>
        <p:spPr>
          <a:xfrm>
            <a:off x="5143873" y="4884680"/>
            <a:ext cx="19800" cy="19800"/>
          </a:xfrm>
          <a:prstGeom prst="ellipse">
            <a:avLst/>
          </a:prstGeom>
          <a:solidFill>
            <a:srgbClr val="BFE6FF">
              <a:alpha val="3058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26"/>
          <p:cNvSpPr/>
          <p:nvPr/>
        </p:nvSpPr>
        <p:spPr>
          <a:xfrm>
            <a:off x="5286602" y="2335816"/>
            <a:ext cx="15900" cy="15900"/>
          </a:xfrm>
          <a:prstGeom prst="ellipse">
            <a:avLst/>
          </a:prstGeom>
          <a:solidFill>
            <a:srgbClr val="BFE6FF">
              <a:alpha val="3294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26"/>
          <p:cNvSpPr/>
          <p:nvPr/>
        </p:nvSpPr>
        <p:spPr>
          <a:xfrm>
            <a:off x="8543204" y="1844914"/>
            <a:ext cx="33000" cy="33000"/>
          </a:xfrm>
          <a:prstGeom prst="ellipse">
            <a:avLst/>
          </a:prstGeom>
          <a:solidFill>
            <a:srgbClr val="BFE6FF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26"/>
          <p:cNvSpPr/>
          <p:nvPr/>
        </p:nvSpPr>
        <p:spPr>
          <a:xfrm>
            <a:off x="9042160" y="2471688"/>
            <a:ext cx="15600" cy="15600"/>
          </a:xfrm>
          <a:prstGeom prst="ellipse">
            <a:avLst/>
          </a:prstGeom>
          <a:solidFill>
            <a:srgbClr val="BFE6FF">
              <a:alpha val="2745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26"/>
          <p:cNvSpPr/>
          <p:nvPr/>
        </p:nvSpPr>
        <p:spPr>
          <a:xfrm>
            <a:off x="5113018" y="5067575"/>
            <a:ext cx="25500" cy="25500"/>
          </a:xfrm>
          <a:prstGeom prst="ellipse">
            <a:avLst/>
          </a:prstGeom>
          <a:solidFill>
            <a:srgbClr val="BFE6FF">
              <a:alpha val="2980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26"/>
          <p:cNvSpPr/>
          <p:nvPr/>
        </p:nvSpPr>
        <p:spPr>
          <a:xfrm>
            <a:off x="885863" y="4048583"/>
            <a:ext cx="20400" cy="20400"/>
          </a:xfrm>
          <a:prstGeom prst="ellipse">
            <a:avLst/>
          </a:prstGeom>
          <a:solidFill>
            <a:srgbClr val="BFE6FF">
              <a:alpha val="2901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26"/>
          <p:cNvSpPr/>
          <p:nvPr/>
        </p:nvSpPr>
        <p:spPr>
          <a:xfrm>
            <a:off x="6890558" y="2278911"/>
            <a:ext cx="28800" cy="28800"/>
          </a:xfrm>
          <a:prstGeom prst="ellipse">
            <a:avLst/>
          </a:prstGeom>
          <a:solidFill>
            <a:srgbClr val="BFE6FF">
              <a:alpha val="1098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26"/>
          <p:cNvSpPr/>
          <p:nvPr/>
        </p:nvSpPr>
        <p:spPr>
          <a:xfrm>
            <a:off x="8771227" y="2319644"/>
            <a:ext cx="12600" cy="12600"/>
          </a:xfrm>
          <a:prstGeom prst="ellipse">
            <a:avLst/>
          </a:prstGeom>
          <a:solidFill>
            <a:srgbClr val="BFE6FF">
              <a:alpha val="2823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26"/>
          <p:cNvSpPr/>
          <p:nvPr/>
        </p:nvSpPr>
        <p:spPr>
          <a:xfrm>
            <a:off x="1988882" y="1407139"/>
            <a:ext cx="25200" cy="25200"/>
          </a:xfrm>
          <a:prstGeom prst="ellipse">
            <a:avLst/>
          </a:prstGeom>
          <a:solidFill>
            <a:srgbClr val="BFE6FF">
              <a:alpha val="2392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26"/>
          <p:cNvSpPr/>
          <p:nvPr/>
        </p:nvSpPr>
        <p:spPr>
          <a:xfrm>
            <a:off x="1170555" y="715787"/>
            <a:ext cx="32700" cy="32700"/>
          </a:xfrm>
          <a:prstGeom prst="ellipse">
            <a:avLst/>
          </a:prstGeom>
          <a:solidFill>
            <a:srgbClr val="BFE6FF">
              <a:alpha val="4431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26"/>
          <p:cNvSpPr/>
          <p:nvPr/>
        </p:nvSpPr>
        <p:spPr>
          <a:xfrm>
            <a:off x="7921280" y="2646155"/>
            <a:ext cx="20400" cy="20400"/>
          </a:xfrm>
          <a:prstGeom prst="ellipse">
            <a:avLst/>
          </a:prstGeom>
          <a:solidFill>
            <a:srgbClr val="BFE6FF">
              <a:alpha val="4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26"/>
          <p:cNvSpPr/>
          <p:nvPr/>
        </p:nvSpPr>
        <p:spPr>
          <a:xfrm>
            <a:off x="6068061" y="985029"/>
            <a:ext cx="27600" cy="27600"/>
          </a:xfrm>
          <a:prstGeom prst="ellipse">
            <a:avLst/>
          </a:prstGeom>
          <a:solidFill>
            <a:srgbClr val="BFE6FF">
              <a:alpha val="3725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26"/>
          <p:cNvSpPr/>
          <p:nvPr/>
        </p:nvSpPr>
        <p:spPr>
          <a:xfrm>
            <a:off x="3049688" y="1469714"/>
            <a:ext cx="25200" cy="25200"/>
          </a:xfrm>
          <a:prstGeom prst="ellipse">
            <a:avLst/>
          </a:prstGeom>
          <a:solidFill>
            <a:srgbClr val="BFE6FF">
              <a:alpha val="1450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26"/>
          <p:cNvSpPr/>
          <p:nvPr/>
        </p:nvSpPr>
        <p:spPr>
          <a:xfrm>
            <a:off x="6060172" y="1081541"/>
            <a:ext cx="16800" cy="16800"/>
          </a:xfrm>
          <a:prstGeom prst="ellipse">
            <a:avLst/>
          </a:prstGeom>
          <a:solidFill>
            <a:srgbClr val="BFE6FF">
              <a:alpha val="1333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26"/>
          <p:cNvSpPr/>
          <p:nvPr/>
        </p:nvSpPr>
        <p:spPr>
          <a:xfrm>
            <a:off x="263888" y="2126640"/>
            <a:ext cx="12600" cy="12600"/>
          </a:xfrm>
          <a:prstGeom prst="ellipse">
            <a:avLst/>
          </a:prstGeom>
          <a:solidFill>
            <a:srgbClr val="BFE6FF">
              <a:alpha val="2823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26"/>
          <p:cNvSpPr/>
          <p:nvPr/>
        </p:nvSpPr>
        <p:spPr>
          <a:xfrm>
            <a:off x="2926528" y="4682682"/>
            <a:ext cx="31800" cy="31800"/>
          </a:xfrm>
          <a:prstGeom prst="ellipse">
            <a:avLst/>
          </a:prstGeom>
          <a:solidFill>
            <a:srgbClr val="BFE6FF">
              <a:alpha val="4274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26"/>
          <p:cNvSpPr/>
          <p:nvPr/>
        </p:nvSpPr>
        <p:spPr>
          <a:xfrm>
            <a:off x="260035" y="2145919"/>
            <a:ext cx="17100" cy="17100"/>
          </a:xfrm>
          <a:prstGeom prst="ellipse">
            <a:avLst/>
          </a:prstGeom>
          <a:solidFill>
            <a:srgbClr val="BFE6FF">
              <a:alpha val="1803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26"/>
          <p:cNvSpPr/>
          <p:nvPr/>
        </p:nvSpPr>
        <p:spPr>
          <a:xfrm>
            <a:off x="8386041" y="1742468"/>
            <a:ext cx="26700" cy="26700"/>
          </a:xfrm>
          <a:prstGeom prst="ellipse">
            <a:avLst/>
          </a:prstGeom>
          <a:solidFill>
            <a:srgbClr val="BFE6FF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26"/>
          <p:cNvSpPr/>
          <p:nvPr/>
        </p:nvSpPr>
        <p:spPr>
          <a:xfrm>
            <a:off x="8375867" y="1631928"/>
            <a:ext cx="32700" cy="32700"/>
          </a:xfrm>
          <a:prstGeom prst="ellipse">
            <a:avLst/>
          </a:prstGeom>
          <a:solidFill>
            <a:srgbClr val="BFE6FF">
              <a:alpha val="4352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26"/>
          <p:cNvSpPr/>
          <p:nvPr/>
        </p:nvSpPr>
        <p:spPr>
          <a:xfrm>
            <a:off x="2989808" y="1817675"/>
            <a:ext cx="27600" cy="27600"/>
          </a:xfrm>
          <a:prstGeom prst="ellipse">
            <a:avLst/>
          </a:prstGeom>
          <a:solidFill>
            <a:srgbClr val="BFE6FF">
              <a:alpha val="2509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26"/>
          <p:cNvSpPr/>
          <p:nvPr/>
        </p:nvSpPr>
        <p:spPr>
          <a:xfrm>
            <a:off x="1151923" y="1027900"/>
            <a:ext cx="26100" cy="26100"/>
          </a:xfrm>
          <a:prstGeom prst="ellipse">
            <a:avLst/>
          </a:prstGeom>
          <a:solidFill>
            <a:srgbClr val="BFE6FF">
              <a:alpha val="1803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26"/>
          <p:cNvSpPr/>
          <p:nvPr/>
        </p:nvSpPr>
        <p:spPr>
          <a:xfrm>
            <a:off x="359027" y="2618480"/>
            <a:ext cx="15600" cy="15600"/>
          </a:xfrm>
          <a:prstGeom prst="ellipse">
            <a:avLst/>
          </a:prstGeom>
          <a:solidFill>
            <a:srgbClr val="BFE6FF">
              <a:alpha val="2862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26"/>
          <p:cNvSpPr/>
          <p:nvPr/>
        </p:nvSpPr>
        <p:spPr>
          <a:xfrm>
            <a:off x="8570851" y="3352991"/>
            <a:ext cx="17400" cy="17400"/>
          </a:xfrm>
          <a:prstGeom prst="ellipse">
            <a:avLst/>
          </a:prstGeom>
          <a:solidFill>
            <a:srgbClr val="BFE6FF">
              <a:alpha val="3137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26"/>
          <p:cNvSpPr/>
          <p:nvPr/>
        </p:nvSpPr>
        <p:spPr>
          <a:xfrm>
            <a:off x="8821766" y="4688619"/>
            <a:ext cx="24600" cy="24600"/>
          </a:xfrm>
          <a:prstGeom prst="ellipse">
            <a:avLst/>
          </a:prstGeom>
          <a:solidFill>
            <a:srgbClr val="BFE6FF">
              <a:alpha val="3372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26"/>
          <p:cNvSpPr/>
          <p:nvPr/>
        </p:nvSpPr>
        <p:spPr>
          <a:xfrm>
            <a:off x="1005270" y="1473502"/>
            <a:ext cx="14400" cy="14400"/>
          </a:xfrm>
          <a:prstGeom prst="ellipse">
            <a:avLst/>
          </a:prstGeom>
          <a:solidFill>
            <a:srgbClr val="BFE6FF">
              <a:alpha val="2901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26"/>
          <p:cNvSpPr/>
          <p:nvPr/>
        </p:nvSpPr>
        <p:spPr>
          <a:xfrm>
            <a:off x="7076602" y="3142711"/>
            <a:ext cx="15300" cy="15300"/>
          </a:xfrm>
          <a:prstGeom prst="ellipse">
            <a:avLst/>
          </a:prstGeom>
          <a:solidFill>
            <a:srgbClr val="BFE6FF">
              <a:alpha val="4156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26"/>
          <p:cNvSpPr/>
          <p:nvPr/>
        </p:nvSpPr>
        <p:spPr>
          <a:xfrm>
            <a:off x="4857126" y="1779496"/>
            <a:ext cx="27000" cy="27000"/>
          </a:xfrm>
          <a:prstGeom prst="ellipse">
            <a:avLst/>
          </a:prstGeom>
          <a:solidFill>
            <a:srgbClr val="BFE6FF">
              <a:alpha val="2509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26"/>
          <p:cNvSpPr/>
          <p:nvPr/>
        </p:nvSpPr>
        <p:spPr>
          <a:xfrm>
            <a:off x="830879" y="4542789"/>
            <a:ext cx="26700" cy="26700"/>
          </a:xfrm>
          <a:prstGeom prst="ellipse">
            <a:avLst/>
          </a:prstGeom>
          <a:solidFill>
            <a:srgbClr val="BFE6FF">
              <a:alpha val="2352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26"/>
          <p:cNvSpPr/>
          <p:nvPr/>
        </p:nvSpPr>
        <p:spPr>
          <a:xfrm>
            <a:off x="7542207" y="3319995"/>
            <a:ext cx="32400" cy="32400"/>
          </a:xfrm>
          <a:prstGeom prst="ellipse">
            <a:avLst/>
          </a:prstGeom>
          <a:solidFill>
            <a:srgbClr val="BFE6FF">
              <a:alpha val="2941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26"/>
          <p:cNvSpPr/>
          <p:nvPr/>
        </p:nvSpPr>
        <p:spPr>
          <a:xfrm>
            <a:off x="4854520" y="1209194"/>
            <a:ext cx="29400" cy="29400"/>
          </a:xfrm>
          <a:prstGeom prst="ellipse">
            <a:avLst/>
          </a:prstGeom>
          <a:solidFill>
            <a:srgbClr val="BFE6FF">
              <a:alpha val="4117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26"/>
          <p:cNvSpPr/>
          <p:nvPr/>
        </p:nvSpPr>
        <p:spPr>
          <a:xfrm>
            <a:off x="2753810" y="1643797"/>
            <a:ext cx="18900" cy="18900"/>
          </a:xfrm>
          <a:prstGeom prst="ellipse">
            <a:avLst/>
          </a:prstGeom>
          <a:solidFill>
            <a:srgbClr val="BFE6FF">
              <a:alpha val="3764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26"/>
          <p:cNvSpPr/>
          <p:nvPr/>
        </p:nvSpPr>
        <p:spPr>
          <a:xfrm>
            <a:off x="411480" y="288036"/>
            <a:ext cx="6172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C6FF"/>
              </a:buClr>
              <a:buSzPts val="900"/>
              <a:buFont typeface="Courier New"/>
              <a:buNone/>
            </a:pPr>
            <a:r>
              <a:rPr b="1" i="0" lang="it" sz="900" u="none" cap="none" strike="noStrike">
                <a:solidFill>
                  <a:srgbClr val="2FC6FF"/>
                </a:solidFill>
                <a:latin typeface="Courier New"/>
                <a:ea typeface="Courier New"/>
                <a:cs typeface="Courier New"/>
                <a:sym typeface="Courier New"/>
              </a:rPr>
              <a:t>05 — ANIMATIONS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26"/>
          <p:cNvSpPr/>
          <p:nvPr/>
        </p:nvSpPr>
        <p:spPr>
          <a:xfrm>
            <a:off x="411480" y="466344"/>
            <a:ext cx="726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2100"/>
              <a:buFont typeface="Courier New"/>
              <a:buNone/>
            </a:pPr>
            <a:r>
              <a:rPr b="1" i="0" lang="it" sz="2100" u="none" cap="none" strike="noStrike">
                <a:solidFill>
                  <a:srgbClr val="EAF6FF"/>
                </a:solidFill>
                <a:latin typeface="Courier New"/>
                <a:ea typeface="Courier New"/>
                <a:cs typeface="Courier New"/>
                <a:sym typeface="Courier New"/>
              </a:rPr>
              <a:t>Character Kinematics &amp; Orbital Motion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26"/>
          <p:cNvSpPr/>
          <p:nvPr/>
        </p:nvSpPr>
        <p:spPr>
          <a:xfrm>
            <a:off x="8197367" y="288036"/>
            <a:ext cx="534900" cy="534900"/>
          </a:xfrm>
          <a:prstGeom prst="ellipse">
            <a:avLst/>
          </a:prstGeom>
          <a:solidFill>
            <a:srgbClr val="2FC6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63" name="Google Shape;96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7669" y="41833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64" name="Google Shape;964;p26"/>
          <p:cNvSpPr/>
          <p:nvPr/>
        </p:nvSpPr>
        <p:spPr>
          <a:xfrm>
            <a:off x="411480" y="4855464"/>
            <a:ext cx="2743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700"/>
              <a:buFont typeface="Courier New"/>
              <a:buNone/>
            </a:pPr>
            <a:r>
              <a:rPr b="0" i="0" lang="it" sz="700" u="none" cap="none" strike="noStrike">
                <a:solidFill>
                  <a:srgbClr val="93B3D6"/>
                </a:solidFill>
                <a:latin typeface="Courier New"/>
                <a:ea typeface="Courier New"/>
                <a:cs typeface="Courier New"/>
                <a:sym typeface="Courier New"/>
              </a:rPr>
              <a:t>LUMEN DRIFT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26"/>
          <p:cNvSpPr/>
          <p:nvPr/>
        </p:nvSpPr>
        <p:spPr>
          <a:xfrm>
            <a:off x="8320811" y="4855464"/>
            <a:ext cx="411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700"/>
              <a:buFont typeface="Courier New"/>
              <a:buNone/>
            </a:pPr>
            <a:r>
              <a:rPr b="0" i="0" lang="it" sz="700" u="none" cap="none" strike="noStrike">
                <a:solidFill>
                  <a:srgbClr val="93B3D6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26"/>
          <p:cNvSpPr/>
          <p:nvPr/>
        </p:nvSpPr>
        <p:spPr>
          <a:xfrm>
            <a:off x="411480" y="1110996"/>
            <a:ext cx="788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900"/>
              <a:buFont typeface="Calibri"/>
              <a:buNone/>
            </a:pPr>
            <a:r>
              <a:rPr b="0" i="1" lang="it" sz="9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A single centralized animate() loop, synced to requestAnimationFrame(), drives every transform. No animation is imported.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26"/>
          <p:cNvSpPr/>
          <p:nvPr/>
        </p:nvSpPr>
        <p:spPr>
          <a:xfrm>
            <a:off x="411480" y="1556766"/>
            <a:ext cx="342900" cy="342900"/>
          </a:xfrm>
          <a:prstGeom prst="ellipse">
            <a:avLst/>
          </a:prstGeom>
          <a:solidFill>
            <a:srgbClr val="2FC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68" name="Google Shape;96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7205" y="1642491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p26"/>
          <p:cNvSpPr/>
          <p:nvPr/>
        </p:nvSpPr>
        <p:spPr>
          <a:xfrm>
            <a:off x="905256" y="1522476"/>
            <a:ext cx="3415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Walk Cycle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26"/>
          <p:cNvSpPr/>
          <p:nvPr/>
        </p:nvSpPr>
        <p:spPr>
          <a:xfrm>
            <a:off x="905256" y="1741932"/>
            <a:ext cx="3415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On WASD input, a sin</a:t>
            </a:r>
            <a:r>
              <a:rPr lang="it" sz="900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it" sz="9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 function of elapsed time drives limb rotation; phases invert between opposite limbs for a natural gait. The speed </a:t>
            </a:r>
            <a:r>
              <a:rPr lang="it" sz="900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change if walking/running. </a:t>
            </a:r>
            <a:r>
              <a:rPr b="0" i="0" lang="it" sz="9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On stop, a lerp eases every limb back to rest.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26"/>
          <p:cNvSpPr/>
          <p:nvPr/>
        </p:nvSpPr>
        <p:spPr>
          <a:xfrm>
            <a:off x="411480" y="2414016"/>
            <a:ext cx="342900" cy="342900"/>
          </a:xfrm>
          <a:prstGeom prst="ellipse">
            <a:avLst/>
          </a:prstGeom>
          <a:solidFill>
            <a:srgbClr val="FFB23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72" name="Google Shape;972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7205" y="2499741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73" name="Google Shape;973;p26"/>
          <p:cNvSpPr/>
          <p:nvPr/>
        </p:nvSpPr>
        <p:spPr>
          <a:xfrm>
            <a:off x="905256" y="2379726"/>
            <a:ext cx="3415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Gravity &amp; Jump Arc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26"/>
          <p:cNvSpPr/>
          <p:nvPr/>
        </p:nvSpPr>
        <p:spPr>
          <a:xfrm>
            <a:off x="905256" y="2599182"/>
            <a:ext cx="3415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A constant gravity value continuously decreases velocityY, applied each frame to the player's Y-position until a collision is detected.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26"/>
          <p:cNvSpPr/>
          <p:nvPr/>
        </p:nvSpPr>
        <p:spPr>
          <a:xfrm>
            <a:off x="4732020" y="1556766"/>
            <a:ext cx="342900" cy="342900"/>
          </a:xfrm>
          <a:prstGeom prst="ellipse">
            <a:avLst/>
          </a:prstGeom>
          <a:solidFill>
            <a:srgbClr val="2FC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76" name="Google Shape;976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17745" y="1642491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p26"/>
          <p:cNvSpPr/>
          <p:nvPr/>
        </p:nvSpPr>
        <p:spPr>
          <a:xfrm>
            <a:off x="5225796" y="1522476"/>
            <a:ext cx="3518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Pivot-Based Orbits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26"/>
          <p:cNvSpPr/>
          <p:nvPr/>
        </p:nvSpPr>
        <p:spPr>
          <a:xfrm>
            <a:off x="5225799" y="1741925"/>
            <a:ext cx="2743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Four planets orbit the star at distinct constant angular velocities by parenting each to an invisible Pivot group rotated on Y; a moon compounds this via a secondary pivot on its parent planet.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26"/>
          <p:cNvSpPr/>
          <p:nvPr/>
        </p:nvSpPr>
        <p:spPr>
          <a:xfrm>
            <a:off x="4732020" y="2414016"/>
            <a:ext cx="342900" cy="342900"/>
          </a:xfrm>
          <a:prstGeom prst="ellipse">
            <a:avLst/>
          </a:prstGeom>
          <a:solidFill>
            <a:srgbClr val="FFB23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80" name="Google Shape;980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17745" y="2499741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81" name="Google Shape;981;p26"/>
          <p:cNvSpPr/>
          <p:nvPr/>
        </p:nvSpPr>
        <p:spPr>
          <a:xfrm>
            <a:off x="5225796" y="2379726"/>
            <a:ext cx="3518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The Binary Pair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26"/>
          <p:cNvSpPr/>
          <p:nvPr/>
        </p:nvSpPr>
        <p:spPr>
          <a:xfrm>
            <a:off x="5225800" y="2599175"/>
            <a:ext cx="2835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Volcanic &amp; Glacial planets orbit a shared barycenter. A sine wave drives both rotation speed and separation distance — an “elastic” approximation of Kepler's Second Law.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3" name="Google Shape;983;p26" title="solar system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0525" y="3214488"/>
            <a:ext cx="6969864" cy="1510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B16"/>
        </a:solidFill>
      </p:bgPr>
    </p:bg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27"/>
          <p:cNvSpPr/>
          <p:nvPr/>
        </p:nvSpPr>
        <p:spPr>
          <a:xfrm>
            <a:off x="4425933" y="2245757"/>
            <a:ext cx="12678" cy="12678"/>
          </a:xfrm>
          <a:prstGeom prst="ellipse">
            <a:avLst/>
          </a:prstGeom>
          <a:solidFill>
            <a:srgbClr val="BFE6FF">
              <a:alpha val="3058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27"/>
          <p:cNvSpPr/>
          <p:nvPr/>
        </p:nvSpPr>
        <p:spPr>
          <a:xfrm>
            <a:off x="175039" y="3503623"/>
            <a:ext cx="20195" cy="20195"/>
          </a:xfrm>
          <a:prstGeom prst="ellipse">
            <a:avLst/>
          </a:prstGeom>
          <a:solidFill>
            <a:srgbClr val="BFE6FF">
              <a:alpha val="4431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27"/>
          <p:cNvSpPr/>
          <p:nvPr/>
        </p:nvSpPr>
        <p:spPr>
          <a:xfrm>
            <a:off x="3546929" y="3221204"/>
            <a:ext cx="23905" cy="23905"/>
          </a:xfrm>
          <a:prstGeom prst="ellipse">
            <a:avLst/>
          </a:prstGeom>
          <a:solidFill>
            <a:srgbClr val="BFE6FF">
              <a:alpha val="4117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p27"/>
          <p:cNvSpPr/>
          <p:nvPr/>
        </p:nvSpPr>
        <p:spPr>
          <a:xfrm>
            <a:off x="137244" y="2154614"/>
            <a:ext cx="23716" cy="23717"/>
          </a:xfrm>
          <a:prstGeom prst="ellipse">
            <a:avLst/>
          </a:prstGeom>
          <a:solidFill>
            <a:srgbClr val="BFE6FF">
              <a:alpha val="3176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27"/>
          <p:cNvSpPr/>
          <p:nvPr/>
        </p:nvSpPr>
        <p:spPr>
          <a:xfrm>
            <a:off x="1614932" y="2949478"/>
            <a:ext cx="32878" cy="32878"/>
          </a:xfrm>
          <a:prstGeom prst="ellipse">
            <a:avLst/>
          </a:prstGeom>
          <a:solidFill>
            <a:srgbClr val="BFE6FF">
              <a:alpha val="3215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p27"/>
          <p:cNvSpPr/>
          <p:nvPr/>
        </p:nvSpPr>
        <p:spPr>
          <a:xfrm>
            <a:off x="1404938" y="3353762"/>
            <a:ext cx="27283" cy="27283"/>
          </a:xfrm>
          <a:prstGeom prst="ellipse">
            <a:avLst/>
          </a:prstGeom>
          <a:solidFill>
            <a:srgbClr val="BFE6FF">
              <a:alpha val="3137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p27"/>
          <p:cNvSpPr/>
          <p:nvPr/>
        </p:nvSpPr>
        <p:spPr>
          <a:xfrm>
            <a:off x="6766601" y="3171195"/>
            <a:ext cx="24576" cy="24576"/>
          </a:xfrm>
          <a:prstGeom prst="ellipse">
            <a:avLst/>
          </a:prstGeom>
          <a:solidFill>
            <a:srgbClr val="BFE6FF">
              <a:alpha val="3764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27"/>
          <p:cNvSpPr/>
          <p:nvPr/>
        </p:nvSpPr>
        <p:spPr>
          <a:xfrm>
            <a:off x="4229048" y="373868"/>
            <a:ext cx="20976" cy="20976"/>
          </a:xfrm>
          <a:prstGeom prst="ellipse">
            <a:avLst/>
          </a:prstGeom>
          <a:solidFill>
            <a:srgbClr val="BFE6FF">
              <a:alpha val="2980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p27"/>
          <p:cNvSpPr/>
          <p:nvPr/>
        </p:nvSpPr>
        <p:spPr>
          <a:xfrm>
            <a:off x="2032914" y="222628"/>
            <a:ext cx="22618" cy="22618"/>
          </a:xfrm>
          <a:prstGeom prst="ellipse">
            <a:avLst/>
          </a:prstGeom>
          <a:solidFill>
            <a:srgbClr val="BFE6FF">
              <a:alpha val="4313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27"/>
          <p:cNvSpPr/>
          <p:nvPr/>
        </p:nvSpPr>
        <p:spPr>
          <a:xfrm>
            <a:off x="8996813" y="3461557"/>
            <a:ext cx="27249" cy="27249"/>
          </a:xfrm>
          <a:prstGeom prst="ellipse">
            <a:avLst/>
          </a:prstGeom>
          <a:solidFill>
            <a:srgbClr val="BFE6FF">
              <a:alpha val="1568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27"/>
          <p:cNvSpPr/>
          <p:nvPr/>
        </p:nvSpPr>
        <p:spPr>
          <a:xfrm>
            <a:off x="6270148" y="2509159"/>
            <a:ext cx="17042" cy="17042"/>
          </a:xfrm>
          <a:prstGeom prst="ellipse">
            <a:avLst/>
          </a:prstGeom>
          <a:solidFill>
            <a:srgbClr val="BFE6FF">
              <a:alpha val="1490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27"/>
          <p:cNvSpPr/>
          <p:nvPr/>
        </p:nvSpPr>
        <p:spPr>
          <a:xfrm>
            <a:off x="8938478" y="4133804"/>
            <a:ext cx="24152" cy="24152"/>
          </a:xfrm>
          <a:prstGeom prst="ellipse">
            <a:avLst/>
          </a:prstGeom>
          <a:solidFill>
            <a:srgbClr val="BFE6FF">
              <a:alpha val="4509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p27"/>
          <p:cNvSpPr/>
          <p:nvPr/>
        </p:nvSpPr>
        <p:spPr>
          <a:xfrm>
            <a:off x="6104519" y="962162"/>
            <a:ext cx="19907" cy="19907"/>
          </a:xfrm>
          <a:prstGeom prst="ellipse">
            <a:avLst/>
          </a:prstGeom>
          <a:solidFill>
            <a:srgbClr val="BFE6FF">
              <a:alpha val="1921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27"/>
          <p:cNvSpPr/>
          <p:nvPr/>
        </p:nvSpPr>
        <p:spPr>
          <a:xfrm>
            <a:off x="8828858" y="548492"/>
            <a:ext cx="15065" cy="15065"/>
          </a:xfrm>
          <a:prstGeom prst="ellipse">
            <a:avLst/>
          </a:prstGeom>
          <a:solidFill>
            <a:srgbClr val="BFE6FF">
              <a:alpha val="1176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27"/>
          <p:cNvSpPr/>
          <p:nvPr/>
        </p:nvSpPr>
        <p:spPr>
          <a:xfrm>
            <a:off x="3821727" y="1534049"/>
            <a:ext cx="29300" cy="29300"/>
          </a:xfrm>
          <a:prstGeom prst="ellipse">
            <a:avLst/>
          </a:prstGeom>
          <a:solidFill>
            <a:srgbClr val="BFE6FF">
              <a:alpha val="2941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27"/>
          <p:cNvSpPr/>
          <p:nvPr/>
        </p:nvSpPr>
        <p:spPr>
          <a:xfrm>
            <a:off x="2951260" y="4030261"/>
            <a:ext cx="24515" cy="24514"/>
          </a:xfrm>
          <a:prstGeom prst="ellipse">
            <a:avLst/>
          </a:prstGeom>
          <a:solidFill>
            <a:srgbClr val="BFE6FF">
              <a:alpha val="1843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27"/>
          <p:cNvSpPr/>
          <p:nvPr/>
        </p:nvSpPr>
        <p:spPr>
          <a:xfrm>
            <a:off x="6285002" y="2314223"/>
            <a:ext cx="22716" cy="22716"/>
          </a:xfrm>
          <a:prstGeom prst="ellipse">
            <a:avLst/>
          </a:prstGeom>
          <a:solidFill>
            <a:srgbClr val="BFE6FF">
              <a:alpha val="2705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27"/>
          <p:cNvSpPr/>
          <p:nvPr/>
        </p:nvSpPr>
        <p:spPr>
          <a:xfrm>
            <a:off x="4815264" y="1013426"/>
            <a:ext cx="25204" cy="25205"/>
          </a:xfrm>
          <a:prstGeom prst="ellipse">
            <a:avLst/>
          </a:prstGeom>
          <a:solidFill>
            <a:srgbClr val="BFE6FF">
              <a:alpha val="2352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27"/>
          <p:cNvSpPr/>
          <p:nvPr/>
        </p:nvSpPr>
        <p:spPr>
          <a:xfrm>
            <a:off x="5866274" y="5082512"/>
            <a:ext cx="16304" cy="16304"/>
          </a:xfrm>
          <a:prstGeom prst="ellipse">
            <a:avLst/>
          </a:prstGeom>
          <a:solidFill>
            <a:srgbClr val="BFE6FF">
              <a:alpha val="2745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27"/>
          <p:cNvSpPr/>
          <p:nvPr/>
        </p:nvSpPr>
        <p:spPr>
          <a:xfrm>
            <a:off x="4927382" y="4045578"/>
            <a:ext cx="16113" cy="16113"/>
          </a:xfrm>
          <a:prstGeom prst="ellipse">
            <a:avLst/>
          </a:prstGeom>
          <a:solidFill>
            <a:srgbClr val="BFE6FF">
              <a:alpha val="1960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27"/>
          <p:cNvSpPr/>
          <p:nvPr/>
        </p:nvSpPr>
        <p:spPr>
          <a:xfrm>
            <a:off x="6547713" y="4618983"/>
            <a:ext cx="29630" cy="29629"/>
          </a:xfrm>
          <a:prstGeom prst="ellipse">
            <a:avLst/>
          </a:prstGeom>
          <a:solidFill>
            <a:srgbClr val="BFE6FF">
              <a:alpha val="1254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27"/>
          <p:cNvSpPr/>
          <p:nvPr/>
        </p:nvSpPr>
        <p:spPr>
          <a:xfrm>
            <a:off x="9032279" y="2168968"/>
            <a:ext cx="28711" cy="28711"/>
          </a:xfrm>
          <a:prstGeom prst="ellipse">
            <a:avLst/>
          </a:prstGeom>
          <a:solidFill>
            <a:srgbClr val="BFE6FF">
              <a:alpha val="2392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27"/>
          <p:cNvSpPr/>
          <p:nvPr/>
        </p:nvSpPr>
        <p:spPr>
          <a:xfrm>
            <a:off x="1497476" y="5113796"/>
            <a:ext cx="30618" cy="30618"/>
          </a:xfrm>
          <a:prstGeom prst="ellipse">
            <a:avLst/>
          </a:prstGeom>
          <a:solidFill>
            <a:srgbClr val="BFE6FF">
              <a:alpha val="2156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27"/>
          <p:cNvSpPr/>
          <p:nvPr/>
        </p:nvSpPr>
        <p:spPr>
          <a:xfrm>
            <a:off x="4453757" y="3932507"/>
            <a:ext cx="27628" cy="27628"/>
          </a:xfrm>
          <a:prstGeom prst="ellipse">
            <a:avLst/>
          </a:prstGeom>
          <a:solidFill>
            <a:srgbClr val="BFE6FF">
              <a:alpha val="4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27"/>
          <p:cNvSpPr/>
          <p:nvPr/>
        </p:nvSpPr>
        <p:spPr>
          <a:xfrm>
            <a:off x="4926542" y="2406415"/>
            <a:ext cx="17782" cy="17783"/>
          </a:xfrm>
          <a:prstGeom prst="ellipse">
            <a:avLst/>
          </a:prstGeom>
          <a:solidFill>
            <a:srgbClr val="BFE6FF">
              <a:alpha val="2039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27"/>
          <p:cNvSpPr/>
          <p:nvPr/>
        </p:nvSpPr>
        <p:spPr>
          <a:xfrm>
            <a:off x="9106886" y="4804811"/>
            <a:ext cx="26778" cy="26778"/>
          </a:xfrm>
          <a:prstGeom prst="ellipse">
            <a:avLst/>
          </a:prstGeom>
          <a:solidFill>
            <a:srgbClr val="BFE6FF">
              <a:alpha val="2705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27"/>
          <p:cNvSpPr/>
          <p:nvPr/>
        </p:nvSpPr>
        <p:spPr>
          <a:xfrm>
            <a:off x="7074446" y="2629941"/>
            <a:ext cx="26037" cy="26037"/>
          </a:xfrm>
          <a:prstGeom prst="ellipse">
            <a:avLst/>
          </a:prstGeom>
          <a:solidFill>
            <a:srgbClr val="BFE6FF">
              <a:alpha val="3568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27"/>
          <p:cNvSpPr/>
          <p:nvPr/>
        </p:nvSpPr>
        <p:spPr>
          <a:xfrm>
            <a:off x="5779981" y="3010647"/>
            <a:ext cx="33393" cy="33393"/>
          </a:xfrm>
          <a:prstGeom prst="ellipse">
            <a:avLst/>
          </a:prstGeom>
          <a:solidFill>
            <a:srgbClr val="BFE6FF">
              <a:alpha val="1921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27"/>
          <p:cNvSpPr/>
          <p:nvPr/>
        </p:nvSpPr>
        <p:spPr>
          <a:xfrm>
            <a:off x="6328229" y="3385703"/>
            <a:ext cx="24723" cy="24723"/>
          </a:xfrm>
          <a:prstGeom prst="ellipse">
            <a:avLst/>
          </a:prstGeom>
          <a:solidFill>
            <a:srgbClr val="BFE6FF">
              <a:alpha val="2823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27"/>
          <p:cNvSpPr/>
          <p:nvPr/>
        </p:nvSpPr>
        <p:spPr>
          <a:xfrm>
            <a:off x="8350945" y="64362"/>
            <a:ext cx="32151" cy="32151"/>
          </a:xfrm>
          <a:prstGeom prst="ellipse">
            <a:avLst/>
          </a:prstGeom>
          <a:solidFill>
            <a:srgbClr val="BFE6FF">
              <a:alpha val="1921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27"/>
          <p:cNvSpPr/>
          <p:nvPr/>
        </p:nvSpPr>
        <p:spPr>
          <a:xfrm>
            <a:off x="78897" y="4266289"/>
            <a:ext cx="34194" cy="34194"/>
          </a:xfrm>
          <a:prstGeom prst="ellipse">
            <a:avLst/>
          </a:prstGeom>
          <a:solidFill>
            <a:srgbClr val="BFE6FF">
              <a:alpha val="2666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27"/>
          <p:cNvSpPr/>
          <p:nvPr/>
        </p:nvSpPr>
        <p:spPr>
          <a:xfrm>
            <a:off x="8776914" y="2969826"/>
            <a:ext cx="25048" cy="25048"/>
          </a:xfrm>
          <a:prstGeom prst="ellipse">
            <a:avLst/>
          </a:prstGeom>
          <a:solidFill>
            <a:srgbClr val="BFE6FF">
              <a:alpha val="2392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27"/>
          <p:cNvSpPr/>
          <p:nvPr/>
        </p:nvSpPr>
        <p:spPr>
          <a:xfrm>
            <a:off x="7551575" y="2693764"/>
            <a:ext cx="23973" cy="23973"/>
          </a:xfrm>
          <a:prstGeom prst="ellipse">
            <a:avLst/>
          </a:prstGeom>
          <a:solidFill>
            <a:srgbClr val="BFE6FF">
              <a:alpha val="3921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Google Shape;1022;p27"/>
          <p:cNvSpPr/>
          <p:nvPr/>
        </p:nvSpPr>
        <p:spPr>
          <a:xfrm>
            <a:off x="4128605" y="1573499"/>
            <a:ext cx="12455" cy="12455"/>
          </a:xfrm>
          <a:prstGeom prst="ellipse">
            <a:avLst/>
          </a:prstGeom>
          <a:solidFill>
            <a:srgbClr val="BFE6FF">
              <a:alpha val="2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27"/>
          <p:cNvSpPr/>
          <p:nvPr/>
        </p:nvSpPr>
        <p:spPr>
          <a:xfrm>
            <a:off x="5516756" y="1141992"/>
            <a:ext cx="15737" cy="15737"/>
          </a:xfrm>
          <a:prstGeom prst="ellipse">
            <a:avLst/>
          </a:prstGeom>
          <a:solidFill>
            <a:srgbClr val="BFE6FF">
              <a:alpha val="2039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27"/>
          <p:cNvSpPr/>
          <p:nvPr/>
        </p:nvSpPr>
        <p:spPr>
          <a:xfrm>
            <a:off x="6513811" y="1705030"/>
            <a:ext cx="21662" cy="21662"/>
          </a:xfrm>
          <a:prstGeom prst="ellipse">
            <a:avLst/>
          </a:prstGeom>
          <a:solidFill>
            <a:srgbClr val="BFE6FF">
              <a:alpha val="3843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p27"/>
          <p:cNvSpPr/>
          <p:nvPr/>
        </p:nvSpPr>
        <p:spPr>
          <a:xfrm>
            <a:off x="4626657" y="4341594"/>
            <a:ext cx="17078" cy="17078"/>
          </a:xfrm>
          <a:prstGeom prst="ellipse">
            <a:avLst/>
          </a:prstGeom>
          <a:solidFill>
            <a:srgbClr val="BFE6FF">
              <a:alpha val="3411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27"/>
          <p:cNvSpPr/>
          <p:nvPr/>
        </p:nvSpPr>
        <p:spPr>
          <a:xfrm>
            <a:off x="6928272" y="947478"/>
            <a:ext cx="27106" cy="27106"/>
          </a:xfrm>
          <a:prstGeom prst="ellipse">
            <a:avLst/>
          </a:prstGeom>
          <a:solidFill>
            <a:srgbClr val="BFE6FF">
              <a:alpha val="3686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27"/>
          <p:cNvSpPr/>
          <p:nvPr/>
        </p:nvSpPr>
        <p:spPr>
          <a:xfrm>
            <a:off x="153431" y="2514364"/>
            <a:ext cx="27796" cy="27796"/>
          </a:xfrm>
          <a:prstGeom prst="ellipse">
            <a:avLst/>
          </a:prstGeom>
          <a:solidFill>
            <a:srgbClr val="BFE6FF">
              <a:alpha val="2549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27"/>
          <p:cNvSpPr/>
          <p:nvPr/>
        </p:nvSpPr>
        <p:spPr>
          <a:xfrm>
            <a:off x="1245895" y="5056304"/>
            <a:ext cx="26130" cy="26130"/>
          </a:xfrm>
          <a:prstGeom prst="ellipse">
            <a:avLst/>
          </a:prstGeom>
          <a:solidFill>
            <a:srgbClr val="BFE6FF">
              <a:alpha val="4313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p27"/>
          <p:cNvSpPr/>
          <p:nvPr/>
        </p:nvSpPr>
        <p:spPr>
          <a:xfrm>
            <a:off x="5707927" y="3006737"/>
            <a:ext cx="13630" cy="13630"/>
          </a:xfrm>
          <a:prstGeom prst="ellipse">
            <a:avLst/>
          </a:prstGeom>
          <a:solidFill>
            <a:srgbClr val="BFE6FF">
              <a:alpha val="1725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Google Shape;1030;p27"/>
          <p:cNvSpPr/>
          <p:nvPr/>
        </p:nvSpPr>
        <p:spPr>
          <a:xfrm>
            <a:off x="8850287" y="1881827"/>
            <a:ext cx="18539" cy="18539"/>
          </a:xfrm>
          <a:prstGeom prst="ellipse">
            <a:avLst/>
          </a:prstGeom>
          <a:solidFill>
            <a:srgbClr val="BFE6FF">
              <a:alpha val="3294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p27"/>
          <p:cNvSpPr/>
          <p:nvPr/>
        </p:nvSpPr>
        <p:spPr>
          <a:xfrm>
            <a:off x="8460261" y="464009"/>
            <a:ext cx="19656" cy="19656"/>
          </a:xfrm>
          <a:prstGeom prst="ellipse">
            <a:avLst/>
          </a:prstGeom>
          <a:solidFill>
            <a:srgbClr val="BFE6FF">
              <a:alpha val="2705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27"/>
          <p:cNvSpPr/>
          <p:nvPr/>
        </p:nvSpPr>
        <p:spPr>
          <a:xfrm>
            <a:off x="7667549" y="491392"/>
            <a:ext cx="13421" cy="13420"/>
          </a:xfrm>
          <a:prstGeom prst="ellipse">
            <a:avLst/>
          </a:prstGeom>
          <a:solidFill>
            <a:srgbClr val="BFE6FF">
              <a:alpha val="3803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27"/>
          <p:cNvSpPr/>
          <p:nvPr/>
        </p:nvSpPr>
        <p:spPr>
          <a:xfrm>
            <a:off x="1660898" y="4511267"/>
            <a:ext cx="25528" cy="25529"/>
          </a:xfrm>
          <a:prstGeom prst="ellipse">
            <a:avLst/>
          </a:prstGeom>
          <a:solidFill>
            <a:srgbClr val="BFE6FF">
              <a:alpha val="3411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27"/>
          <p:cNvSpPr/>
          <p:nvPr/>
        </p:nvSpPr>
        <p:spPr>
          <a:xfrm>
            <a:off x="411480" y="288036"/>
            <a:ext cx="6172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C6FF"/>
              </a:buClr>
              <a:buSzPts val="900"/>
              <a:buFont typeface="Courier New"/>
              <a:buNone/>
            </a:pPr>
            <a:r>
              <a:rPr b="1" i="0" lang="it" sz="900" u="none" cap="none" strike="noStrike">
                <a:solidFill>
                  <a:srgbClr val="2FC6FF"/>
                </a:solidFill>
                <a:latin typeface="Courier New"/>
                <a:ea typeface="Courier New"/>
                <a:cs typeface="Courier New"/>
                <a:sym typeface="Courier New"/>
              </a:rPr>
              <a:t>05 — ANIMATIONS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27"/>
          <p:cNvSpPr/>
          <p:nvPr/>
        </p:nvSpPr>
        <p:spPr>
          <a:xfrm>
            <a:off x="411480" y="466344"/>
            <a:ext cx="72694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2100"/>
              <a:buFont typeface="Courier New"/>
              <a:buNone/>
            </a:pPr>
            <a:r>
              <a:rPr b="1" i="0" lang="it" sz="2100" u="none" cap="none" strike="noStrike">
                <a:solidFill>
                  <a:srgbClr val="EAF6FF"/>
                </a:solidFill>
                <a:latin typeface="Courier New"/>
                <a:ea typeface="Courier New"/>
                <a:cs typeface="Courier New"/>
                <a:sym typeface="Courier New"/>
              </a:rPr>
              <a:t>Kepler-Inspired Motion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27"/>
          <p:cNvSpPr/>
          <p:nvPr/>
        </p:nvSpPr>
        <p:spPr>
          <a:xfrm>
            <a:off x="8197367" y="288036"/>
            <a:ext cx="534924" cy="534924"/>
          </a:xfrm>
          <a:prstGeom prst="ellipse">
            <a:avLst/>
          </a:prstGeom>
          <a:solidFill>
            <a:srgbClr val="2FC6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37" name="Google Shape;103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7669" y="41833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27"/>
          <p:cNvSpPr/>
          <p:nvPr/>
        </p:nvSpPr>
        <p:spPr>
          <a:xfrm>
            <a:off x="411480" y="4855464"/>
            <a:ext cx="2743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700"/>
              <a:buFont typeface="Courier New"/>
              <a:buNone/>
            </a:pPr>
            <a:r>
              <a:rPr b="0" i="0" lang="it" sz="700" u="none" cap="none" strike="noStrike">
                <a:solidFill>
                  <a:srgbClr val="93B3D6"/>
                </a:solidFill>
                <a:latin typeface="Courier New"/>
                <a:ea typeface="Courier New"/>
                <a:cs typeface="Courier New"/>
                <a:sym typeface="Courier New"/>
              </a:rPr>
              <a:t>LUMEN DRIFT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27"/>
          <p:cNvSpPr/>
          <p:nvPr/>
        </p:nvSpPr>
        <p:spPr>
          <a:xfrm>
            <a:off x="8320811" y="4855464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700"/>
              <a:buFont typeface="Courier New"/>
              <a:buNone/>
            </a:pPr>
            <a:r>
              <a:rPr b="0" i="0" lang="it" sz="700" u="none" cap="none" strike="noStrike">
                <a:solidFill>
                  <a:srgbClr val="93B3D6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27"/>
          <p:cNvSpPr/>
          <p:nvPr/>
        </p:nvSpPr>
        <p:spPr>
          <a:xfrm>
            <a:off x="411480" y="1110996"/>
            <a:ext cx="3909060" cy="2983230"/>
          </a:xfrm>
          <a:prstGeom prst="roundRect">
            <a:avLst>
              <a:gd fmla="val 2069" name="adj"/>
            </a:avLst>
          </a:prstGeom>
          <a:solidFill>
            <a:srgbClr val="0E183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27"/>
          <p:cNvSpPr/>
          <p:nvPr/>
        </p:nvSpPr>
        <p:spPr>
          <a:xfrm>
            <a:off x="562356" y="1261872"/>
            <a:ext cx="315468" cy="315468"/>
          </a:xfrm>
          <a:prstGeom prst="ellipse">
            <a:avLst/>
          </a:prstGeom>
          <a:solidFill>
            <a:srgbClr val="2FC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42" name="Google Shape;104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223" y="1340739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1043" name="Google Shape;1043;p27"/>
          <p:cNvSpPr/>
          <p:nvPr/>
        </p:nvSpPr>
        <p:spPr>
          <a:xfrm>
            <a:off x="994410" y="1261872"/>
            <a:ext cx="30861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Elliptical Comet Orbit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27"/>
          <p:cNvSpPr/>
          <p:nvPr/>
        </p:nvSpPr>
        <p:spPr>
          <a:xfrm>
            <a:off x="562356" y="1693926"/>
            <a:ext cx="3607308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The orbit is an ellipse (a = 550, b = 320) on the XZ plane, offset so the star sits at a true focus rather than the center.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27"/>
          <p:cNvSpPr/>
          <p:nvPr/>
        </p:nvSpPr>
        <p:spPr>
          <a:xfrm>
            <a:off x="562356" y="2173986"/>
            <a:ext cx="3607308" cy="994410"/>
          </a:xfrm>
          <a:prstGeom prst="roundRect">
            <a:avLst>
              <a:gd fmla="val 4138" name="adj"/>
            </a:avLst>
          </a:prstGeom>
          <a:solidFill>
            <a:srgbClr val="16223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27"/>
          <p:cNvSpPr/>
          <p:nvPr/>
        </p:nvSpPr>
        <p:spPr>
          <a:xfrm>
            <a:off x="685800" y="2263140"/>
            <a:ext cx="33604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FC6FF"/>
              </a:buClr>
              <a:buSzPts val="1000"/>
              <a:buFont typeface="Courier New"/>
              <a:buNone/>
            </a:pPr>
            <a:r>
              <a:rPr b="0" i="0" lang="it" sz="1000" u="none" cap="none" strike="noStrike">
                <a:solidFill>
                  <a:srgbClr val="2FC6FF"/>
                </a:solidFill>
                <a:latin typeface="Courier New"/>
                <a:ea typeface="Courier New"/>
                <a:cs typeface="Courier New"/>
                <a:sym typeface="Courier New"/>
              </a:rPr>
              <a:t>c = √(a² − b²)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FC6FF"/>
              </a:buClr>
              <a:buSzPts val="1000"/>
              <a:buFont typeface="Courier New"/>
              <a:buNone/>
            </a:pPr>
            <a:r>
              <a:rPr b="0" i="0" lang="it" sz="1000" u="none" cap="none" strike="noStrike">
                <a:solidFill>
                  <a:srgbClr val="2FC6FF"/>
                </a:solidFill>
                <a:latin typeface="Courier New"/>
                <a:ea typeface="Courier New"/>
                <a:cs typeface="Courier New"/>
                <a:sym typeface="Courier New"/>
              </a:rPr>
              <a:t>ω(t) = α / r(t),  α = 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FC6FF"/>
              </a:buClr>
              <a:buSzPts val="1000"/>
              <a:buFont typeface="Courier New"/>
              <a:buNone/>
            </a:pPr>
            <a:r>
              <a:rPr b="0" i="0" lang="it" sz="1000" u="none" cap="none" strike="noStrike">
                <a:solidFill>
                  <a:srgbClr val="2FC6FF"/>
                </a:solidFill>
                <a:latin typeface="Courier New"/>
                <a:ea typeface="Courier New"/>
                <a:cs typeface="Courier New"/>
                <a:sym typeface="Courier New"/>
              </a:rPr>
              <a:t>θ(t+Δt) = θ(t) + ω(t)·0.02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27"/>
          <p:cNvSpPr/>
          <p:nvPr/>
        </p:nvSpPr>
        <p:spPr>
          <a:xfrm>
            <a:off x="562356" y="3271266"/>
            <a:ext cx="3607308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Orbital speed is inversely proportional to distance from the star — the comet accelerates at perihelion and slows at aphelion, a simplified Second Law. Its tail length and flutter also scale with distance, always oriented away from the sun via lookAt().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27"/>
          <p:cNvSpPr/>
          <p:nvPr/>
        </p:nvSpPr>
        <p:spPr>
          <a:xfrm>
            <a:off x="4732020" y="1110996"/>
            <a:ext cx="4011930" cy="2983230"/>
          </a:xfrm>
          <a:prstGeom prst="roundRect">
            <a:avLst>
              <a:gd fmla="val 2069" name="adj"/>
            </a:avLst>
          </a:prstGeom>
          <a:solidFill>
            <a:srgbClr val="0E183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27"/>
          <p:cNvSpPr/>
          <p:nvPr/>
        </p:nvSpPr>
        <p:spPr>
          <a:xfrm>
            <a:off x="4882896" y="1261872"/>
            <a:ext cx="315468" cy="315468"/>
          </a:xfrm>
          <a:prstGeom prst="ellipse">
            <a:avLst/>
          </a:prstGeom>
          <a:solidFill>
            <a:srgbClr val="FFB23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50" name="Google Shape;105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763" y="1340739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1051" name="Google Shape;1051;p27"/>
          <p:cNvSpPr/>
          <p:nvPr/>
        </p:nvSpPr>
        <p:spPr>
          <a:xfrm>
            <a:off x="5314950" y="1261872"/>
            <a:ext cx="32232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Black Hole Accretion Disk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27"/>
          <p:cNvSpPr/>
          <p:nvPr/>
        </p:nvSpPr>
        <p:spPr>
          <a:xfrm>
            <a:off x="4882896" y="1693926"/>
            <a:ext cx="370332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10,000 particles live in a single BufferGeometry; positions are rewritten directly in the buffer every frame instead of managing individual objects.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27"/>
          <p:cNvSpPr/>
          <p:nvPr/>
        </p:nvSpPr>
        <p:spPr>
          <a:xfrm>
            <a:off x="4882896" y="2173986"/>
            <a:ext cx="3703320" cy="754380"/>
          </a:xfrm>
          <a:prstGeom prst="roundRect">
            <a:avLst>
              <a:gd fmla="val 5455" name="adj"/>
            </a:avLst>
          </a:prstGeom>
          <a:solidFill>
            <a:srgbClr val="16223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27"/>
          <p:cNvSpPr/>
          <p:nvPr/>
        </p:nvSpPr>
        <p:spPr>
          <a:xfrm>
            <a:off x="5006340" y="2173986"/>
            <a:ext cx="342900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238"/>
              </a:buClr>
              <a:buSzPts val="1100"/>
              <a:buFont typeface="Courier New"/>
              <a:buNone/>
            </a:pPr>
            <a:r>
              <a:rPr b="0" i="0" lang="it" sz="1100" u="none" cap="none" strike="noStrike">
                <a:solidFill>
                  <a:srgbClr val="FFB238"/>
                </a:solidFill>
                <a:latin typeface="Courier New"/>
                <a:ea typeface="Courier New"/>
                <a:cs typeface="Courier New"/>
                <a:sym typeface="Courier New"/>
              </a:rPr>
              <a:t>Ω(r) = μ / r¹˙⁵,   μ = 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27"/>
          <p:cNvSpPr/>
          <p:nvPr/>
        </p:nvSpPr>
        <p:spPr>
          <a:xfrm>
            <a:off x="4882896" y="3031236"/>
            <a:ext cx="3703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Angular speed scales inversely with radius¹˙⁵ — particles near the center whirl far faster than those on the outer edge, giving the disk its characteristic swirl. Each frame, positions are rotated with a 2D rotation matrix and the buffer's needsUpdate flag is set for the GPU.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B16"/>
        </a:solidFill>
      </p:bgPr>
    </p:bg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28"/>
          <p:cNvSpPr/>
          <p:nvPr/>
        </p:nvSpPr>
        <p:spPr>
          <a:xfrm>
            <a:off x="8657381" y="1924453"/>
            <a:ext cx="29400" cy="29400"/>
          </a:xfrm>
          <a:prstGeom prst="ellipse">
            <a:avLst/>
          </a:prstGeom>
          <a:solidFill>
            <a:srgbClr val="BFE6FF">
              <a:alpha val="1764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28"/>
          <p:cNvSpPr/>
          <p:nvPr/>
        </p:nvSpPr>
        <p:spPr>
          <a:xfrm>
            <a:off x="9065303" y="444029"/>
            <a:ext cx="31200" cy="31200"/>
          </a:xfrm>
          <a:prstGeom prst="ellipse">
            <a:avLst/>
          </a:prstGeom>
          <a:solidFill>
            <a:srgbClr val="BFE6FF">
              <a:alpha val="4509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28"/>
          <p:cNvSpPr/>
          <p:nvPr/>
        </p:nvSpPr>
        <p:spPr>
          <a:xfrm>
            <a:off x="6144191" y="4794942"/>
            <a:ext cx="19200" cy="19200"/>
          </a:xfrm>
          <a:prstGeom prst="ellipse">
            <a:avLst/>
          </a:prstGeom>
          <a:solidFill>
            <a:srgbClr val="BFE6FF">
              <a:alpha val="3450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28"/>
          <p:cNvSpPr/>
          <p:nvPr/>
        </p:nvSpPr>
        <p:spPr>
          <a:xfrm>
            <a:off x="7301278" y="3803793"/>
            <a:ext cx="20400" cy="20400"/>
          </a:xfrm>
          <a:prstGeom prst="ellipse">
            <a:avLst/>
          </a:prstGeom>
          <a:solidFill>
            <a:srgbClr val="BFE6FF">
              <a:alpha val="2980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28"/>
          <p:cNvSpPr/>
          <p:nvPr/>
        </p:nvSpPr>
        <p:spPr>
          <a:xfrm>
            <a:off x="549263" y="3305287"/>
            <a:ext cx="19500" cy="19500"/>
          </a:xfrm>
          <a:prstGeom prst="ellipse">
            <a:avLst/>
          </a:prstGeom>
          <a:solidFill>
            <a:srgbClr val="BFE6FF">
              <a:alpha val="1254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28"/>
          <p:cNvSpPr/>
          <p:nvPr/>
        </p:nvSpPr>
        <p:spPr>
          <a:xfrm>
            <a:off x="5143873" y="4884680"/>
            <a:ext cx="19800" cy="19800"/>
          </a:xfrm>
          <a:prstGeom prst="ellipse">
            <a:avLst/>
          </a:prstGeom>
          <a:solidFill>
            <a:srgbClr val="BFE6FF">
              <a:alpha val="3058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28"/>
          <p:cNvSpPr/>
          <p:nvPr/>
        </p:nvSpPr>
        <p:spPr>
          <a:xfrm>
            <a:off x="9042160" y="2471688"/>
            <a:ext cx="15600" cy="15600"/>
          </a:xfrm>
          <a:prstGeom prst="ellipse">
            <a:avLst/>
          </a:prstGeom>
          <a:solidFill>
            <a:srgbClr val="BFE6FF">
              <a:alpha val="2745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28"/>
          <p:cNvSpPr/>
          <p:nvPr/>
        </p:nvSpPr>
        <p:spPr>
          <a:xfrm>
            <a:off x="5113018" y="5067575"/>
            <a:ext cx="25500" cy="25500"/>
          </a:xfrm>
          <a:prstGeom prst="ellipse">
            <a:avLst/>
          </a:prstGeom>
          <a:solidFill>
            <a:srgbClr val="BFE6FF">
              <a:alpha val="2980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28"/>
          <p:cNvSpPr/>
          <p:nvPr/>
        </p:nvSpPr>
        <p:spPr>
          <a:xfrm>
            <a:off x="885863" y="4048583"/>
            <a:ext cx="20400" cy="20400"/>
          </a:xfrm>
          <a:prstGeom prst="ellipse">
            <a:avLst/>
          </a:prstGeom>
          <a:solidFill>
            <a:srgbClr val="BFE6FF">
              <a:alpha val="2901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28"/>
          <p:cNvSpPr/>
          <p:nvPr/>
        </p:nvSpPr>
        <p:spPr>
          <a:xfrm>
            <a:off x="8771227" y="2319644"/>
            <a:ext cx="12600" cy="12600"/>
          </a:xfrm>
          <a:prstGeom prst="ellipse">
            <a:avLst/>
          </a:prstGeom>
          <a:solidFill>
            <a:srgbClr val="BFE6FF">
              <a:alpha val="2823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28"/>
          <p:cNvSpPr/>
          <p:nvPr/>
        </p:nvSpPr>
        <p:spPr>
          <a:xfrm>
            <a:off x="1988882" y="1407139"/>
            <a:ext cx="25200" cy="25200"/>
          </a:xfrm>
          <a:prstGeom prst="ellipse">
            <a:avLst/>
          </a:prstGeom>
          <a:solidFill>
            <a:srgbClr val="BFE6FF">
              <a:alpha val="2392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28"/>
          <p:cNvSpPr/>
          <p:nvPr/>
        </p:nvSpPr>
        <p:spPr>
          <a:xfrm>
            <a:off x="1170555" y="715787"/>
            <a:ext cx="32700" cy="32700"/>
          </a:xfrm>
          <a:prstGeom prst="ellipse">
            <a:avLst/>
          </a:prstGeom>
          <a:solidFill>
            <a:srgbClr val="BFE6FF">
              <a:alpha val="4431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28"/>
          <p:cNvSpPr/>
          <p:nvPr/>
        </p:nvSpPr>
        <p:spPr>
          <a:xfrm>
            <a:off x="6068061" y="985029"/>
            <a:ext cx="27600" cy="27600"/>
          </a:xfrm>
          <a:prstGeom prst="ellipse">
            <a:avLst/>
          </a:prstGeom>
          <a:solidFill>
            <a:srgbClr val="BFE6FF">
              <a:alpha val="3725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28"/>
          <p:cNvSpPr/>
          <p:nvPr/>
        </p:nvSpPr>
        <p:spPr>
          <a:xfrm>
            <a:off x="3049688" y="1469714"/>
            <a:ext cx="25200" cy="25200"/>
          </a:xfrm>
          <a:prstGeom prst="ellipse">
            <a:avLst/>
          </a:prstGeom>
          <a:solidFill>
            <a:srgbClr val="BFE6FF">
              <a:alpha val="1450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28"/>
          <p:cNvSpPr/>
          <p:nvPr/>
        </p:nvSpPr>
        <p:spPr>
          <a:xfrm>
            <a:off x="6060172" y="1081541"/>
            <a:ext cx="16800" cy="16800"/>
          </a:xfrm>
          <a:prstGeom prst="ellipse">
            <a:avLst/>
          </a:prstGeom>
          <a:solidFill>
            <a:srgbClr val="BFE6FF">
              <a:alpha val="1333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28"/>
          <p:cNvSpPr/>
          <p:nvPr/>
        </p:nvSpPr>
        <p:spPr>
          <a:xfrm>
            <a:off x="263888" y="2126640"/>
            <a:ext cx="12600" cy="12600"/>
          </a:xfrm>
          <a:prstGeom prst="ellipse">
            <a:avLst/>
          </a:prstGeom>
          <a:solidFill>
            <a:srgbClr val="BFE6FF">
              <a:alpha val="2823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28"/>
          <p:cNvSpPr/>
          <p:nvPr/>
        </p:nvSpPr>
        <p:spPr>
          <a:xfrm>
            <a:off x="2926528" y="4682682"/>
            <a:ext cx="31800" cy="31800"/>
          </a:xfrm>
          <a:prstGeom prst="ellipse">
            <a:avLst/>
          </a:prstGeom>
          <a:solidFill>
            <a:srgbClr val="BFE6FF">
              <a:alpha val="4274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28"/>
          <p:cNvSpPr/>
          <p:nvPr/>
        </p:nvSpPr>
        <p:spPr>
          <a:xfrm>
            <a:off x="260035" y="2145919"/>
            <a:ext cx="17100" cy="17100"/>
          </a:xfrm>
          <a:prstGeom prst="ellipse">
            <a:avLst/>
          </a:prstGeom>
          <a:solidFill>
            <a:srgbClr val="BFE6FF">
              <a:alpha val="1803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28"/>
          <p:cNvSpPr/>
          <p:nvPr/>
        </p:nvSpPr>
        <p:spPr>
          <a:xfrm>
            <a:off x="1151923" y="1027900"/>
            <a:ext cx="26100" cy="26100"/>
          </a:xfrm>
          <a:prstGeom prst="ellipse">
            <a:avLst/>
          </a:prstGeom>
          <a:solidFill>
            <a:srgbClr val="BFE6FF">
              <a:alpha val="1803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28"/>
          <p:cNvSpPr/>
          <p:nvPr/>
        </p:nvSpPr>
        <p:spPr>
          <a:xfrm>
            <a:off x="8570851" y="3352991"/>
            <a:ext cx="17400" cy="17400"/>
          </a:xfrm>
          <a:prstGeom prst="ellipse">
            <a:avLst/>
          </a:prstGeom>
          <a:solidFill>
            <a:srgbClr val="BFE6FF">
              <a:alpha val="3137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28"/>
          <p:cNvSpPr/>
          <p:nvPr/>
        </p:nvSpPr>
        <p:spPr>
          <a:xfrm>
            <a:off x="8821766" y="4688619"/>
            <a:ext cx="24600" cy="24600"/>
          </a:xfrm>
          <a:prstGeom prst="ellipse">
            <a:avLst/>
          </a:prstGeom>
          <a:solidFill>
            <a:srgbClr val="BFE6FF">
              <a:alpha val="3372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28"/>
          <p:cNvSpPr/>
          <p:nvPr/>
        </p:nvSpPr>
        <p:spPr>
          <a:xfrm>
            <a:off x="1005270" y="1473502"/>
            <a:ext cx="14400" cy="14400"/>
          </a:xfrm>
          <a:prstGeom prst="ellipse">
            <a:avLst/>
          </a:prstGeom>
          <a:solidFill>
            <a:srgbClr val="BFE6FF">
              <a:alpha val="2901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28"/>
          <p:cNvSpPr/>
          <p:nvPr/>
        </p:nvSpPr>
        <p:spPr>
          <a:xfrm>
            <a:off x="7076602" y="3142711"/>
            <a:ext cx="15300" cy="15300"/>
          </a:xfrm>
          <a:prstGeom prst="ellipse">
            <a:avLst/>
          </a:prstGeom>
          <a:solidFill>
            <a:srgbClr val="BFE6FF">
              <a:alpha val="4156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28"/>
          <p:cNvSpPr/>
          <p:nvPr/>
        </p:nvSpPr>
        <p:spPr>
          <a:xfrm>
            <a:off x="830879" y="4542789"/>
            <a:ext cx="26700" cy="26700"/>
          </a:xfrm>
          <a:prstGeom prst="ellipse">
            <a:avLst/>
          </a:prstGeom>
          <a:solidFill>
            <a:srgbClr val="BFE6FF">
              <a:alpha val="2352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28"/>
          <p:cNvSpPr/>
          <p:nvPr/>
        </p:nvSpPr>
        <p:spPr>
          <a:xfrm>
            <a:off x="7542207" y="3319995"/>
            <a:ext cx="32400" cy="32400"/>
          </a:xfrm>
          <a:prstGeom prst="ellipse">
            <a:avLst/>
          </a:prstGeom>
          <a:solidFill>
            <a:srgbClr val="BFE6FF">
              <a:alpha val="2941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28"/>
          <p:cNvSpPr/>
          <p:nvPr/>
        </p:nvSpPr>
        <p:spPr>
          <a:xfrm>
            <a:off x="4854520" y="1209194"/>
            <a:ext cx="29400" cy="29400"/>
          </a:xfrm>
          <a:prstGeom prst="ellipse">
            <a:avLst/>
          </a:prstGeom>
          <a:solidFill>
            <a:srgbClr val="BFE6FF">
              <a:alpha val="4117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p28"/>
          <p:cNvSpPr/>
          <p:nvPr/>
        </p:nvSpPr>
        <p:spPr>
          <a:xfrm>
            <a:off x="411480" y="288036"/>
            <a:ext cx="6172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C6FF"/>
              </a:buClr>
              <a:buSzPts val="900"/>
              <a:buFont typeface="Courier New"/>
              <a:buNone/>
            </a:pPr>
            <a:r>
              <a:rPr b="1" i="0" lang="it" sz="900" u="none" cap="none" strike="noStrike">
                <a:solidFill>
                  <a:srgbClr val="2FC6FF"/>
                </a:solidFill>
                <a:latin typeface="Courier New"/>
                <a:ea typeface="Courier New"/>
                <a:cs typeface="Courier New"/>
                <a:sym typeface="Courier New"/>
              </a:rPr>
              <a:t>05 — ANIMATIONS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28"/>
          <p:cNvSpPr/>
          <p:nvPr/>
        </p:nvSpPr>
        <p:spPr>
          <a:xfrm>
            <a:off x="411480" y="466344"/>
            <a:ext cx="726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2100"/>
              <a:buFont typeface="Courier New"/>
              <a:buNone/>
            </a:pPr>
            <a:r>
              <a:rPr b="1" i="0" lang="it" sz="2100" u="none" cap="none" strike="noStrike">
                <a:solidFill>
                  <a:srgbClr val="EAF6FF"/>
                </a:solidFill>
                <a:latin typeface="Courier New"/>
                <a:ea typeface="Courier New"/>
                <a:cs typeface="Courier New"/>
                <a:sym typeface="Courier New"/>
              </a:rPr>
              <a:t>Props animations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28"/>
          <p:cNvSpPr/>
          <p:nvPr/>
        </p:nvSpPr>
        <p:spPr>
          <a:xfrm>
            <a:off x="8197367" y="288036"/>
            <a:ext cx="534900" cy="534900"/>
          </a:xfrm>
          <a:prstGeom prst="ellipse">
            <a:avLst/>
          </a:prstGeom>
          <a:solidFill>
            <a:srgbClr val="2FC6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90" name="Google Shape;109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7669" y="41833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91" name="Google Shape;1091;p28"/>
          <p:cNvSpPr/>
          <p:nvPr/>
        </p:nvSpPr>
        <p:spPr>
          <a:xfrm>
            <a:off x="411480" y="4855464"/>
            <a:ext cx="2743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700"/>
              <a:buFont typeface="Courier New"/>
              <a:buNone/>
            </a:pPr>
            <a:r>
              <a:rPr b="0" i="0" lang="it" sz="700" u="none" cap="none" strike="noStrike">
                <a:solidFill>
                  <a:srgbClr val="93B3D6"/>
                </a:solidFill>
                <a:latin typeface="Courier New"/>
                <a:ea typeface="Courier New"/>
                <a:cs typeface="Courier New"/>
                <a:sym typeface="Courier New"/>
              </a:rPr>
              <a:t>LUMEN DRIFT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28"/>
          <p:cNvSpPr/>
          <p:nvPr/>
        </p:nvSpPr>
        <p:spPr>
          <a:xfrm>
            <a:off x="8320811" y="4855464"/>
            <a:ext cx="411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700"/>
              <a:buFont typeface="Courier New"/>
              <a:buNone/>
            </a:pPr>
            <a:r>
              <a:rPr b="0" i="0" lang="it" sz="700" u="none" cap="none" strike="noStrike">
                <a:solidFill>
                  <a:srgbClr val="93B3D6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28"/>
          <p:cNvSpPr/>
          <p:nvPr/>
        </p:nvSpPr>
        <p:spPr>
          <a:xfrm>
            <a:off x="411480" y="943584"/>
            <a:ext cx="788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900"/>
              <a:buFont typeface="Calibri"/>
              <a:buNone/>
            </a:pPr>
            <a:r>
              <a:rPr b="0" i="1" lang="it" sz="9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Many small models have animations hidden in them.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4" name="Google Shape;1094;p28" title="scherm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21469" y="2921038"/>
            <a:ext cx="1147750" cy="17859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5" name="Google Shape;1095;p28" title="Screenshot 2026-07-01 205242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84420" y="2886621"/>
            <a:ext cx="1260150" cy="1854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6" name="Google Shape;1096;p28" title="Screenshot 2026-07-01 205200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59775" y="2954245"/>
            <a:ext cx="1814825" cy="1719517"/>
          </a:xfrm>
          <a:prstGeom prst="rect">
            <a:avLst/>
          </a:prstGeom>
          <a:noFill/>
          <a:ln>
            <a:noFill/>
          </a:ln>
        </p:spPr>
      </p:pic>
      <p:sp>
        <p:nvSpPr>
          <p:cNvPr id="1097" name="Google Shape;1097;p28"/>
          <p:cNvSpPr txBox="1"/>
          <p:nvPr/>
        </p:nvSpPr>
        <p:spPr>
          <a:xfrm>
            <a:off x="476825" y="1632313"/>
            <a:ext cx="3114300" cy="14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-"/>
            </a:pPr>
            <a:r>
              <a:rPr b="0" i="0" lang="it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Crystals and Platforms have oscillating floating movements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-"/>
            </a:pPr>
            <a:r>
              <a:rPr b="0" i="0" lang="it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Some materials change their opacity overtime, like background stars and The radar blip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-"/>
            </a:pPr>
            <a:r>
              <a:rPr b="0" i="0" lang="it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lights in the mainframe turn on and off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28"/>
          <p:cNvSpPr txBox="1"/>
          <p:nvPr/>
        </p:nvSpPr>
        <p:spPr>
          <a:xfrm>
            <a:off x="4141288" y="1580625"/>
            <a:ext cx="3628800" cy="17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-"/>
            </a:pPr>
            <a:r>
              <a:rPr b="0" i="0" lang="it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Console log screen have moving writings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-"/>
            </a:pPr>
            <a:r>
              <a:rPr b="0" i="0" lang="it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Central Hologram rotates on itself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-"/>
            </a:pPr>
            <a:r>
              <a:rPr b="0" i="0" lang="it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Plasma pipes have moving textures to simulate moving substance inside them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B16"/>
        </a:solidFill>
      </p:bgPr>
    </p:bg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29"/>
          <p:cNvSpPr/>
          <p:nvPr/>
        </p:nvSpPr>
        <p:spPr>
          <a:xfrm>
            <a:off x="7912907" y="2869481"/>
            <a:ext cx="20810" cy="20810"/>
          </a:xfrm>
          <a:prstGeom prst="ellipse">
            <a:avLst/>
          </a:prstGeom>
          <a:solidFill>
            <a:srgbClr val="BFE6FF">
              <a:alpha val="3450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p29"/>
          <p:cNvSpPr/>
          <p:nvPr/>
        </p:nvSpPr>
        <p:spPr>
          <a:xfrm>
            <a:off x="2003710" y="1512703"/>
            <a:ext cx="18300" cy="18300"/>
          </a:xfrm>
          <a:prstGeom prst="ellipse">
            <a:avLst/>
          </a:prstGeom>
          <a:solidFill>
            <a:srgbClr val="BFE6FF">
              <a:alpha val="3372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29"/>
          <p:cNvSpPr/>
          <p:nvPr/>
        </p:nvSpPr>
        <p:spPr>
          <a:xfrm>
            <a:off x="471496" y="27971"/>
            <a:ext cx="13809" cy="13809"/>
          </a:xfrm>
          <a:prstGeom prst="ellipse">
            <a:avLst/>
          </a:prstGeom>
          <a:solidFill>
            <a:srgbClr val="BFE6FF">
              <a:alpha val="1137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p29"/>
          <p:cNvSpPr/>
          <p:nvPr/>
        </p:nvSpPr>
        <p:spPr>
          <a:xfrm>
            <a:off x="7360305" y="849805"/>
            <a:ext cx="29930" cy="29930"/>
          </a:xfrm>
          <a:prstGeom prst="ellipse">
            <a:avLst/>
          </a:prstGeom>
          <a:solidFill>
            <a:srgbClr val="BFE6FF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8" name="Google Shape;1108;p29"/>
          <p:cNvSpPr/>
          <p:nvPr/>
        </p:nvSpPr>
        <p:spPr>
          <a:xfrm>
            <a:off x="1833660" y="914383"/>
            <a:ext cx="33312" cy="33312"/>
          </a:xfrm>
          <a:prstGeom prst="ellipse">
            <a:avLst/>
          </a:prstGeom>
          <a:solidFill>
            <a:srgbClr val="BFE6FF">
              <a:alpha val="3411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29"/>
          <p:cNvSpPr/>
          <p:nvPr/>
        </p:nvSpPr>
        <p:spPr>
          <a:xfrm>
            <a:off x="4484077" y="640172"/>
            <a:ext cx="33323" cy="33323"/>
          </a:xfrm>
          <a:prstGeom prst="ellipse">
            <a:avLst/>
          </a:prstGeom>
          <a:solidFill>
            <a:srgbClr val="BFE6FF">
              <a:alpha val="1960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29"/>
          <p:cNvSpPr/>
          <p:nvPr/>
        </p:nvSpPr>
        <p:spPr>
          <a:xfrm>
            <a:off x="4574773" y="2896111"/>
            <a:ext cx="19010" cy="19010"/>
          </a:xfrm>
          <a:prstGeom prst="ellipse">
            <a:avLst/>
          </a:prstGeom>
          <a:solidFill>
            <a:srgbClr val="BFE6FF">
              <a:alpha val="3411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p29"/>
          <p:cNvSpPr/>
          <p:nvPr/>
        </p:nvSpPr>
        <p:spPr>
          <a:xfrm>
            <a:off x="9071991" y="89709"/>
            <a:ext cx="28094" cy="28094"/>
          </a:xfrm>
          <a:prstGeom prst="ellipse">
            <a:avLst/>
          </a:prstGeom>
          <a:solidFill>
            <a:srgbClr val="BFE6FF">
              <a:alpha val="1137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p29"/>
          <p:cNvSpPr/>
          <p:nvPr/>
        </p:nvSpPr>
        <p:spPr>
          <a:xfrm>
            <a:off x="3950309" y="1051764"/>
            <a:ext cx="23813" cy="23813"/>
          </a:xfrm>
          <a:prstGeom prst="ellipse">
            <a:avLst/>
          </a:prstGeom>
          <a:solidFill>
            <a:srgbClr val="BFE6FF">
              <a:alpha val="2588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p29"/>
          <p:cNvSpPr/>
          <p:nvPr/>
        </p:nvSpPr>
        <p:spPr>
          <a:xfrm>
            <a:off x="7633478" y="3243182"/>
            <a:ext cx="17100" cy="17100"/>
          </a:xfrm>
          <a:prstGeom prst="ellipse">
            <a:avLst/>
          </a:prstGeom>
          <a:solidFill>
            <a:srgbClr val="BFE6FF">
              <a:alpha val="1647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p29"/>
          <p:cNvSpPr/>
          <p:nvPr/>
        </p:nvSpPr>
        <p:spPr>
          <a:xfrm>
            <a:off x="5290054" y="3330320"/>
            <a:ext cx="32170" cy="32170"/>
          </a:xfrm>
          <a:prstGeom prst="ellipse">
            <a:avLst/>
          </a:prstGeom>
          <a:solidFill>
            <a:srgbClr val="BFE6FF">
              <a:alpha val="2352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29"/>
          <p:cNvSpPr/>
          <p:nvPr/>
        </p:nvSpPr>
        <p:spPr>
          <a:xfrm>
            <a:off x="8491880" y="3585411"/>
            <a:ext cx="13403" cy="13403"/>
          </a:xfrm>
          <a:prstGeom prst="ellipse">
            <a:avLst/>
          </a:prstGeom>
          <a:solidFill>
            <a:srgbClr val="BFE6FF">
              <a:alpha val="3254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p29"/>
          <p:cNvSpPr/>
          <p:nvPr/>
        </p:nvSpPr>
        <p:spPr>
          <a:xfrm>
            <a:off x="7078455" y="5029166"/>
            <a:ext cx="21582" cy="21582"/>
          </a:xfrm>
          <a:prstGeom prst="ellipse">
            <a:avLst/>
          </a:prstGeom>
          <a:solidFill>
            <a:srgbClr val="BFE6FF">
              <a:alpha val="3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29"/>
          <p:cNvSpPr/>
          <p:nvPr/>
        </p:nvSpPr>
        <p:spPr>
          <a:xfrm>
            <a:off x="6620041" y="3154629"/>
            <a:ext cx="32100" cy="32100"/>
          </a:xfrm>
          <a:prstGeom prst="ellipse">
            <a:avLst/>
          </a:prstGeom>
          <a:solidFill>
            <a:srgbClr val="BFE6FF">
              <a:alpha val="3803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29"/>
          <p:cNvSpPr/>
          <p:nvPr/>
        </p:nvSpPr>
        <p:spPr>
          <a:xfrm>
            <a:off x="6360595" y="3135954"/>
            <a:ext cx="24000" cy="24000"/>
          </a:xfrm>
          <a:prstGeom prst="ellipse">
            <a:avLst/>
          </a:prstGeom>
          <a:solidFill>
            <a:srgbClr val="BFE6FF">
              <a:alpha val="4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p29"/>
          <p:cNvSpPr/>
          <p:nvPr/>
        </p:nvSpPr>
        <p:spPr>
          <a:xfrm>
            <a:off x="8456813" y="4039986"/>
            <a:ext cx="17475" cy="17475"/>
          </a:xfrm>
          <a:prstGeom prst="ellipse">
            <a:avLst/>
          </a:prstGeom>
          <a:solidFill>
            <a:srgbClr val="BFE6FF">
              <a:alpha val="4039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p29"/>
          <p:cNvSpPr/>
          <p:nvPr/>
        </p:nvSpPr>
        <p:spPr>
          <a:xfrm>
            <a:off x="5938396" y="202828"/>
            <a:ext cx="28719" cy="28719"/>
          </a:xfrm>
          <a:prstGeom prst="ellipse">
            <a:avLst/>
          </a:prstGeom>
          <a:solidFill>
            <a:srgbClr val="BFE6FF">
              <a:alpha val="2156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1" name="Google Shape;1121;p29"/>
          <p:cNvSpPr/>
          <p:nvPr/>
        </p:nvSpPr>
        <p:spPr>
          <a:xfrm>
            <a:off x="1821713" y="4330727"/>
            <a:ext cx="15149" cy="15149"/>
          </a:xfrm>
          <a:prstGeom prst="ellipse">
            <a:avLst/>
          </a:prstGeom>
          <a:solidFill>
            <a:srgbClr val="BFE6FF">
              <a:alpha val="1333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p29"/>
          <p:cNvSpPr/>
          <p:nvPr/>
        </p:nvSpPr>
        <p:spPr>
          <a:xfrm>
            <a:off x="2064989" y="3338387"/>
            <a:ext cx="33352" cy="33352"/>
          </a:xfrm>
          <a:prstGeom prst="ellipse">
            <a:avLst/>
          </a:prstGeom>
          <a:solidFill>
            <a:srgbClr val="BFE6FF">
              <a:alpha val="3686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p29"/>
          <p:cNvSpPr/>
          <p:nvPr/>
        </p:nvSpPr>
        <p:spPr>
          <a:xfrm>
            <a:off x="5369803" y="1637635"/>
            <a:ext cx="33000" cy="33000"/>
          </a:xfrm>
          <a:prstGeom prst="ellipse">
            <a:avLst/>
          </a:prstGeom>
          <a:solidFill>
            <a:srgbClr val="BFE6FF">
              <a:alpha val="2784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4" name="Google Shape;1124;p29"/>
          <p:cNvSpPr/>
          <p:nvPr/>
        </p:nvSpPr>
        <p:spPr>
          <a:xfrm>
            <a:off x="74797" y="3168394"/>
            <a:ext cx="16816" cy="16816"/>
          </a:xfrm>
          <a:prstGeom prst="ellipse">
            <a:avLst/>
          </a:prstGeom>
          <a:solidFill>
            <a:srgbClr val="BFE6FF">
              <a:alpha val="3803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29"/>
          <p:cNvSpPr/>
          <p:nvPr/>
        </p:nvSpPr>
        <p:spPr>
          <a:xfrm>
            <a:off x="958598" y="3069912"/>
            <a:ext cx="28800" cy="28800"/>
          </a:xfrm>
          <a:prstGeom prst="ellipse">
            <a:avLst/>
          </a:prstGeom>
          <a:solidFill>
            <a:srgbClr val="BFE6FF">
              <a:alpha val="2470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p29"/>
          <p:cNvSpPr/>
          <p:nvPr/>
        </p:nvSpPr>
        <p:spPr>
          <a:xfrm>
            <a:off x="6755244" y="1842872"/>
            <a:ext cx="28500" cy="28500"/>
          </a:xfrm>
          <a:prstGeom prst="ellipse">
            <a:avLst/>
          </a:prstGeom>
          <a:solidFill>
            <a:srgbClr val="BFE6FF">
              <a:alpha val="3803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7" name="Google Shape;1127;p29"/>
          <p:cNvSpPr/>
          <p:nvPr/>
        </p:nvSpPr>
        <p:spPr>
          <a:xfrm>
            <a:off x="6882540" y="2123114"/>
            <a:ext cx="22249" cy="22249"/>
          </a:xfrm>
          <a:prstGeom prst="ellipse">
            <a:avLst/>
          </a:prstGeom>
          <a:solidFill>
            <a:srgbClr val="BFE6FF">
              <a:alpha val="3568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29"/>
          <p:cNvSpPr/>
          <p:nvPr/>
        </p:nvSpPr>
        <p:spPr>
          <a:xfrm>
            <a:off x="3443438" y="1224163"/>
            <a:ext cx="21812" cy="21812"/>
          </a:xfrm>
          <a:prstGeom prst="ellipse">
            <a:avLst/>
          </a:prstGeom>
          <a:solidFill>
            <a:srgbClr val="BFE6FF">
              <a:alpha val="1803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29"/>
          <p:cNvSpPr/>
          <p:nvPr/>
        </p:nvSpPr>
        <p:spPr>
          <a:xfrm>
            <a:off x="5654608" y="862119"/>
            <a:ext cx="15891" cy="15891"/>
          </a:xfrm>
          <a:prstGeom prst="ellipse">
            <a:avLst/>
          </a:prstGeom>
          <a:solidFill>
            <a:srgbClr val="BFE6FF">
              <a:alpha val="3333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29"/>
          <p:cNvSpPr/>
          <p:nvPr/>
        </p:nvSpPr>
        <p:spPr>
          <a:xfrm>
            <a:off x="5464159" y="3113459"/>
            <a:ext cx="27300" cy="27300"/>
          </a:xfrm>
          <a:prstGeom prst="ellipse">
            <a:avLst/>
          </a:prstGeom>
          <a:solidFill>
            <a:srgbClr val="BFE6FF">
              <a:alpha val="2392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29"/>
          <p:cNvSpPr/>
          <p:nvPr/>
        </p:nvSpPr>
        <p:spPr>
          <a:xfrm>
            <a:off x="5668967" y="1735833"/>
            <a:ext cx="29700" cy="29700"/>
          </a:xfrm>
          <a:prstGeom prst="ellipse">
            <a:avLst/>
          </a:prstGeom>
          <a:solidFill>
            <a:srgbClr val="BFE6FF">
              <a:alpha val="2313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29"/>
          <p:cNvSpPr/>
          <p:nvPr/>
        </p:nvSpPr>
        <p:spPr>
          <a:xfrm>
            <a:off x="2116932" y="1770804"/>
            <a:ext cx="22500" cy="22500"/>
          </a:xfrm>
          <a:prstGeom prst="ellipse">
            <a:avLst/>
          </a:prstGeom>
          <a:solidFill>
            <a:srgbClr val="BFE6FF">
              <a:alpha val="1450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p29"/>
          <p:cNvSpPr/>
          <p:nvPr/>
        </p:nvSpPr>
        <p:spPr>
          <a:xfrm>
            <a:off x="199390" y="1513613"/>
            <a:ext cx="14045" cy="14044"/>
          </a:xfrm>
          <a:prstGeom prst="ellipse">
            <a:avLst/>
          </a:prstGeom>
          <a:solidFill>
            <a:srgbClr val="BFE6FF">
              <a:alpha val="1058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29"/>
          <p:cNvSpPr/>
          <p:nvPr/>
        </p:nvSpPr>
        <p:spPr>
          <a:xfrm>
            <a:off x="8552873" y="4823983"/>
            <a:ext cx="29032" cy="29032"/>
          </a:xfrm>
          <a:prstGeom prst="ellipse">
            <a:avLst/>
          </a:prstGeom>
          <a:solidFill>
            <a:srgbClr val="BFE6FF">
              <a:alpha val="3372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29"/>
          <p:cNvSpPr/>
          <p:nvPr/>
        </p:nvSpPr>
        <p:spPr>
          <a:xfrm>
            <a:off x="6688410" y="2140349"/>
            <a:ext cx="25474" cy="25474"/>
          </a:xfrm>
          <a:prstGeom prst="ellipse">
            <a:avLst/>
          </a:prstGeom>
          <a:solidFill>
            <a:srgbClr val="BFE6FF">
              <a:alpha val="4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29"/>
          <p:cNvSpPr/>
          <p:nvPr/>
        </p:nvSpPr>
        <p:spPr>
          <a:xfrm>
            <a:off x="731318" y="2995244"/>
            <a:ext cx="28200" cy="28200"/>
          </a:xfrm>
          <a:prstGeom prst="ellipse">
            <a:avLst/>
          </a:prstGeom>
          <a:solidFill>
            <a:srgbClr val="BFE6FF">
              <a:alpha val="1254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29"/>
          <p:cNvSpPr/>
          <p:nvPr/>
        </p:nvSpPr>
        <p:spPr>
          <a:xfrm>
            <a:off x="5149158" y="3319027"/>
            <a:ext cx="26129" cy="26129"/>
          </a:xfrm>
          <a:prstGeom prst="ellipse">
            <a:avLst/>
          </a:prstGeom>
          <a:solidFill>
            <a:srgbClr val="BFE6FF">
              <a:alpha val="2745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29"/>
          <p:cNvSpPr/>
          <p:nvPr/>
        </p:nvSpPr>
        <p:spPr>
          <a:xfrm>
            <a:off x="7958147" y="4707710"/>
            <a:ext cx="12586" cy="12586"/>
          </a:xfrm>
          <a:prstGeom prst="ellipse">
            <a:avLst/>
          </a:prstGeom>
          <a:solidFill>
            <a:srgbClr val="BFE6FF">
              <a:alpha val="2392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29"/>
          <p:cNvSpPr/>
          <p:nvPr/>
        </p:nvSpPr>
        <p:spPr>
          <a:xfrm>
            <a:off x="1609853" y="117704"/>
            <a:ext cx="14783" cy="14783"/>
          </a:xfrm>
          <a:prstGeom prst="ellipse">
            <a:avLst/>
          </a:prstGeom>
          <a:solidFill>
            <a:srgbClr val="BFE6FF">
              <a:alpha val="1568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p29"/>
          <p:cNvSpPr/>
          <p:nvPr/>
        </p:nvSpPr>
        <p:spPr>
          <a:xfrm>
            <a:off x="958935" y="3126947"/>
            <a:ext cx="33215" cy="33215"/>
          </a:xfrm>
          <a:prstGeom prst="ellipse">
            <a:avLst/>
          </a:prstGeom>
          <a:solidFill>
            <a:srgbClr val="BFE6FF">
              <a:alpha val="2156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1" name="Google Shape;1141;p29"/>
          <p:cNvSpPr/>
          <p:nvPr/>
        </p:nvSpPr>
        <p:spPr>
          <a:xfrm>
            <a:off x="8462820" y="721449"/>
            <a:ext cx="29002" cy="29002"/>
          </a:xfrm>
          <a:prstGeom prst="ellipse">
            <a:avLst/>
          </a:prstGeom>
          <a:solidFill>
            <a:srgbClr val="BFE6FF">
              <a:alpha val="4431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p29"/>
          <p:cNvSpPr/>
          <p:nvPr/>
        </p:nvSpPr>
        <p:spPr>
          <a:xfrm>
            <a:off x="2475493" y="848057"/>
            <a:ext cx="23578" cy="23578"/>
          </a:xfrm>
          <a:prstGeom prst="ellipse">
            <a:avLst/>
          </a:prstGeom>
          <a:solidFill>
            <a:srgbClr val="BFE6FF">
              <a:alpha val="4078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3" name="Google Shape;1143;p29"/>
          <p:cNvSpPr/>
          <p:nvPr/>
        </p:nvSpPr>
        <p:spPr>
          <a:xfrm>
            <a:off x="2029901" y="2807269"/>
            <a:ext cx="28800" cy="28800"/>
          </a:xfrm>
          <a:prstGeom prst="ellipse">
            <a:avLst/>
          </a:prstGeom>
          <a:solidFill>
            <a:srgbClr val="BFE6FF">
              <a:alpha val="3607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4" name="Google Shape;1144;p29"/>
          <p:cNvSpPr/>
          <p:nvPr/>
        </p:nvSpPr>
        <p:spPr>
          <a:xfrm>
            <a:off x="194142" y="1472592"/>
            <a:ext cx="27647" cy="27647"/>
          </a:xfrm>
          <a:prstGeom prst="ellipse">
            <a:avLst/>
          </a:prstGeom>
          <a:solidFill>
            <a:srgbClr val="BFE6FF">
              <a:alpha val="3725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5" name="Google Shape;1145;p29"/>
          <p:cNvSpPr/>
          <p:nvPr/>
        </p:nvSpPr>
        <p:spPr>
          <a:xfrm>
            <a:off x="4539195" y="2083504"/>
            <a:ext cx="18267" cy="18267"/>
          </a:xfrm>
          <a:prstGeom prst="ellipse">
            <a:avLst/>
          </a:prstGeom>
          <a:solidFill>
            <a:srgbClr val="BFE6FF">
              <a:alpha val="1568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29"/>
          <p:cNvSpPr/>
          <p:nvPr/>
        </p:nvSpPr>
        <p:spPr>
          <a:xfrm>
            <a:off x="1782331" y="2930176"/>
            <a:ext cx="26400" cy="26400"/>
          </a:xfrm>
          <a:prstGeom prst="ellipse">
            <a:avLst/>
          </a:prstGeom>
          <a:solidFill>
            <a:srgbClr val="BFE6FF">
              <a:alpha val="3568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29"/>
          <p:cNvSpPr/>
          <p:nvPr/>
        </p:nvSpPr>
        <p:spPr>
          <a:xfrm>
            <a:off x="411480" y="288036"/>
            <a:ext cx="6172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C6FF"/>
              </a:buClr>
              <a:buSzPts val="900"/>
              <a:buFont typeface="Courier New"/>
              <a:buNone/>
            </a:pPr>
            <a:r>
              <a:rPr b="1" i="0" lang="it" sz="900" u="none" cap="none" strike="noStrike">
                <a:solidFill>
                  <a:srgbClr val="2FC6FF"/>
                </a:solidFill>
                <a:latin typeface="Courier New"/>
                <a:ea typeface="Courier New"/>
                <a:cs typeface="Courier New"/>
                <a:sym typeface="Courier New"/>
              </a:rPr>
              <a:t>05 — ANIMATIONS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29"/>
          <p:cNvSpPr/>
          <p:nvPr/>
        </p:nvSpPr>
        <p:spPr>
          <a:xfrm>
            <a:off x="411480" y="466344"/>
            <a:ext cx="72694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2100"/>
              <a:buFont typeface="Courier New"/>
              <a:buNone/>
            </a:pPr>
            <a:r>
              <a:rPr b="1" i="0" lang="it" sz="2100" u="none" cap="none" strike="noStrike">
                <a:solidFill>
                  <a:srgbClr val="EAF6FF"/>
                </a:solidFill>
                <a:latin typeface="Courier New"/>
                <a:ea typeface="Courier New"/>
                <a:cs typeface="Courier New"/>
                <a:sym typeface="Courier New"/>
              </a:rPr>
              <a:t>Gravity, Collisions &amp; Camera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29"/>
          <p:cNvSpPr/>
          <p:nvPr/>
        </p:nvSpPr>
        <p:spPr>
          <a:xfrm>
            <a:off x="8197367" y="288036"/>
            <a:ext cx="534924" cy="534924"/>
          </a:xfrm>
          <a:prstGeom prst="ellipse">
            <a:avLst/>
          </a:prstGeom>
          <a:solidFill>
            <a:srgbClr val="2FC6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50" name="Google Shape;115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7669" y="41833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51" name="Google Shape;1151;p29"/>
          <p:cNvSpPr/>
          <p:nvPr/>
        </p:nvSpPr>
        <p:spPr>
          <a:xfrm>
            <a:off x="411480" y="4855464"/>
            <a:ext cx="2743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700"/>
              <a:buFont typeface="Courier New"/>
              <a:buNone/>
            </a:pPr>
            <a:r>
              <a:rPr b="0" i="0" lang="it" sz="700" u="none" cap="none" strike="noStrike">
                <a:solidFill>
                  <a:srgbClr val="93B3D6"/>
                </a:solidFill>
                <a:latin typeface="Courier New"/>
                <a:ea typeface="Courier New"/>
                <a:cs typeface="Courier New"/>
                <a:sym typeface="Courier New"/>
              </a:rPr>
              <a:t>LUMEN DRIFT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29"/>
          <p:cNvSpPr/>
          <p:nvPr/>
        </p:nvSpPr>
        <p:spPr>
          <a:xfrm>
            <a:off x="8320811" y="4855464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700"/>
              <a:buFont typeface="Courier New"/>
              <a:buNone/>
            </a:pPr>
            <a:r>
              <a:rPr b="0" i="0" lang="it" sz="700" u="none" cap="none" strike="noStrike">
                <a:solidFill>
                  <a:srgbClr val="93B3D6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29"/>
          <p:cNvSpPr/>
          <p:nvPr/>
        </p:nvSpPr>
        <p:spPr>
          <a:xfrm>
            <a:off x="402368" y="1282684"/>
            <a:ext cx="342900" cy="342900"/>
          </a:xfrm>
          <a:prstGeom prst="ellipse">
            <a:avLst/>
          </a:prstGeom>
          <a:solidFill>
            <a:srgbClr val="2FC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54" name="Google Shape;115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8092" y="1368409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5" name="Google Shape;1155;p29"/>
          <p:cNvSpPr/>
          <p:nvPr/>
        </p:nvSpPr>
        <p:spPr>
          <a:xfrm>
            <a:off x="896143" y="1248394"/>
            <a:ext cx="3449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Gravity &amp; Fall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29"/>
          <p:cNvSpPr/>
          <p:nvPr/>
        </p:nvSpPr>
        <p:spPr>
          <a:xfrm>
            <a:off x="896143" y="1467850"/>
            <a:ext cx="3449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A constant acceleration accumulates into velocityY every frame, simulating realistic free-fall until a surface is hit.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29"/>
          <p:cNvSpPr/>
          <p:nvPr/>
        </p:nvSpPr>
        <p:spPr>
          <a:xfrm>
            <a:off x="4496730" y="1249584"/>
            <a:ext cx="342900" cy="342900"/>
          </a:xfrm>
          <a:prstGeom prst="ellipse">
            <a:avLst/>
          </a:prstGeom>
          <a:solidFill>
            <a:srgbClr val="FFB23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58" name="Google Shape;115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82455" y="1335309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9" name="Google Shape;1159;p29"/>
          <p:cNvSpPr/>
          <p:nvPr/>
        </p:nvSpPr>
        <p:spPr>
          <a:xfrm>
            <a:off x="4990506" y="1215294"/>
            <a:ext cx="3449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Collision Detection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29"/>
          <p:cNvSpPr/>
          <p:nvPr/>
        </p:nvSpPr>
        <p:spPr>
          <a:xfrm>
            <a:off x="4990506" y="1434750"/>
            <a:ext cx="3449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Box-intersection checks against platforms, the central hull disk, and walls lock the player's position, zero the velocity, and reset the jump state on contact.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29"/>
          <p:cNvSpPr/>
          <p:nvPr/>
        </p:nvSpPr>
        <p:spPr>
          <a:xfrm>
            <a:off x="411480" y="2905346"/>
            <a:ext cx="342900" cy="342900"/>
          </a:xfrm>
          <a:prstGeom prst="ellipse">
            <a:avLst/>
          </a:prstGeom>
          <a:solidFill>
            <a:srgbClr val="2FC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62" name="Google Shape;1162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7205" y="2991071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3" name="Google Shape;1163;p29"/>
          <p:cNvSpPr/>
          <p:nvPr/>
        </p:nvSpPr>
        <p:spPr>
          <a:xfrm>
            <a:off x="905256" y="2871056"/>
            <a:ext cx="3449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Fail-Safe Respawn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29"/>
          <p:cNvSpPr/>
          <p:nvPr/>
        </p:nvSpPr>
        <p:spPr>
          <a:xfrm>
            <a:off x="905256" y="3090512"/>
            <a:ext cx="3449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If the player falls below a depth threshold (Y &lt; −30), coordinates are reset to a safe spawn point.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29"/>
          <p:cNvSpPr/>
          <p:nvPr/>
        </p:nvSpPr>
        <p:spPr>
          <a:xfrm>
            <a:off x="4526280" y="2811496"/>
            <a:ext cx="342900" cy="342900"/>
          </a:xfrm>
          <a:prstGeom prst="ellipse">
            <a:avLst/>
          </a:prstGeom>
          <a:solidFill>
            <a:srgbClr val="FFB23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66" name="Google Shape;1166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12005" y="2895121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7" name="Google Shape;1167;p29"/>
          <p:cNvSpPr/>
          <p:nvPr/>
        </p:nvSpPr>
        <p:spPr>
          <a:xfrm>
            <a:off x="5020056" y="2777206"/>
            <a:ext cx="3449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100"/>
              <a:buFont typeface="Calibri"/>
              <a:buNone/>
            </a:pPr>
            <a:r>
              <a:rPr b="1" i="0" lang="it" sz="11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Anti-Clipping Camera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29"/>
          <p:cNvSpPr/>
          <p:nvPr/>
        </p:nvSpPr>
        <p:spPr>
          <a:xfrm>
            <a:off x="5020056" y="2996662"/>
            <a:ext cx="3449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900"/>
              <a:buFont typeface="Calibri"/>
              <a:buNone/>
            </a:pPr>
            <a:r>
              <a:rPr b="0" i="0" lang="it" sz="9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A THREE.Raycaster is cast from the player toward the camera's ideal position each frame; if it hits geometry, the camera is pulled in front of the obstacle and smoothly moved into place, always looking back at the player.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B16"/>
        </a:solidFill>
      </p:bgPr>
    </p:bg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30"/>
          <p:cNvSpPr/>
          <p:nvPr/>
        </p:nvSpPr>
        <p:spPr>
          <a:xfrm>
            <a:off x="675056" y="4220294"/>
            <a:ext cx="25382" cy="25382"/>
          </a:xfrm>
          <a:prstGeom prst="ellipse">
            <a:avLst/>
          </a:prstGeom>
          <a:solidFill>
            <a:srgbClr val="BFE6FF">
              <a:alpha val="4392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30"/>
          <p:cNvSpPr/>
          <p:nvPr/>
        </p:nvSpPr>
        <p:spPr>
          <a:xfrm>
            <a:off x="6501199" y="4132555"/>
            <a:ext cx="29257" cy="29257"/>
          </a:xfrm>
          <a:prstGeom prst="ellipse">
            <a:avLst/>
          </a:prstGeom>
          <a:solidFill>
            <a:srgbClr val="BFE6FF">
              <a:alpha val="1803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30"/>
          <p:cNvSpPr/>
          <p:nvPr/>
        </p:nvSpPr>
        <p:spPr>
          <a:xfrm>
            <a:off x="6019320" y="4486353"/>
            <a:ext cx="22238" cy="22238"/>
          </a:xfrm>
          <a:prstGeom prst="ellipse">
            <a:avLst/>
          </a:prstGeom>
          <a:solidFill>
            <a:srgbClr val="BFE6FF">
              <a:alpha val="2392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30"/>
          <p:cNvSpPr/>
          <p:nvPr/>
        </p:nvSpPr>
        <p:spPr>
          <a:xfrm>
            <a:off x="3099382" y="3889715"/>
            <a:ext cx="29548" cy="29548"/>
          </a:xfrm>
          <a:prstGeom prst="ellipse">
            <a:avLst/>
          </a:prstGeom>
          <a:solidFill>
            <a:srgbClr val="BFE6FF">
              <a:alpha val="4509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30"/>
          <p:cNvSpPr/>
          <p:nvPr/>
        </p:nvSpPr>
        <p:spPr>
          <a:xfrm>
            <a:off x="2855002" y="1393097"/>
            <a:ext cx="27751" cy="27751"/>
          </a:xfrm>
          <a:prstGeom prst="ellipse">
            <a:avLst/>
          </a:prstGeom>
          <a:solidFill>
            <a:srgbClr val="BFE6FF">
              <a:alpha val="4313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30"/>
          <p:cNvSpPr/>
          <p:nvPr/>
        </p:nvSpPr>
        <p:spPr>
          <a:xfrm>
            <a:off x="8074810" y="4734930"/>
            <a:ext cx="14089" cy="14089"/>
          </a:xfrm>
          <a:prstGeom prst="ellipse">
            <a:avLst/>
          </a:prstGeom>
          <a:solidFill>
            <a:srgbClr val="BFE6FF">
              <a:alpha val="1607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30"/>
          <p:cNvSpPr/>
          <p:nvPr/>
        </p:nvSpPr>
        <p:spPr>
          <a:xfrm>
            <a:off x="2452116" y="1751"/>
            <a:ext cx="16126" cy="16127"/>
          </a:xfrm>
          <a:prstGeom prst="ellipse">
            <a:avLst/>
          </a:prstGeom>
          <a:solidFill>
            <a:srgbClr val="BFE6FF">
              <a:alpha val="1333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30"/>
          <p:cNvSpPr/>
          <p:nvPr/>
        </p:nvSpPr>
        <p:spPr>
          <a:xfrm>
            <a:off x="993077" y="3189868"/>
            <a:ext cx="13055" cy="13055"/>
          </a:xfrm>
          <a:prstGeom prst="ellipse">
            <a:avLst/>
          </a:prstGeom>
          <a:solidFill>
            <a:srgbClr val="BFE6FF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2" name="Google Shape;1182;p30"/>
          <p:cNvSpPr/>
          <p:nvPr/>
        </p:nvSpPr>
        <p:spPr>
          <a:xfrm>
            <a:off x="4420212" y="1392267"/>
            <a:ext cx="15317" cy="15317"/>
          </a:xfrm>
          <a:prstGeom prst="ellipse">
            <a:avLst/>
          </a:prstGeom>
          <a:solidFill>
            <a:srgbClr val="BFE6FF">
              <a:alpha val="3607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p30"/>
          <p:cNvSpPr/>
          <p:nvPr/>
        </p:nvSpPr>
        <p:spPr>
          <a:xfrm>
            <a:off x="379460" y="2034661"/>
            <a:ext cx="20308" cy="20308"/>
          </a:xfrm>
          <a:prstGeom prst="ellipse">
            <a:avLst/>
          </a:prstGeom>
          <a:solidFill>
            <a:srgbClr val="BFE6FF">
              <a:alpha val="2431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30"/>
          <p:cNvSpPr/>
          <p:nvPr/>
        </p:nvSpPr>
        <p:spPr>
          <a:xfrm>
            <a:off x="8330403" y="1148930"/>
            <a:ext cx="25590" cy="25590"/>
          </a:xfrm>
          <a:prstGeom prst="ellipse">
            <a:avLst/>
          </a:prstGeom>
          <a:solidFill>
            <a:srgbClr val="BFE6FF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p30"/>
          <p:cNvSpPr/>
          <p:nvPr/>
        </p:nvSpPr>
        <p:spPr>
          <a:xfrm>
            <a:off x="5364669" y="4974177"/>
            <a:ext cx="21942" cy="21942"/>
          </a:xfrm>
          <a:prstGeom prst="ellipse">
            <a:avLst/>
          </a:prstGeom>
          <a:solidFill>
            <a:srgbClr val="BFE6FF">
              <a:alpha val="1058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30"/>
          <p:cNvSpPr/>
          <p:nvPr/>
        </p:nvSpPr>
        <p:spPr>
          <a:xfrm>
            <a:off x="7532511" y="671855"/>
            <a:ext cx="27012" cy="27012"/>
          </a:xfrm>
          <a:prstGeom prst="ellipse">
            <a:avLst/>
          </a:prstGeom>
          <a:solidFill>
            <a:srgbClr val="BFE6FF">
              <a:alpha val="3882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p30"/>
          <p:cNvSpPr/>
          <p:nvPr/>
        </p:nvSpPr>
        <p:spPr>
          <a:xfrm>
            <a:off x="1402499" y="3763226"/>
            <a:ext cx="21397" cy="21397"/>
          </a:xfrm>
          <a:prstGeom prst="ellipse">
            <a:avLst/>
          </a:prstGeom>
          <a:solidFill>
            <a:srgbClr val="BFE6FF">
              <a:alpha val="1960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p30"/>
          <p:cNvSpPr/>
          <p:nvPr/>
        </p:nvSpPr>
        <p:spPr>
          <a:xfrm>
            <a:off x="3510227" y="4890935"/>
            <a:ext cx="33857" cy="33857"/>
          </a:xfrm>
          <a:prstGeom prst="ellipse">
            <a:avLst/>
          </a:prstGeom>
          <a:solidFill>
            <a:srgbClr val="BFE6FF">
              <a:alpha val="1333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9" name="Google Shape;1189;p30"/>
          <p:cNvSpPr/>
          <p:nvPr/>
        </p:nvSpPr>
        <p:spPr>
          <a:xfrm>
            <a:off x="3934481" y="2980358"/>
            <a:ext cx="33870" cy="33870"/>
          </a:xfrm>
          <a:prstGeom prst="ellipse">
            <a:avLst/>
          </a:prstGeom>
          <a:solidFill>
            <a:srgbClr val="BFE6FF">
              <a:alpha val="3372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0" name="Google Shape;1190;p30"/>
          <p:cNvSpPr/>
          <p:nvPr/>
        </p:nvSpPr>
        <p:spPr>
          <a:xfrm>
            <a:off x="8621274" y="5026836"/>
            <a:ext cx="20599" cy="20599"/>
          </a:xfrm>
          <a:prstGeom prst="ellipse">
            <a:avLst/>
          </a:prstGeom>
          <a:solidFill>
            <a:srgbClr val="BFE6FF">
              <a:alpha val="4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p30"/>
          <p:cNvSpPr/>
          <p:nvPr/>
        </p:nvSpPr>
        <p:spPr>
          <a:xfrm>
            <a:off x="4820978" y="2730450"/>
            <a:ext cx="15470" cy="15470"/>
          </a:xfrm>
          <a:prstGeom prst="ellipse">
            <a:avLst/>
          </a:prstGeom>
          <a:solidFill>
            <a:srgbClr val="BFE6FF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30"/>
          <p:cNvSpPr/>
          <p:nvPr/>
        </p:nvSpPr>
        <p:spPr>
          <a:xfrm>
            <a:off x="7043209" y="1950821"/>
            <a:ext cx="31382" cy="31382"/>
          </a:xfrm>
          <a:prstGeom prst="ellipse">
            <a:avLst/>
          </a:prstGeom>
          <a:solidFill>
            <a:srgbClr val="BFE6FF">
              <a:alpha val="3529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3" name="Google Shape;1193;p30"/>
          <p:cNvSpPr/>
          <p:nvPr/>
        </p:nvSpPr>
        <p:spPr>
          <a:xfrm>
            <a:off x="2459443" y="3875469"/>
            <a:ext cx="13715" cy="13714"/>
          </a:xfrm>
          <a:prstGeom prst="ellipse">
            <a:avLst/>
          </a:prstGeom>
          <a:solidFill>
            <a:srgbClr val="BFE6FF">
              <a:alpha val="2588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p30"/>
          <p:cNvSpPr/>
          <p:nvPr/>
        </p:nvSpPr>
        <p:spPr>
          <a:xfrm>
            <a:off x="4775120" y="2168428"/>
            <a:ext cx="31569" cy="31569"/>
          </a:xfrm>
          <a:prstGeom prst="ellipse">
            <a:avLst/>
          </a:prstGeom>
          <a:solidFill>
            <a:srgbClr val="BFE6FF">
              <a:alpha val="3921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5" name="Google Shape;1195;p30"/>
          <p:cNvSpPr/>
          <p:nvPr/>
        </p:nvSpPr>
        <p:spPr>
          <a:xfrm>
            <a:off x="6965984" y="3708002"/>
            <a:ext cx="14008" cy="14008"/>
          </a:xfrm>
          <a:prstGeom prst="ellipse">
            <a:avLst/>
          </a:prstGeom>
          <a:solidFill>
            <a:srgbClr val="BFE6FF">
              <a:alpha val="3529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30"/>
          <p:cNvSpPr/>
          <p:nvPr/>
        </p:nvSpPr>
        <p:spPr>
          <a:xfrm>
            <a:off x="4036172" y="4776885"/>
            <a:ext cx="32948" cy="32948"/>
          </a:xfrm>
          <a:prstGeom prst="ellipse">
            <a:avLst/>
          </a:prstGeom>
          <a:solidFill>
            <a:srgbClr val="BFE6FF">
              <a:alpha val="1647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7" name="Google Shape;1197;p30"/>
          <p:cNvSpPr/>
          <p:nvPr/>
        </p:nvSpPr>
        <p:spPr>
          <a:xfrm>
            <a:off x="4971968" y="491553"/>
            <a:ext cx="33741" cy="33741"/>
          </a:xfrm>
          <a:prstGeom prst="ellipse">
            <a:avLst/>
          </a:prstGeom>
          <a:solidFill>
            <a:srgbClr val="BFE6FF">
              <a:alpha val="2823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30"/>
          <p:cNvSpPr/>
          <p:nvPr/>
        </p:nvSpPr>
        <p:spPr>
          <a:xfrm>
            <a:off x="2806336" y="1742426"/>
            <a:ext cx="29191" cy="29191"/>
          </a:xfrm>
          <a:prstGeom prst="ellipse">
            <a:avLst/>
          </a:prstGeom>
          <a:solidFill>
            <a:srgbClr val="BFE6FF">
              <a:alpha val="3411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30"/>
          <p:cNvSpPr/>
          <p:nvPr/>
        </p:nvSpPr>
        <p:spPr>
          <a:xfrm>
            <a:off x="5833582" y="3050312"/>
            <a:ext cx="24040" cy="24040"/>
          </a:xfrm>
          <a:prstGeom prst="ellipse">
            <a:avLst/>
          </a:prstGeom>
          <a:solidFill>
            <a:srgbClr val="BFE6FF">
              <a:alpha val="1411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30"/>
          <p:cNvSpPr/>
          <p:nvPr/>
        </p:nvSpPr>
        <p:spPr>
          <a:xfrm>
            <a:off x="1151948" y="413039"/>
            <a:ext cx="16007" cy="16006"/>
          </a:xfrm>
          <a:prstGeom prst="ellipse">
            <a:avLst/>
          </a:prstGeom>
          <a:solidFill>
            <a:srgbClr val="BFE6FF">
              <a:alpha val="3490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30"/>
          <p:cNvSpPr/>
          <p:nvPr/>
        </p:nvSpPr>
        <p:spPr>
          <a:xfrm>
            <a:off x="8119073" y="1738448"/>
            <a:ext cx="21101" cy="21101"/>
          </a:xfrm>
          <a:prstGeom prst="ellipse">
            <a:avLst/>
          </a:prstGeom>
          <a:solidFill>
            <a:srgbClr val="BFE6FF">
              <a:alpha val="1803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p30"/>
          <p:cNvSpPr/>
          <p:nvPr/>
        </p:nvSpPr>
        <p:spPr>
          <a:xfrm>
            <a:off x="3107084" y="3411734"/>
            <a:ext cx="13144" cy="13144"/>
          </a:xfrm>
          <a:prstGeom prst="ellipse">
            <a:avLst/>
          </a:prstGeom>
          <a:solidFill>
            <a:srgbClr val="BFE6FF">
              <a:alpha val="2588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30"/>
          <p:cNvSpPr/>
          <p:nvPr/>
        </p:nvSpPr>
        <p:spPr>
          <a:xfrm>
            <a:off x="1932826" y="651201"/>
            <a:ext cx="27684" cy="27684"/>
          </a:xfrm>
          <a:prstGeom prst="ellipse">
            <a:avLst/>
          </a:prstGeom>
          <a:solidFill>
            <a:srgbClr val="BFE6FF">
              <a:alpha val="2117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30"/>
          <p:cNvSpPr/>
          <p:nvPr/>
        </p:nvSpPr>
        <p:spPr>
          <a:xfrm>
            <a:off x="3200782" y="2603491"/>
            <a:ext cx="22677" cy="22677"/>
          </a:xfrm>
          <a:prstGeom prst="ellipse">
            <a:avLst/>
          </a:prstGeom>
          <a:solidFill>
            <a:srgbClr val="BFE6FF">
              <a:alpha val="1333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30"/>
          <p:cNvSpPr/>
          <p:nvPr/>
        </p:nvSpPr>
        <p:spPr>
          <a:xfrm>
            <a:off x="6310194" y="3792539"/>
            <a:ext cx="28819" cy="28819"/>
          </a:xfrm>
          <a:prstGeom prst="ellipse">
            <a:avLst/>
          </a:prstGeom>
          <a:solidFill>
            <a:srgbClr val="BFE6FF">
              <a:alpha val="3686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30"/>
          <p:cNvSpPr/>
          <p:nvPr/>
        </p:nvSpPr>
        <p:spPr>
          <a:xfrm>
            <a:off x="8104826" y="4577485"/>
            <a:ext cx="33734" cy="33733"/>
          </a:xfrm>
          <a:prstGeom prst="ellipse">
            <a:avLst/>
          </a:prstGeom>
          <a:solidFill>
            <a:srgbClr val="BFE6FF">
              <a:alpha val="3490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30"/>
          <p:cNvSpPr/>
          <p:nvPr/>
        </p:nvSpPr>
        <p:spPr>
          <a:xfrm>
            <a:off x="8578726" y="1787138"/>
            <a:ext cx="25774" cy="25774"/>
          </a:xfrm>
          <a:prstGeom prst="ellipse">
            <a:avLst/>
          </a:prstGeom>
          <a:solidFill>
            <a:srgbClr val="BFE6FF">
              <a:alpha val="4039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30"/>
          <p:cNvSpPr/>
          <p:nvPr/>
        </p:nvSpPr>
        <p:spPr>
          <a:xfrm>
            <a:off x="7953388" y="4856306"/>
            <a:ext cx="14918" cy="14918"/>
          </a:xfrm>
          <a:prstGeom prst="ellipse">
            <a:avLst/>
          </a:prstGeom>
          <a:solidFill>
            <a:srgbClr val="BFE6FF">
              <a:alpha val="1725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30"/>
          <p:cNvSpPr/>
          <p:nvPr/>
        </p:nvSpPr>
        <p:spPr>
          <a:xfrm>
            <a:off x="3894974" y="2690926"/>
            <a:ext cx="29555" cy="29555"/>
          </a:xfrm>
          <a:prstGeom prst="ellipse">
            <a:avLst/>
          </a:prstGeom>
          <a:solidFill>
            <a:srgbClr val="BFE6FF">
              <a:alpha val="3450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p30"/>
          <p:cNvSpPr/>
          <p:nvPr/>
        </p:nvSpPr>
        <p:spPr>
          <a:xfrm>
            <a:off x="2949421" y="1151246"/>
            <a:ext cx="26980" cy="26980"/>
          </a:xfrm>
          <a:prstGeom prst="ellipse">
            <a:avLst/>
          </a:prstGeom>
          <a:solidFill>
            <a:srgbClr val="BFE6FF">
              <a:alpha val="1803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1" name="Google Shape;1211;p30"/>
          <p:cNvSpPr/>
          <p:nvPr/>
        </p:nvSpPr>
        <p:spPr>
          <a:xfrm>
            <a:off x="30895" y="5044570"/>
            <a:ext cx="29825" cy="29825"/>
          </a:xfrm>
          <a:prstGeom prst="ellipse">
            <a:avLst/>
          </a:prstGeom>
          <a:solidFill>
            <a:srgbClr val="BFE6FF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30"/>
          <p:cNvSpPr/>
          <p:nvPr/>
        </p:nvSpPr>
        <p:spPr>
          <a:xfrm>
            <a:off x="6052595" y="725724"/>
            <a:ext cx="26843" cy="26843"/>
          </a:xfrm>
          <a:prstGeom prst="ellipse">
            <a:avLst/>
          </a:prstGeom>
          <a:solidFill>
            <a:srgbClr val="BFE6FF">
              <a:alpha val="3450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p30"/>
          <p:cNvSpPr/>
          <p:nvPr/>
        </p:nvSpPr>
        <p:spPr>
          <a:xfrm>
            <a:off x="4487132" y="461715"/>
            <a:ext cx="23810" cy="23810"/>
          </a:xfrm>
          <a:prstGeom prst="ellipse">
            <a:avLst/>
          </a:prstGeom>
          <a:solidFill>
            <a:srgbClr val="BFE6FF">
              <a:alpha val="3725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4" name="Google Shape;1214;p30"/>
          <p:cNvSpPr/>
          <p:nvPr/>
        </p:nvSpPr>
        <p:spPr>
          <a:xfrm>
            <a:off x="991949" y="612521"/>
            <a:ext cx="12493" cy="12494"/>
          </a:xfrm>
          <a:prstGeom prst="ellipse">
            <a:avLst/>
          </a:prstGeom>
          <a:solidFill>
            <a:srgbClr val="BFE6FF">
              <a:alpha val="2980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5" name="Google Shape;1215;p30"/>
          <p:cNvSpPr/>
          <p:nvPr/>
        </p:nvSpPr>
        <p:spPr>
          <a:xfrm>
            <a:off x="6937623" y="4279004"/>
            <a:ext cx="14350" cy="14350"/>
          </a:xfrm>
          <a:prstGeom prst="ellipse">
            <a:avLst/>
          </a:prstGeom>
          <a:solidFill>
            <a:srgbClr val="BFE6FF">
              <a:alpha val="2666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6" name="Google Shape;1216;p30"/>
          <p:cNvSpPr/>
          <p:nvPr/>
        </p:nvSpPr>
        <p:spPr>
          <a:xfrm>
            <a:off x="5019200" y="4868613"/>
            <a:ext cx="29794" cy="29794"/>
          </a:xfrm>
          <a:prstGeom prst="ellipse">
            <a:avLst/>
          </a:prstGeom>
          <a:solidFill>
            <a:srgbClr val="BFE6FF">
              <a:alpha val="1176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7" name="Google Shape;1217;p30"/>
          <p:cNvSpPr/>
          <p:nvPr/>
        </p:nvSpPr>
        <p:spPr>
          <a:xfrm>
            <a:off x="7789877" y="2649767"/>
            <a:ext cx="22521" cy="22521"/>
          </a:xfrm>
          <a:prstGeom prst="ellipse">
            <a:avLst/>
          </a:prstGeom>
          <a:solidFill>
            <a:srgbClr val="BFE6FF">
              <a:alpha val="1294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8" name="Google Shape;1218;p30"/>
          <p:cNvSpPr/>
          <p:nvPr/>
        </p:nvSpPr>
        <p:spPr>
          <a:xfrm>
            <a:off x="1960485" y="2469425"/>
            <a:ext cx="16040" cy="16040"/>
          </a:xfrm>
          <a:prstGeom prst="ellipse">
            <a:avLst/>
          </a:prstGeom>
          <a:solidFill>
            <a:srgbClr val="BFE6FF">
              <a:alpha val="2745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9" name="Google Shape;1219;p30"/>
          <p:cNvSpPr/>
          <p:nvPr/>
        </p:nvSpPr>
        <p:spPr>
          <a:xfrm>
            <a:off x="411480" y="288036"/>
            <a:ext cx="6172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C6FF"/>
              </a:buClr>
              <a:buSzPts val="900"/>
              <a:buFont typeface="Courier New"/>
              <a:buNone/>
            </a:pPr>
            <a:r>
              <a:rPr b="1" i="0" lang="it" sz="900" u="none" cap="none" strike="noStrike">
                <a:solidFill>
                  <a:srgbClr val="2FC6FF"/>
                </a:solidFill>
                <a:latin typeface="Courier New"/>
                <a:ea typeface="Courier New"/>
                <a:cs typeface="Courier New"/>
                <a:sym typeface="Courier New"/>
              </a:rPr>
              <a:t>06 — LIGHTING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30"/>
          <p:cNvSpPr/>
          <p:nvPr/>
        </p:nvSpPr>
        <p:spPr>
          <a:xfrm>
            <a:off x="411480" y="466344"/>
            <a:ext cx="72694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2100"/>
              <a:buFont typeface="Courier New"/>
              <a:buNone/>
            </a:pPr>
            <a:r>
              <a:rPr b="1" i="0" lang="it" sz="2100" u="none" cap="none" strike="noStrike">
                <a:solidFill>
                  <a:srgbClr val="EAF6FF"/>
                </a:solidFill>
                <a:latin typeface="Courier New"/>
                <a:ea typeface="Courier New"/>
                <a:cs typeface="Courier New"/>
                <a:sym typeface="Courier New"/>
              </a:rPr>
              <a:t>The Lighting System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p30"/>
          <p:cNvSpPr/>
          <p:nvPr/>
        </p:nvSpPr>
        <p:spPr>
          <a:xfrm>
            <a:off x="8197367" y="288036"/>
            <a:ext cx="534924" cy="534924"/>
          </a:xfrm>
          <a:prstGeom prst="ellipse">
            <a:avLst/>
          </a:prstGeom>
          <a:solidFill>
            <a:srgbClr val="2FC6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22" name="Google Shape;122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7669" y="41833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23" name="Google Shape;1223;p30"/>
          <p:cNvSpPr/>
          <p:nvPr/>
        </p:nvSpPr>
        <p:spPr>
          <a:xfrm>
            <a:off x="411480" y="4855464"/>
            <a:ext cx="2743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700"/>
              <a:buFont typeface="Courier New"/>
              <a:buNone/>
            </a:pPr>
            <a:r>
              <a:rPr b="0" i="0" lang="it" sz="700" u="none" cap="none" strike="noStrike">
                <a:solidFill>
                  <a:srgbClr val="93B3D6"/>
                </a:solidFill>
                <a:latin typeface="Courier New"/>
                <a:ea typeface="Courier New"/>
                <a:cs typeface="Courier New"/>
                <a:sym typeface="Courier New"/>
              </a:rPr>
              <a:t>LUMEN DRIFT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30"/>
          <p:cNvSpPr/>
          <p:nvPr/>
        </p:nvSpPr>
        <p:spPr>
          <a:xfrm>
            <a:off x="8320811" y="4855464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700"/>
              <a:buFont typeface="Courier New"/>
              <a:buNone/>
            </a:pPr>
            <a:r>
              <a:rPr b="0" i="0" lang="it" sz="700" u="none" cap="none" strike="noStrike">
                <a:solidFill>
                  <a:srgbClr val="93B3D6"/>
                </a:solidFill>
                <a:latin typeface="Courier New"/>
                <a:ea typeface="Courier New"/>
                <a:cs typeface="Courier New"/>
                <a:sym typeface="Courier New"/>
              </a:rPr>
              <a:t>15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30"/>
          <p:cNvSpPr/>
          <p:nvPr/>
        </p:nvSpPr>
        <p:spPr>
          <a:xfrm>
            <a:off x="411480" y="1110996"/>
            <a:ext cx="78867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900"/>
              <a:buFont typeface="Calibri"/>
              <a:buNone/>
            </a:pPr>
            <a:r>
              <a:rPr b="0" i="1" lang="it" sz="9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Three layers combine to balance a dark atmospheric aesthetic.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30"/>
          <p:cNvSpPr/>
          <p:nvPr/>
        </p:nvSpPr>
        <p:spPr>
          <a:xfrm>
            <a:off x="411480" y="1453896"/>
            <a:ext cx="2626614" cy="1337310"/>
          </a:xfrm>
          <a:prstGeom prst="roundRect">
            <a:avLst>
              <a:gd fmla="val 4103" name="adj"/>
            </a:avLst>
          </a:prstGeom>
          <a:solidFill>
            <a:srgbClr val="0E1830"/>
          </a:solidFill>
          <a:ln>
            <a:noFill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7" name="Google Shape;1227;p30"/>
          <p:cNvSpPr/>
          <p:nvPr/>
        </p:nvSpPr>
        <p:spPr>
          <a:xfrm>
            <a:off x="562356" y="1604772"/>
            <a:ext cx="315468" cy="315468"/>
          </a:xfrm>
          <a:prstGeom prst="ellipse">
            <a:avLst/>
          </a:prstGeom>
          <a:solidFill>
            <a:srgbClr val="2FC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28" name="Google Shape;122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223" y="1683639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Google Shape;1229;p30"/>
          <p:cNvSpPr/>
          <p:nvPr/>
        </p:nvSpPr>
        <p:spPr>
          <a:xfrm>
            <a:off x="562356" y="2002536"/>
            <a:ext cx="232486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000"/>
              <a:buFont typeface="Calibri"/>
              <a:buNone/>
            </a:pPr>
            <a:r>
              <a:rPr b="1" i="0" lang="it" sz="10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Global Illumination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30"/>
          <p:cNvSpPr/>
          <p:nvPr/>
        </p:nvSpPr>
        <p:spPr>
          <a:xfrm>
            <a:off x="562356" y="2290572"/>
            <a:ext cx="2324862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A faint Ambient Light keeps shadows from ever being pitch black; a distant PointLight simulates the sun, lighting planets and outdoor platforming.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30"/>
          <p:cNvSpPr/>
          <p:nvPr/>
        </p:nvSpPr>
        <p:spPr>
          <a:xfrm>
            <a:off x="3140964" y="1453896"/>
            <a:ext cx="2626614" cy="1337310"/>
          </a:xfrm>
          <a:prstGeom prst="roundRect">
            <a:avLst>
              <a:gd fmla="val 4103" name="adj"/>
            </a:avLst>
          </a:prstGeom>
          <a:solidFill>
            <a:srgbClr val="0E1830"/>
          </a:solidFill>
          <a:ln>
            <a:noFill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p30"/>
          <p:cNvSpPr/>
          <p:nvPr/>
        </p:nvSpPr>
        <p:spPr>
          <a:xfrm>
            <a:off x="3291840" y="1604772"/>
            <a:ext cx="315468" cy="315468"/>
          </a:xfrm>
          <a:prstGeom prst="ellipse">
            <a:avLst/>
          </a:prstGeom>
          <a:solidFill>
            <a:srgbClr val="FFB23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33" name="Google Shape;1233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70707" y="1683639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1234" name="Google Shape;1234;p30"/>
          <p:cNvSpPr/>
          <p:nvPr/>
        </p:nvSpPr>
        <p:spPr>
          <a:xfrm>
            <a:off x="3291840" y="2002536"/>
            <a:ext cx="232486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000"/>
              <a:buFont typeface="Calibri"/>
              <a:buNone/>
            </a:pPr>
            <a:r>
              <a:rPr b="1" i="0" lang="it" sz="10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Local &amp; Decorative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30"/>
          <p:cNvSpPr/>
          <p:nvPr/>
        </p:nvSpPr>
        <p:spPr>
          <a:xfrm>
            <a:off x="3291840" y="2290572"/>
            <a:ext cx="2324862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A shadow-free ceiling PointLight fills the main room; tiny micro-lights inside props (vents, engines) add emissive accents only.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30"/>
          <p:cNvSpPr/>
          <p:nvPr/>
        </p:nvSpPr>
        <p:spPr>
          <a:xfrm>
            <a:off x="5870448" y="1453896"/>
            <a:ext cx="2626614" cy="1337310"/>
          </a:xfrm>
          <a:prstGeom prst="roundRect">
            <a:avLst>
              <a:gd fmla="val 4103" name="adj"/>
            </a:avLst>
          </a:prstGeom>
          <a:solidFill>
            <a:srgbClr val="0E1830"/>
          </a:solidFill>
          <a:ln>
            <a:noFill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p30"/>
          <p:cNvSpPr/>
          <p:nvPr/>
        </p:nvSpPr>
        <p:spPr>
          <a:xfrm>
            <a:off x="6021324" y="1604772"/>
            <a:ext cx="315468" cy="315468"/>
          </a:xfrm>
          <a:prstGeom prst="ellipse">
            <a:avLst/>
          </a:prstGeom>
          <a:solidFill>
            <a:srgbClr val="2FC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38" name="Google Shape;1238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00191" y="1683639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1239" name="Google Shape;1239;p30"/>
          <p:cNvSpPr/>
          <p:nvPr/>
        </p:nvSpPr>
        <p:spPr>
          <a:xfrm>
            <a:off x="6021324" y="2002536"/>
            <a:ext cx="232486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000"/>
              <a:buFont typeface="Calibri"/>
              <a:buNone/>
            </a:pPr>
            <a:r>
              <a:rPr b="1" i="0" lang="it" sz="10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Dynamic Flashlight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30"/>
          <p:cNvSpPr/>
          <p:nvPr/>
        </p:nvSpPr>
        <p:spPr>
          <a:xfrm>
            <a:off x="6021324" y="2290572"/>
            <a:ext cx="2324862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A THREE.SpotLight attached to the player, toggled on/off, is the main driver of puzzle logic — plus one interactive PointLight over a sensor, triggered by a button.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30"/>
          <p:cNvSpPr/>
          <p:nvPr/>
        </p:nvSpPr>
        <p:spPr>
          <a:xfrm>
            <a:off x="411480" y="2928366"/>
            <a:ext cx="78867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238"/>
              </a:buClr>
              <a:buSzPts val="1000"/>
              <a:buFont typeface="Calibri"/>
              <a:buNone/>
            </a:pPr>
            <a:r>
              <a:rPr b="1" i="0" lang="it" sz="1000" u="none" cap="none" strike="noStrike">
                <a:solidFill>
                  <a:srgbClr val="FFB238"/>
                </a:solidFill>
                <a:latin typeface="Calibri"/>
                <a:ea typeface="Calibri"/>
                <a:cs typeface="Calibri"/>
                <a:sym typeface="Calibri"/>
              </a:rPr>
              <a:t>Physical Light Logic — a ray-tracing approximation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30"/>
          <p:cNvSpPr/>
          <p:nvPr/>
        </p:nvSpPr>
        <p:spPr>
          <a:xfrm>
            <a:off x="411480" y="3154680"/>
            <a:ext cx="7886700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765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900"/>
              <a:buFont typeface="Calibri"/>
              <a:buChar char="▸"/>
            </a:pPr>
            <a:r>
              <a:rPr b="0" i="0" lang="it" sz="9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Inverse-square attenuation from source to target, discarded early beyond a 20-unit distance cutoff for performance.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EAF6FF"/>
              </a:buClr>
              <a:buSzPts val="900"/>
              <a:buFont typeface="Calibri"/>
              <a:buChar char="▸"/>
            </a:pPr>
            <a:r>
              <a:rPr b="0" i="0" lang="it" sz="9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Spotlight cone modeling via dot product against the lamp direction, remapped by the penumbra for a soft-edged falloff.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EAF6FF"/>
              </a:buClr>
              <a:buSzPts val="900"/>
              <a:buFont typeface="Calibri"/>
              <a:buChar char="▸"/>
            </a:pPr>
            <a:r>
              <a:rPr b="0" i="0" lang="it" sz="9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A shadow ray (THREE.Raycaster) checks visibility, restricted only to walls, platforms, and the target itself — keeping thousands of light/object checks cheap enough to run every frame.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B16"/>
        </a:solidFill>
      </p:bgPr>
    </p:bg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31"/>
          <p:cNvSpPr/>
          <p:nvPr/>
        </p:nvSpPr>
        <p:spPr>
          <a:xfrm>
            <a:off x="675056" y="4220294"/>
            <a:ext cx="25382" cy="25382"/>
          </a:xfrm>
          <a:prstGeom prst="ellipse">
            <a:avLst/>
          </a:prstGeom>
          <a:solidFill>
            <a:srgbClr val="BFE6FF">
              <a:alpha val="4392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8" name="Google Shape;1248;p31"/>
          <p:cNvSpPr/>
          <p:nvPr/>
        </p:nvSpPr>
        <p:spPr>
          <a:xfrm>
            <a:off x="6501199" y="4132555"/>
            <a:ext cx="29257" cy="29257"/>
          </a:xfrm>
          <a:prstGeom prst="ellipse">
            <a:avLst/>
          </a:prstGeom>
          <a:solidFill>
            <a:srgbClr val="BFE6FF">
              <a:alpha val="1803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9" name="Google Shape;1249;p31"/>
          <p:cNvSpPr/>
          <p:nvPr/>
        </p:nvSpPr>
        <p:spPr>
          <a:xfrm>
            <a:off x="6019320" y="4486353"/>
            <a:ext cx="22238" cy="22238"/>
          </a:xfrm>
          <a:prstGeom prst="ellipse">
            <a:avLst/>
          </a:prstGeom>
          <a:solidFill>
            <a:srgbClr val="BFE6FF">
              <a:alpha val="2392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0" name="Google Shape;1250;p31"/>
          <p:cNvSpPr/>
          <p:nvPr/>
        </p:nvSpPr>
        <p:spPr>
          <a:xfrm>
            <a:off x="3099382" y="3889715"/>
            <a:ext cx="29548" cy="29548"/>
          </a:xfrm>
          <a:prstGeom prst="ellipse">
            <a:avLst/>
          </a:prstGeom>
          <a:solidFill>
            <a:srgbClr val="BFE6FF">
              <a:alpha val="4509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1" name="Google Shape;1251;p31"/>
          <p:cNvSpPr/>
          <p:nvPr/>
        </p:nvSpPr>
        <p:spPr>
          <a:xfrm>
            <a:off x="2855002" y="1393097"/>
            <a:ext cx="27751" cy="27751"/>
          </a:xfrm>
          <a:prstGeom prst="ellipse">
            <a:avLst/>
          </a:prstGeom>
          <a:solidFill>
            <a:srgbClr val="BFE6FF">
              <a:alpha val="4313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2" name="Google Shape;1252;p31"/>
          <p:cNvSpPr/>
          <p:nvPr/>
        </p:nvSpPr>
        <p:spPr>
          <a:xfrm>
            <a:off x="8074810" y="4734930"/>
            <a:ext cx="14089" cy="14089"/>
          </a:xfrm>
          <a:prstGeom prst="ellipse">
            <a:avLst/>
          </a:prstGeom>
          <a:solidFill>
            <a:srgbClr val="BFE6FF">
              <a:alpha val="1607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3" name="Google Shape;1253;p31"/>
          <p:cNvSpPr/>
          <p:nvPr/>
        </p:nvSpPr>
        <p:spPr>
          <a:xfrm>
            <a:off x="2452116" y="1751"/>
            <a:ext cx="16126" cy="16127"/>
          </a:xfrm>
          <a:prstGeom prst="ellipse">
            <a:avLst/>
          </a:prstGeom>
          <a:solidFill>
            <a:srgbClr val="BFE6FF">
              <a:alpha val="1333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4" name="Google Shape;1254;p31"/>
          <p:cNvSpPr/>
          <p:nvPr/>
        </p:nvSpPr>
        <p:spPr>
          <a:xfrm>
            <a:off x="993077" y="3189868"/>
            <a:ext cx="13055" cy="13055"/>
          </a:xfrm>
          <a:prstGeom prst="ellipse">
            <a:avLst/>
          </a:prstGeom>
          <a:solidFill>
            <a:srgbClr val="BFE6FF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5" name="Google Shape;1255;p31"/>
          <p:cNvSpPr/>
          <p:nvPr/>
        </p:nvSpPr>
        <p:spPr>
          <a:xfrm>
            <a:off x="4420212" y="1392267"/>
            <a:ext cx="15317" cy="15317"/>
          </a:xfrm>
          <a:prstGeom prst="ellipse">
            <a:avLst/>
          </a:prstGeom>
          <a:solidFill>
            <a:srgbClr val="BFE6FF">
              <a:alpha val="3607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6" name="Google Shape;1256;p31"/>
          <p:cNvSpPr/>
          <p:nvPr/>
        </p:nvSpPr>
        <p:spPr>
          <a:xfrm>
            <a:off x="379460" y="2034661"/>
            <a:ext cx="20308" cy="20308"/>
          </a:xfrm>
          <a:prstGeom prst="ellipse">
            <a:avLst/>
          </a:prstGeom>
          <a:solidFill>
            <a:srgbClr val="BFE6FF">
              <a:alpha val="2431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p31"/>
          <p:cNvSpPr/>
          <p:nvPr/>
        </p:nvSpPr>
        <p:spPr>
          <a:xfrm>
            <a:off x="8330403" y="1148930"/>
            <a:ext cx="25590" cy="25590"/>
          </a:xfrm>
          <a:prstGeom prst="ellipse">
            <a:avLst/>
          </a:prstGeom>
          <a:solidFill>
            <a:srgbClr val="BFE6FF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8" name="Google Shape;1258;p31"/>
          <p:cNvSpPr/>
          <p:nvPr/>
        </p:nvSpPr>
        <p:spPr>
          <a:xfrm>
            <a:off x="5364669" y="4974177"/>
            <a:ext cx="21942" cy="21942"/>
          </a:xfrm>
          <a:prstGeom prst="ellipse">
            <a:avLst/>
          </a:prstGeom>
          <a:solidFill>
            <a:srgbClr val="BFE6FF">
              <a:alpha val="1058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p31"/>
          <p:cNvSpPr/>
          <p:nvPr/>
        </p:nvSpPr>
        <p:spPr>
          <a:xfrm>
            <a:off x="7532511" y="671855"/>
            <a:ext cx="27012" cy="27012"/>
          </a:xfrm>
          <a:prstGeom prst="ellipse">
            <a:avLst/>
          </a:prstGeom>
          <a:solidFill>
            <a:srgbClr val="BFE6FF">
              <a:alpha val="3882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0" name="Google Shape;1260;p31"/>
          <p:cNvSpPr/>
          <p:nvPr/>
        </p:nvSpPr>
        <p:spPr>
          <a:xfrm>
            <a:off x="1402499" y="3763226"/>
            <a:ext cx="21397" cy="21397"/>
          </a:xfrm>
          <a:prstGeom prst="ellipse">
            <a:avLst/>
          </a:prstGeom>
          <a:solidFill>
            <a:srgbClr val="BFE6FF">
              <a:alpha val="1960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p31"/>
          <p:cNvSpPr/>
          <p:nvPr/>
        </p:nvSpPr>
        <p:spPr>
          <a:xfrm>
            <a:off x="3510227" y="4890935"/>
            <a:ext cx="33857" cy="33857"/>
          </a:xfrm>
          <a:prstGeom prst="ellipse">
            <a:avLst/>
          </a:prstGeom>
          <a:solidFill>
            <a:srgbClr val="BFE6FF">
              <a:alpha val="1333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2" name="Google Shape;1262;p31"/>
          <p:cNvSpPr/>
          <p:nvPr/>
        </p:nvSpPr>
        <p:spPr>
          <a:xfrm>
            <a:off x="3934481" y="2980358"/>
            <a:ext cx="33870" cy="33870"/>
          </a:xfrm>
          <a:prstGeom prst="ellipse">
            <a:avLst/>
          </a:prstGeom>
          <a:solidFill>
            <a:srgbClr val="BFE6FF">
              <a:alpha val="3372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p31"/>
          <p:cNvSpPr/>
          <p:nvPr/>
        </p:nvSpPr>
        <p:spPr>
          <a:xfrm>
            <a:off x="8621274" y="5026836"/>
            <a:ext cx="20599" cy="20599"/>
          </a:xfrm>
          <a:prstGeom prst="ellipse">
            <a:avLst/>
          </a:prstGeom>
          <a:solidFill>
            <a:srgbClr val="BFE6FF">
              <a:alpha val="4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p31"/>
          <p:cNvSpPr/>
          <p:nvPr/>
        </p:nvSpPr>
        <p:spPr>
          <a:xfrm>
            <a:off x="4820978" y="2730450"/>
            <a:ext cx="15470" cy="15470"/>
          </a:xfrm>
          <a:prstGeom prst="ellipse">
            <a:avLst/>
          </a:prstGeom>
          <a:solidFill>
            <a:srgbClr val="BFE6FF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p31"/>
          <p:cNvSpPr/>
          <p:nvPr/>
        </p:nvSpPr>
        <p:spPr>
          <a:xfrm>
            <a:off x="7043209" y="1950821"/>
            <a:ext cx="31382" cy="31382"/>
          </a:xfrm>
          <a:prstGeom prst="ellipse">
            <a:avLst/>
          </a:prstGeom>
          <a:solidFill>
            <a:srgbClr val="BFE6FF">
              <a:alpha val="3529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6" name="Google Shape;1266;p31"/>
          <p:cNvSpPr/>
          <p:nvPr/>
        </p:nvSpPr>
        <p:spPr>
          <a:xfrm>
            <a:off x="2459443" y="3875469"/>
            <a:ext cx="13715" cy="13714"/>
          </a:xfrm>
          <a:prstGeom prst="ellipse">
            <a:avLst/>
          </a:prstGeom>
          <a:solidFill>
            <a:srgbClr val="BFE6FF">
              <a:alpha val="2588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7" name="Google Shape;1267;p31"/>
          <p:cNvSpPr/>
          <p:nvPr/>
        </p:nvSpPr>
        <p:spPr>
          <a:xfrm>
            <a:off x="4775120" y="2168428"/>
            <a:ext cx="31569" cy="31569"/>
          </a:xfrm>
          <a:prstGeom prst="ellipse">
            <a:avLst/>
          </a:prstGeom>
          <a:solidFill>
            <a:srgbClr val="BFE6FF">
              <a:alpha val="3921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8" name="Google Shape;1268;p31"/>
          <p:cNvSpPr/>
          <p:nvPr/>
        </p:nvSpPr>
        <p:spPr>
          <a:xfrm>
            <a:off x="6965984" y="3708002"/>
            <a:ext cx="14008" cy="14008"/>
          </a:xfrm>
          <a:prstGeom prst="ellipse">
            <a:avLst/>
          </a:prstGeom>
          <a:solidFill>
            <a:srgbClr val="BFE6FF">
              <a:alpha val="3529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9" name="Google Shape;1269;p31"/>
          <p:cNvSpPr/>
          <p:nvPr/>
        </p:nvSpPr>
        <p:spPr>
          <a:xfrm>
            <a:off x="4036172" y="4776885"/>
            <a:ext cx="32948" cy="32948"/>
          </a:xfrm>
          <a:prstGeom prst="ellipse">
            <a:avLst/>
          </a:prstGeom>
          <a:solidFill>
            <a:srgbClr val="BFE6FF">
              <a:alpha val="1647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0" name="Google Shape;1270;p31"/>
          <p:cNvSpPr/>
          <p:nvPr/>
        </p:nvSpPr>
        <p:spPr>
          <a:xfrm>
            <a:off x="4971968" y="491553"/>
            <a:ext cx="33741" cy="33741"/>
          </a:xfrm>
          <a:prstGeom prst="ellipse">
            <a:avLst/>
          </a:prstGeom>
          <a:solidFill>
            <a:srgbClr val="BFE6FF">
              <a:alpha val="2823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1" name="Google Shape;1271;p31"/>
          <p:cNvSpPr/>
          <p:nvPr/>
        </p:nvSpPr>
        <p:spPr>
          <a:xfrm>
            <a:off x="2806336" y="1742426"/>
            <a:ext cx="29191" cy="29191"/>
          </a:xfrm>
          <a:prstGeom prst="ellipse">
            <a:avLst/>
          </a:prstGeom>
          <a:solidFill>
            <a:srgbClr val="BFE6FF">
              <a:alpha val="3411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2" name="Google Shape;1272;p31"/>
          <p:cNvSpPr/>
          <p:nvPr/>
        </p:nvSpPr>
        <p:spPr>
          <a:xfrm>
            <a:off x="5833582" y="3050312"/>
            <a:ext cx="24040" cy="24040"/>
          </a:xfrm>
          <a:prstGeom prst="ellipse">
            <a:avLst/>
          </a:prstGeom>
          <a:solidFill>
            <a:srgbClr val="BFE6FF">
              <a:alpha val="1411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3" name="Google Shape;1273;p31"/>
          <p:cNvSpPr/>
          <p:nvPr/>
        </p:nvSpPr>
        <p:spPr>
          <a:xfrm>
            <a:off x="1151948" y="413039"/>
            <a:ext cx="16007" cy="16006"/>
          </a:xfrm>
          <a:prstGeom prst="ellipse">
            <a:avLst/>
          </a:prstGeom>
          <a:solidFill>
            <a:srgbClr val="BFE6FF">
              <a:alpha val="3490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4" name="Google Shape;1274;p31"/>
          <p:cNvSpPr/>
          <p:nvPr/>
        </p:nvSpPr>
        <p:spPr>
          <a:xfrm>
            <a:off x="8119073" y="1738448"/>
            <a:ext cx="21101" cy="21101"/>
          </a:xfrm>
          <a:prstGeom prst="ellipse">
            <a:avLst/>
          </a:prstGeom>
          <a:solidFill>
            <a:srgbClr val="BFE6FF">
              <a:alpha val="1803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p31"/>
          <p:cNvSpPr/>
          <p:nvPr/>
        </p:nvSpPr>
        <p:spPr>
          <a:xfrm>
            <a:off x="3107084" y="3411734"/>
            <a:ext cx="13144" cy="13144"/>
          </a:xfrm>
          <a:prstGeom prst="ellipse">
            <a:avLst/>
          </a:prstGeom>
          <a:solidFill>
            <a:srgbClr val="BFE6FF">
              <a:alpha val="2588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6" name="Google Shape;1276;p31"/>
          <p:cNvSpPr/>
          <p:nvPr/>
        </p:nvSpPr>
        <p:spPr>
          <a:xfrm>
            <a:off x="1932826" y="651201"/>
            <a:ext cx="27684" cy="27684"/>
          </a:xfrm>
          <a:prstGeom prst="ellipse">
            <a:avLst/>
          </a:prstGeom>
          <a:solidFill>
            <a:srgbClr val="BFE6FF">
              <a:alpha val="2117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7" name="Google Shape;1277;p31"/>
          <p:cNvSpPr/>
          <p:nvPr/>
        </p:nvSpPr>
        <p:spPr>
          <a:xfrm>
            <a:off x="3200782" y="2603491"/>
            <a:ext cx="22677" cy="22677"/>
          </a:xfrm>
          <a:prstGeom prst="ellipse">
            <a:avLst/>
          </a:prstGeom>
          <a:solidFill>
            <a:srgbClr val="BFE6FF">
              <a:alpha val="1333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8" name="Google Shape;1278;p31"/>
          <p:cNvSpPr/>
          <p:nvPr/>
        </p:nvSpPr>
        <p:spPr>
          <a:xfrm>
            <a:off x="6310194" y="3792539"/>
            <a:ext cx="28819" cy="28819"/>
          </a:xfrm>
          <a:prstGeom prst="ellipse">
            <a:avLst/>
          </a:prstGeom>
          <a:solidFill>
            <a:srgbClr val="BFE6FF">
              <a:alpha val="3686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9" name="Google Shape;1279;p31"/>
          <p:cNvSpPr/>
          <p:nvPr/>
        </p:nvSpPr>
        <p:spPr>
          <a:xfrm>
            <a:off x="8104826" y="4577485"/>
            <a:ext cx="33734" cy="33733"/>
          </a:xfrm>
          <a:prstGeom prst="ellipse">
            <a:avLst/>
          </a:prstGeom>
          <a:solidFill>
            <a:srgbClr val="BFE6FF">
              <a:alpha val="3490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0" name="Google Shape;1280;p31"/>
          <p:cNvSpPr/>
          <p:nvPr/>
        </p:nvSpPr>
        <p:spPr>
          <a:xfrm>
            <a:off x="8578726" y="1787138"/>
            <a:ext cx="25774" cy="25774"/>
          </a:xfrm>
          <a:prstGeom prst="ellipse">
            <a:avLst/>
          </a:prstGeom>
          <a:solidFill>
            <a:srgbClr val="BFE6FF">
              <a:alpha val="4039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1" name="Google Shape;1281;p31"/>
          <p:cNvSpPr/>
          <p:nvPr/>
        </p:nvSpPr>
        <p:spPr>
          <a:xfrm>
            <a:off x="7953388" y="4856306"/>
            <a:ext cx="14918" cy="14918"/>
          </a:xfrm>
          <a:prstGeom prst="ellipse">
            <a:avLst/>
          </a:prstGeom>
          <a:solidFill>
            <a:srgbClr val="BFE6FF">
              <a:alpha val="1725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2" name="Google Shape;1282;p31"/>
          <p:cNvSpPr/>
          <p:nvPr/>
        </p:nvSpPr>
        <p:spPr>
          <a:xfrm>
            <a:off x="3894974" y="2690926"/>
            <a:ext cx="29555" cy="29555"/>
          </a:xfrm>
          <a:prstGeom prst="ellipse">
            <a:avLst/>
          </a:prstGeom>
          <a:solidFill>
            <a:srgbClr val="BFE6FF">
              <a:alpha val="3450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p31"/>
          <p:cNvSpPr/>
          <p:nvPr/>
        </p:nvSpPr>
        <p:spPr>
          <a:xfrm>
            <a:off x="2949421" y="1151246"/>
            <a:ext cx="26980" cy="26980"/>
          </a:xfrm>
          <a:prstGeom prst="ellipse">
            <a:avLst/>
          </a:prstGeom>
          <a:solidFill>
            <a:srgbClr val="BFE6FF">
              <a:alpha val="1803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31"/>
          <p:cNvSpPr/>
          <p:nvPr/>
        </p:nvSpPr>
        <p:spPr>
          <a:xfrm>
            <a:off x="30895" y="5044570"/>
            <a:ext cx="29825" cy="29825"/>
          </a:xfrm>
          <a:prstGeom prst="ellipse">
            <a:avLst/>
          </a:prstGeom>
          <a:solidFill>
            <a:srgbClr val="BFE6FF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p31"/>
          <p:cNvSpPr/>
          <p:nvPr/>
        </p:nvSpPr>
        <p:spPr>
          <a:xfrm>
            <a:off x="6052595" y="725724"/>
            <a:ext cx="26843" cy="26843"/>
          </a:xfrm>
          <a:prstGeom prst="ellipse">
            <a:avLst/>
          </a:prstGeom>
          <a:solidFill>
            <a:srgbClr val="BFE6FF">
              <a:alpha val="3450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6" name="Google Shape;1286;p31"/>
          <p:cNvSpPr/>
          <p:nvPr/>
        </p:nvSpPr>
        <p:spPr>
          <a:xfrm>
            <a:off x="4487132" y="461715"/>
            <a:ext cx="23810" cy="23810"/>
          </a:xfrm>
          <a:prstGeom prst="ellipse">
            <a:avLst/>
          </a:prstGeom>
          <a:solidFill>
            <a:srgbClr val="BFE6FF">
              <a:alpha val="3725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7" name="Google Shape;1287;p31"/>
          <p:cNvSpPr/>
          <p:nvPr/>
        </p:nvSpPr>
        <p:spPr>
          <a:xfrm>
            <a:off x="991949" y="612521"/>
            <a:ext cx="12493" cy="12494"/>
          </a:xfrm>
          <a:prstGeom prst="ellipse">
            <a:avLst/>
          </a:prstGeom>
          <a:solidFill>
            <a:srgbClr val="BFE6FF">
              <a:alpha val="2980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8" name="Google Shape;1288;p31"/>
          <p:cNvSpPr/>
          <p:nvPr/>
        </p:nvSpPr>
        <p:spPr>
          <a:xfrm>
            <a:off x="6937623" y="4279004"/>
            <a:ext cx="14350" cy="14350"/>
          </a:xfrm>
          <a:prstGeom prst="ellipse">
            <a:avLst/>
          </a:prstGeom>
          <a:solidFill>
            <a:srgbClr val="BFE6FF">
              <a:alpha val="2666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9" name="Google Shape;1289;p31"/>
          <p:cNvSpPr/>
          <p:nvPr/>
        </p:nvSpPr>
        <p:spPr>
          <a:xfrm>
            <a:off x="5019200" y="4868613"/>
            <a:ext cx="29794" cy="29794"/>
          </a:xfrm>
          <a:prstGeom prst="ellipse">
            <a:avLst/>
          </a:prstGeom>
          <a:solidFill>
            <a:srgbClr val="BFE6FF">
              <a:alpha val="1176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p31"/>
          <p:cNvSpPr/>
          <p:nvPr/>
        </p:nvSpPr>
        <p:spPr>
          <a:xfrm>
            <a:off x="7789877" y="2649767"/>
            <a:ext cx="22521" cy="22521"/>
          </a:xfrm>
          <a:prstGeom prst="ellipse">
            <a:avLst/>
          </a:prstGeom>
          <a:solidFill>
            <a:srgbClr val="BFE6FF">
              <a:alpha val="1294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31"/>
          <p:cNvSpPr/>
          <p:nvPr/>
        </p:nvSpPr>
        <p:spPr>
          <a:xfrm>
            <a:off x="1960485" y="2469425"/>
            <a:ext cx="16040" cy="16040"/>
          </a:xfrm>
          <a:prstGeom prst="ellipse">
            <a:avLst/>
          </a:prstGeom>
          <a:solidFill>
            <a:srgbClr val="BFE6FF">
              <a:alpha val="2745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2" name="Google Shape;1292;p31"/>
          <p:cNvSpPr/>
          <p:nvPr/>
        </p:nvSpPr>
        <p:spPr>
          <a:xfrm>
            <a:off x="411480" y="288036"/>
            <a:ext cx="6172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C6FF"/>
              </a:buClr>
              <a:buSzPts val="900"/>
              <a:buFont typeface="Courier New"/>
              <a:buNone/>
            </a:pPr>
            <a:r>
              <a:rPr b="1" i="0" lang="it" sz="900" u="none" cap="none" strike="noStrike">
                <a:solidFill>
                  <a:srgbClr val="2FC6FF"/>
                </a:solidFill>
                <a:latin typeface="Courier New"/>
                <a:ea typeface="Courier New"/>
                <a:cs typeface="Courier New"/>
                <a:sym typeface="Courier New"/>
              </a:rPr>
              <a:t>07 — AUDIO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31"/>
          <p:cNvSpPr/>
          <p:nvPr/>
        </p:nvSpPr>
        <p:spPr>
          <a:xfrm>
            <a:off x="411480" y="466344"/>
            <a:ext cx="726948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2100"/>
              <a:buFont typeface="Courier New"/>
              <a:buNone/>
            </a:pPr>
            <a:r>
              <a:rPr b="1" i="0" lang="it" sz="2100" u="none" cap="none" strike="noStrike">
                <a:solidFill>
                  <a:srgbClr val="EAF6FF"/>
                </a:solidFill>
                <a:latin typeface="Courier New"/>
                <a:ea typeface="Courier New"/>
                <a:cs typeface="Courier New"/>
                <a:sym typeface="Courier New"/>
              </a:rPr>
              <a:t>The Audio System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p31"/>
          <p:cNvSpPr/>
          <p:nvPr/>
        </p:nvSpPr>
        <p:spPr>
          <a:xfrm>
            <a:off x="8197367" y="288036"/>
            <a:ext cx="534924" cy="534924"/>
          </a:xfrm>
          <a:prstGeom prst="ellipse">
            <a:avLst/>
          </a:prstGeom>
          <a:solidFill>
            <a:srgbClr val="2FC6FF"/>
          </a:solidFill>
          <a:ln>
            <a:noFill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95" name="Google Shape;129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7669" y="41833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96" name="Google Shape;1296;p31"/>
          <p:cNvSpPr/>
          <p:nvPr/>
        </p:nvSpPr>
        <p:spPr>
          <a:xfrm>
            <a:off x="411480" y="4855464"/>
            <a:ext cx="2743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700"/>
              <a:buFont typeface="Courier New"/>
              <a:buNone/>
            </a:pPr>
            <a:r>
              <a:rPr b="0" i="0" lang="it" sz="700" u="none" cap="none" strike="noStrike">
                <a:solidFill>
                  <a:srgbClr val="93B3D6"/>
                </a:solidFill>
                <a:latin typeface="Courier New"/>
                <a:ea typeface="Courier New"/>
                <a:cs typeface="Courier New"/>
                <a:sym typeface="Courier New"/>
              </a:rPr>
              <a:t>LUMEN DRIFT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7" name="Google Shape;1297;p31"/>
          <p:cNvSpPr/>
          <p:nvPr/>
        </p:nvSpPr>
        <p:spPr>
          <a:xfrm>
            <a:off x="8320811" y="4855464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700"/>
              <a:buFont typeface="Courier New"/>
              <a:buNone/>
            </a:pPr>
            <a:r>
              <a:rPr b="0" i="0" lang="it" sz="700" u="none" cap="none" strike="noStrike">
                <a:solidFill>
                  <a:srgbClr val="93B3D6"/>
                </a:solidFill>
                <a:latin typeface="Courier New"/>
                <a:ea typeface="Courier New"/>
                <a:cs typeface="Courier New"/>
                <a:sym typeface="Courier New"/>
              </a:rPr>
              <a:t>16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p31"/>
          <p:cNvSpPr/>
          <p:nvPr/>
        </p:nvSpPr>
        <p:spPr>
          <a:xfrm>
            <a:off x="411480" y="1110996"/>
            <a:ext cx="78867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900"/>
              <a:buFont typeface="Calibri"/>
              <a:buNone/>
            </a:pPr>
            <a:r>
              <a:rPr b="0" i="1" lang="it" sz="9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Built on native Three.js audio classes. A single AudioListener on the camera routes every sound; its master volume is set from the pause menu.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31"/>
          <p:cNvSpPr/>
          <p:nvPr/>
        </p:nvSpPr>
        <p:spPr>
          <a:xfrm>
            <a:off x="411480" y="1453896"/>
            <a:ext cx="2626614" cy="1337310"/>
          </a:xfrm>
          <a:prstGeom prst="roundRect">
            <a:avLst>
              <a:gd fmla="val 4103" name="adj"/>
            </a:avLst>
          </a:prstGeom>
          <a:solidFill>
            <a:srgbClr val="0E1830"/>
          </a:solidFill>
          <a:ln>
            <a:noFill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0" name="Google Shape;1300;p31"/>
          <p:cNvSpPr/>
          <p:nvPr/>
        </p:nvSpPr>
        <p:spPr>
          <a:xfrm>
            <a:off x="562356" y="1604772"/>
            <a:ext cx="315468" cy="315468"/>
          </a:xfrm>
          <a:prstGeom prst="ellipse">
            <a:avLst/>
          </a:prstGeom>
          <a:solidFill>
            <a:srgbClr val="2FC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01" name="Google Shape;130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223" y="1683639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1302" name="Google Shape;1302;p31"/>
          <p:cNvSpPr/>
          <p:nvPr/>
        </p:nvSpPr>
        <p:spPr>
          <a:xfrm>
            <a:off x="562356" y="2002536"/>
            <a:ext cx="232486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000"/>
              <a:buFont typeface="Calibri"/>
              <a:buNone/>
            </a:pPr>
            <a:r>
              <a:rPr b="1" i="0" lang="it" sz="10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Ambient Music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31"/>
          <p:cNvSpPr/>
          <p:nvPr/>
        </p:nvSpPr>
        <p:spPr>
          <a:xfrm>
            <a:off x="562356" y="2290572"/>
            <a:ext cx="2324862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A looping non-positional track plays for the whole session at low volume, unlocked on the first canvas click. Its volume is dimmed</a:t>
            </a:r>
            <a:r>
              <a:rPr lang="it" sz="800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it" sz="8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while the game is paused.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31"/>
          <p:cNvSpPr/>
          <p:nvPr/>
        </p:nvSpPr>
        <p:spPr>
          <a:xfrm>
            <a:off x="3140964" y="1453896"/>
            <a:ext cx="2626614" cy="1337310"/>
          </a:xfrm>
          <a:prstGeom prst="roundRect">
            <a:avLst>
              <a:gd fmla="val 4103" name="adj"/>
            </a:avLst>
          </a:prstGeom>
          <a:solidFill>
            <a:srgbClr val="0E1830"/>
          </a:solidFill>
          <a:ln>
            <a:noFill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5" name="Google Shape;1305;p31"/>
          <p:cNvSpPr/>
          <p:nvPr/>
        </p:nvSpPr>
        <p:spPr>
          <a:xfrm>
            <a:off x="3291840" y="1604772"/>
            <a:ext cx="315468" cy="315468"/>
          </a:xfrm>
          <a:prstGeom prst="ellipse">
            <a:avLst/>
          </a:prstGeom>
          <a:solidFill>
            <a:srgbClr val="FFB23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06" name="Google Shape;1306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70707" y="1683639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1307" name="Google Shape;1307;p31"/>
          <p:cNvSpPr/>
          <p:nvPr/>
        </p:nvSpPr>
        <p:spPr>
          <a:xfrm>
            <a:off x="3291840" y="2002536"/>
            <a:ext cx="232486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000"/>
              <a:buFont typeface="Calibri"/>
              <a:buNone/>
            </a:pPr>
            <a:r>
              <a:rPr b="1" i="0" lang="it" sz="10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Positional Audio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8" name="Google Shape;1308;p31"/>
          <p:cNvSpPr/>
          <p:nvPr/>
        </p:nvSpPr>
        <p:spPr>
          <a:xfrm>
            <a:off x="3291840" y="2290572"/>
            <a:ext cx="2324862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A continuous buzz is a PositionalAudio source attached to the mainframe mesh: the engine scales its volume with listener distance.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p31"/>
          <p:cNvSpPr/>
          <p:nvPr/>
        </p:nvSpPr>
        <p:spPr>
          <a:xfrm>
            <a:off x="5870448" y="1453896"/>
            <a:ext cx="2626614" cy="1337310"/>
          </a:xfrm>
          <a:prstGeom prst="roundRect">
            <a:avLst>
              <a:gd fmla="val 4103" name="adj"/>
            </a:avLst>
          </a:prstGeom>
          <a:solidFill>
            <a:srgbClr val="0E1830"/>
          </a:solidFill>
          <a:ln>
            <a:noFill/>
          </a:ln>
          <a:effectLst>
            <a:outerShdw blurRad="101600" rotWithShape="0" algn="bl" dir="2700000" dist="38100">
              <a:srgbClr val="000000">
                <a:alpha val="34901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0" name="Google Shape;1310;p31"/>
          <p:cNvSpPr/>
          <p:nvPr/>
        </p:nvSpPr>
        <p:spPr>
          <a:xfrm>
            <a:off x="6021324" y="1604772"/>
            <a:ext cx="315468" cy="315468"/>
          </a:xfrm>
          <a:prstGeom prst="ellipse">
            <a:avLst/>
          </a:prstGeom>
          <a:solidFill>
            <a:srgbClr val="2FC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11" name="Google Shape;1311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00191" y="1683639"/>
            <a:ext cx="157734" cy="157734"/>
          </a:xfrm>
          <a:prstGeom prst="rect">
            <a:avLst/>
          </a:prstGeom>
          <a:noFill/>
          <a:ln>
            <a:noFill/>
          </a:ln>
        </p:spPr>
      </p:pic>
      <p:sp>
        <p:nvSpPr>
          <p:cNvPr id="1312" name="Google Shape;1312;p31"/>
          <p:cNvSpPr/>
          <p:nvPr/>
        </p:nvSpPr>
        <p:spPr>
          <a:xfrm>
            <a:off x="6021324" y="2002536"/>
            <a:ext cx="232486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1000"/>
              <a:buFont typeface="Calibri"/>
              <a:buNone/>
            </a:pPr>
            <a:r>
              <a:rPr b="1" i="0" lang="it" sz="10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Sound Effects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3" name="Google Shape;1313;p31"/>
          <p:cNvSpPr/>
          <p:nvPr/>
        </p:nvSpPr>
        <p:spPr>
          <a:xfrm>
            <a:off x="6021324" y="2290572"/>
            <a:ext cx="2324862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800"/>
              <a:buFont typeface="Calibri"/>
              <a:buNone/>
            </a:pPr>
            <a:r>
              <a:rPr b="0" i="0" lang="it" sz="800" u="none" cap="none" strike="noStrike">
                <a:solidFill>
                  <a:srgbClr val="93B3D6"/>
                </a:solidFill>
                <a:latin typeface="Calibri"/>
                <a:ea typeface="Calibri"/>
                <a:cs typeface="Calibri"/>
                <a:sym typeface="Calibri"/>
              </a:rPr>
              <a:t>Short non-positional clips preloaded once and replayed on demand, restarting the sample if re-triggered in quick succession.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31"/>
          <p:cNvSpPr/>
          <p:nvPr/>
        </p:nvSpPr>
        <p:spPr>
          <a:xfrm>
            <a:off x="411480" y="2928366"/>
            <a:ext cx="78867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238"/>
              </a:buClr>
              <a:buSzPts val="1000"/>
              <a:buFont typeface="Calibri"/>
              <a:buNone/>
            </a:pPr>
            <a:r>
              <a:rPr b="1" i="0" lang="it" sz="1000" u="none" cap="none" strike="noStrike">
                <a:solidFill>
                  <a:srgbClr val="FFB238"/>
                </a:solidFill>
                <a:latin typeface="Calibri"/>
                <a:ea typeface="Calibri"/>
                <a:cs typeface="Calibri"/>
                <a:sym typeface="Calibri"/>
              </a:rPr>
              <a:t>Event-Triggered Sound Effects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5" name="Google Shape;1315;p31"/>
          <p:cNvSpPr/>
          <p:nvPr/>
        </p:nvSpPr>
        <p:spPr>
          <a:xfrm>
            <a:off x="411480" y="3154680"/>
            <a:ext cx="7886700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765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900"/>
              <a:buFont typeface="Calibri"/>
              <a:buChar char="▸"/>
            </a:pPr>
            <a:r>
              <a:rPr b="0" i="0" lang="it" sz="9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Buttons, the sci-fi door opening and closing, the flashlight toggle, and reactor pickup and placement each fire their own cue.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EAF6FF"/>
              </a:buClr>
              <a:buSzPts val="900"/>
              <a:buFont typeface="Calibri"/>
              <a:buChar char="▸"/>
            </a:pPr>
            <a:r>
              <a:rPr b="0" i="0" lang="it" sz="9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The respawn after a fall and the final victory jingle punctuate the key state transitions of the run.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EAF6FF"/>
              </a:buClr>
              <a:buSzPts val="900"/>
              <a:buFont typeface="Calibri"/>
              <a:buChar char="▸"/>
            </a:pPr>
            <a:r>
              <a:rPr b="0" i="0" lang="it" sz="9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Footsteps are gated behind a timer, not played per frame</a:t>
            </a:r>
            <a:r>
              <a:rPr lang="it" sz="900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0" i="0" lang="it" sz="9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its interval shortens while sprinting, so the step </a:t>
            </a:r>
            <a:r>
              <a:rPr lang="it" sz="900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rhythm</a:t>
            </a:r>
            <a:r>
              <a:rPr b="0" i="0" lang="it" sz="900" u="none" cap="none" strike="noStrike">
                <a:solidFill>
                  <a:srgbClr val="EAF6FF"/>
                </a:solidFill>
                <a:latin typeface="Calibri"/>
                <a:ea typeface="Calibri"/>
                <a:cs typeface="Calibri"/>
                <a:sym typeface="Calibri"/>
              </a:rPr>
              <a:t> matches the character’s movement speed.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B16"/>
        </a:solidFill>
      </p:bgPr>
    </p:bg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32"/>
          <p:cNvSpPr/>
          <p:nvPr/>
        </p:nvSpPr>
        <p:spPr>
          <a:xfrm>
            <a:off x="3434015" y="3375845"/>
            <a:ext cx="23030" cy="23030"/>
          </a:xfrm>
          <a:prstGeom prst="ellipse">
            <a:avLst/>
          </a:prstGeom>
          <a:solidFill>
            <a:srgbClr val="BFE6FF">
              <a:alpha val="3294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2" name="Google Shape;1322;p32"/>
          <p:cNvSpPr/>
          <p:nvPr/>
        </p:nvSpPr>
        <p:spPr>
          <a:xfrm>
            <a:off x="3110752" y="1926061"/>
            <a:ext cx="24271" cy="24271"/>
          </a:xfrm>
          <a:prstGeom prst="ellipse">
            <a:avLst/>
          </a:prstGeom>
          <a:solidFill>
            <a:srgbClr val="BFE6FF">
              <a:alpha val="2274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3" name="Google Shape;1323;p32"/>
          <p:cNvSpPr/>
          <p:nvPr/>
        </p:nvSpPr>
        <p:spPr>
          <a:xfrm>
            <a:off x="501806" y="1811525"/>
            <a:ext cx="16893" cy="16893"/>
          </a:xfrm>
          <a:prstGeom prst="ellipse">
            <a:avLst/>
          </a:prstGeom>
          <a:solidFill>
            <a:srgbClr val="BFE6FF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4" name="Google Shape;1324;p32"/>
          <p:cNvSpPr/>
          <p:nvPr/>
        </p:nvSpPr>
        <p:spPr>
          <a:xfrm>
            <a:off x="6384672" y="654441"/>
            <a:ext cx="22688" cy="22688"/>
          </a:xfrm>
          <a:prstGeom prst="ellipse">
            <a:avLst/>
          </a:prstGeom>
          <a:solidFill>
            <a:srgbClr val="BFE6FF">
              <a:alpha val="4313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5" name="Google Shape;1325;p32"/>
          <p:cNvSpPr/>
          <p:nvPr/>
        </p:nvSpPr>
        <p:spPr>
          <a:xfrm>
            <a:off x="2561555" y="231677"/>
            <a:ext cx="20726" cy="20726"/>
          </a:xfrm>
          <a:prstGeom prst="ellipse">
            <a:avLst/>
          </a:prstGeom>
          <a:solidFill>
            <a:srgbClr val="BFE6FF">
              <a:alpha val="4274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6" name="Google Shape;1326;p32"/>
          <p:cNvSpPr/>
          <p:nvPr/>
        </p:nvSpPr>
        <p:spPr>
          <a:xfrm>
            <a:off x="7735485" y="678359"/>
            <a:ext cx="22669" cy="22669"/>
          </a:xfrm>
          <a:prstGeom prst="ellipse">
            <a:avLst/>
          </a:prstGeom>
          <a:solidFill>
            <a:srgbClr val="BFE6FF">
              <a:alpha val="3921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7" name="Google Shape;1327;p32"/>
          <p:cNvSpPr/>
          <p:nvPr/>
        </p:nvSpPr>
        <p:spPr>
          <a:xfrm>
            <a:off x="5634147" y="3760804"/>
            <a:ext cx="16205" cy="16205"/>
          </a:xfrm>
          <a:prstGeom prst="ellipse">
            <a:avLst/>
          </a:prstGeom>
          <a:solidFill>
            <a:srgbClr val="BFE6FF">
              <a:alpha val="3058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8" name="Google Shape;1328;p32"/>
          <p:cNvSpPr/>
          <p:nvPr/>
        </p:nvSpPr>
        <p:spPr>
          <a:xfrm>
            <a:off x="6922958" y="2449227"/>
            <a:ext cx="20345" cy="20344"/>
          </a:xfrm>
          <a:prstGeom prst="ellipse">
            <a:avLst/>
          </a:prstGeom>
          <a:solidFill>
            <a:srgbClr val="BFE6FF">
              <a:alpha val="3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9" name="Google Shape;1329;p32"/>
          <p:cNvSpPr/>
          <p:nvPr/>
        </p:nvSpPr>
        <p:spPr>
          <a:xfrm>
            <a:off x="5442401" y="4868015"/>
            <a:ext cx="28347" cy="28347"/>
          </a:xfrm>
          <a:prstGeom prst="ellipse">
            <a:avLst/>
          </a:prstGeom>
          <a:solidFill>
            <a:srgbClr val="BFE6FF">
              <a:alpha val="2039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0" name="Google Shape;1330;p32"/>
          <p:cNvSpPr/>
          <p:nvPr/>
        </p:nvSpPr>
        <p:spPr>
          <a:xfrm>
            <a:off x="8649725" y="1824974"/>
            <a:ext cx="24614" cy="24614"/>
          </a:xfrm>
          <a:prstGeom prst="ellipse">
            <a:avLst/>
          </a:prstGeom>
          <a:solidFill>
            <a:srgbClr val="BFE6FF">
              <a:alpha val="3098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1" name="Google Shape;1331;p32"/>
          <p:cNvSpPr/>
          <p:nvPr/>
        </p:nvSpPr>
        <p:spPr>
          <a:xfrm>
            <a:off x="8183363" y="3801991"/>
            <a:ext cx="30012" cy="30012"/>
          </a:xfrm>
          <a:prstGeom prst="ellipse">
            <a:avLst/>
          </a:prstGeom>
          <a:solidFill>
            <a:srgbClr val="BFE6FF">
              <a:alpha val="2431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2" name="Google Shape;1332;p32"/>
          <p:cNvSpPr/>
          <p:nvPr/>
        </p:nvSpPr>
        <p:spPr>
          <a:xfrm>
            <a:off x="3687173" y="5133825"/>
            <a:ext cx="24893" cy="24893"/>
          </a:xfrm>
          <a:prstGeom prst="ellipse">
            <a:avLst/>
          </a:prstGeom>
          <a:solidFill>
            <a:srgbClr val="BFE6FF">
              <a:alpha val="2509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3" name="Google Shape;1333;p32"/>
          <p:cNvSpPr/>
          <p:nvPr/>
        </p:nvSpPr>
        <p:spPr>
          <a:xfrm>
            <a:off x="8618888" y="368407"/>
            <a:ext cx="32897" cy="32897"/>
          </a:xfrm>
          <a:prstGeom prst="ellipse">
            <a:avLst/>
          </a:prstGeom>
          <a:solidFill>
            <a:srgbClr val="BFE6FF">
              <a:alpha val="2509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4" name="Google Shape;1334;p32"/>
          <p:cNvSpPr/>
          <p:nvPr/>
        </p:nvSpPr>
        <p:spPr>
          <a:xfrm>
            <a:off x="2456804" y="378344"/>
            <a:ext cx="33547" cy="33548"/>
          </a:xfrm>
          <a:prstGeom prst="ellipse">
            <a:avLst/>
          </a:prstGeom>
          <a:solidFill>
            <a:srgbClr val="BFE6FF">
              <a:alpha val="2549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5" name="Google Shape;1335;p32"/>
          <p:cNvSpPr/>
          <p:nvPr/>
        </p:nvSpPr>
        <p:spPr>
          <a:xfrm>
            <a:off x="155925" y="5027066"/>
            <a:ext cx="16098" cy="16098"/>
          </a:xfrm>
          <a:prstGeom prst="ellipse">
            <a:avLst/>
          </a:prstGeom>
          <a:solidFill>
            <a:srgbClr val="BFE6FF">
              <a:alpha val="4039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6" name="Google Shape;1336;p32"/>
          <p:cNvSpPr/>
          <p:nvPr/>
        </p:nvSpPr>
        <p:spPr>
          <a:xfrm>
            <a:off x="6325234" y="4646018"/>
            <a:ext cx="28644" cy="28644"/>
          </a:xfrm>
          <a:prstGeom prst="ellipse">
            <a:avLst/>
          </a:prstGeom>
          <a:solidFill>
            <a:srgbClr val="BFE6FF">
              <a:alpha val="2862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7" name="Google Shape;1337;p32"/>
          <p:cNvSpPr/>
          <p:nvPr/>
        </p:nvSpPr>
        <p:spPr>
          <a:xfrm>
            <a:off x="7398700" y="1875140"/>
            <a:ext cx="22915" cy="22915"/>
          </a:xfrm>
          <a:prstGeom prst="ellipse">
            <a:avLst/>
          </a:prstGeom>
          <a:solidFill>
            <a:srgbClr val="BFE6FF">
              <a:alpha val="1411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8" name="Google Shape;1338;p32"/>
          <p:cNvSpPr/>
          <p:nvPr/>
        </p:nvSpPr>
        <p:spPr>
          <a:xfrm>
            <a:off x="4512437" y="826034"/>
            <a:ext cx="17984" cy="17984"/>
          </a:xfrm>
          <a:prstGeom prst="ellipse">
            <a:avLst/>
          </a:prstGeom>
          <a:solidFill>
            <a:srgbClr val="BFE6FF">
              <a:alpha val="1215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9" name="Google Shape;1339;p32"/>
          <p:cNvSpPr/>
          <p:nvPr/>
        </p:nvSpPr>
        <p:spPr>
          <a:xfrm>
            <a:off x="6302855" y="4829274"/>
            <a:ext cx="33445" cy="33445"/>
          </a:xfrm>
          <a:prstGeom prst="ellipse">
            <a:avLst/>
          </a:prstGeom>
          <a:solidFill>
            <a:srgbClr val="BFE6FF">
              <a:alpha val="3686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0" name="Google Shape;1340;p32"/>
          <p:cNvSpPr/>
          <p:nvPr/>
        </p:nvSpPr>
        <p:spPr>
          <a:xfrm>
            <a:off x="6234924" y="3203862"/>
            <a:ext cx="16483" cy="16483"/>
          </a:xfrm>
          <a:prstGeom prst="ellipse">
            <a:avLst/>
          </a:prstGeom>
          <a:solidFill>
            <a:srgbClr val="BFE6FF">
              <a:alpha val="2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1" name="Google Shape;1341;p32"/>
          <p:cNvSpPr/>
          <p:nvPr/>
        </p:nvSpPr>
        <p:spPr>
          <a:xfrm>
            <a:off x="5644968" y="5041944"/>
            <a:ext cx="21188" cy="21188"/>
          </a:xfrm>
          <a:prstGeom prst="ellipse">
            <a:avLst/>
          </a:prstGeom>
          <a:solidFill>
            <a:srgbClr val="BFE6FF">
              <a:alpha val="3137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2" name="Google Shape;1342;p32"/>
          <p:cNvSpPr/>
          <p:nvPr/>
        </p:nvSpPr>
        <p:spPr>
          <a:xfrm>
            <a:off x="5922413" y="5040404"/>
            <a:ext cx="28039" cy="28039"/>
          </a:xfrm>
          <a:prstGeom prst="ellipse">
            <a:avLst/>
          </a:prstGeom>
          <a:solidFill>
            <a:srgbClr val="BFE6FF">
              <a:alpha val="1058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3" name="Google Shape;1343;p32"/>
          <p:cNvSpPr/>
          <p:nvPr/>
        </p:nvSpPr>
        <p:spPr>
          <a:xfrm>
            <a:off x="4023574" y="4955316"/>
            <a:ext cx="18506" cy="18506"/>
          </a:xfrm>
          <a:prstGeom prst="ellipse">
            <a:avLst/>
          </a:prstGeom>
          <a:solidFill>
            <a:srgbClr val="BFE6FF">
              <a:alpha val="4039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4" name="Google Shape;1344;p32"/>
          <p:cNvSpPr/>
          <p:nvPr/>
        </p:nvSpPr>
        <p:spPr>
          <a:xfrm>
            <a:off x="8516394" y="2261914"/>
            <a:ext cx="23625" cy="23625"/>
          </a:xfrm>
          <a:prstGeom prst="ellipse">
            <a:avLst/>
          </a:prstGeom>
          <a:solidFill>
            <a:srgbClr val="BFE6FF">
              <a:alpha val="1529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5" name="Google Shape;1345;p32"/>
          <p:cNvSpPr/>
          <p:nvPr/>
        </p:nvSpPr>
        <p:spPr>
          <a:xfrm>
            <a:off x="4360868" y="3032944"/>
            <a:ext cx="28601" cy="28601"/>
          </a:xfrm>
          <a:prstGeom prst="ellipse">
            <a:avLst/>
          </a:prstGeom>
          <a:solidFill>
            <a:srgbClr val="BFE6FF">
              <a:alpha val="4509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6" name="Google Shape;1346;p32"/>
          <p:cNvSpPr/>
          <p:nvPr/>
        </p:nvSpPr>
        <p:spPr>
          <a:xfrm>
            <a:off x="3062417" y="4881036"/>
            <a:ext cx="18114" cy="18114"/>
          </a:xfrm>
          <a:prstGeom prst="ellipse">
            <a:avLst/>
          </a:prstGeom>
          <a:solidFill>
            <a:srgbClr val="BFE6FF">
              <a:alpha val="4117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7" name="Google Shape;1347;p32"/>
          <p:cNvSpPr/>
          <p:nvPr/>
        </p:nvSpPr>
        <p:spPr>
          <a:xfrm>
            <a:off x="6146102" y="187475"/>
            <a:ext cx="31189" cy="31189"/>
          </a:xfrm>
          <a:prstGeom prst="ellipse">
            <a:avLst/>
          </a:prstGeom>
          <a:solidFill>
            <a:srgbClr val="BFE6FF">
              <a:alpha val="3882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8" name="Google Shape;1348;p32"/>
          <p:cNvSpPr/>
          <p:nvPr/>
        </p:nvSpPr>
        <p:spPr>
          <a:xfrm>
            <a:off x="6760536" y="8971"/>
            <a:ext cx="15091" cy="15091"/>
          </a:xfrm>
          <a:prstGeom prst="ellipse">
            <a:avLst/>
          </a:prstGeom>
          <a:solidFill>
            <a:srgbClr val="BFE6FF">
              <a:alpha val="2117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9" name="Google Shape;1349;p32"/>
          <p:cNvSpPr/>
          <p:nvPr/>
        </p:nvSpPr>
        <p:spPr>
          <a:xfrm>
            <a:off x="7806483" y="4412883"/>
            <a:ext cx="32644" cy="32644"/>
          </a:xfrm>
          <a:prstGeom prst="ellipse">
            <a:avLst/>
          </a:prstGeom>
          <a:solidFill>
            <a:srgbClr val="BFE6FF">
              <a:alpha val="1607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0" name="Google Shape;1350;p32"/>
          <p:cNvSpPr/>
          <p:nvPr/>
        </p:nvSpPr>
        <p:spPr>
          <a:xfrm>
            <a:off x="1788763" y="2903696"/>
            <a:ext cx="17623" cy="17623"/>
          </a:xfrm>
          <a:prstGeom prst="ellipse">
            <a:avLst/>
          </a:prstGeom>
          <a:solidFill>
            <a:srgbClr val="BFE6FF">
              <a:alpha val="1333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1" name="Google Shape;1351;p32"/>
          <p:cNvSpPr/>
          <p:nvPr/>
        </p:nvSpPr>
        <p:spPr>
          <a:xfrm>
            <a:off x="1850361" y="3017020"/>
            <a:ext cx="27529" cy="27529"/>
          </a:xfrm>
          <a:prstGeom prst="ellipse">
            <a:avLst/>
          </a:prstGeom>
          <a:solidFill>
            <a:srgbClr val="BFE6FF">
              <a:alpha val="4470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2" name="Google Shape;1352;p32"/>
          <p:cNvSpPr/>
          <p:nvPr/>
        </p:nvSpPr>
        <p:spPr>
          <a:xfrm>
            <a:off x="5619614" y="4746585"/>
            <a:ext cx="27788" cy="27788"/>
          </a:xfrm>
          <a:prstGeom prst="ellipse">
            <a:avLst/>
          </a:prstGeom>
          <a:solidFill>
            <a:srgbClr val="BFE6FF">
              <a:alpha val="2431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3" name="Google Shape;1353;p32"/>
          <p:cNvSpPr/>
          <p:nvPr/>
        </p:nvSpPr>
        <p:spPr>
          <a:xfrm>
            <a:off x="2186559" y="109944"/>
            <a:ext cx="24737" cy="24737"/>
          </a:xfrm>
          <a:prstGeom prst="ellipse">
            <a:avLst/>
          </a:prstGeom>
          <a:solidFill>
            <a:srgbClr val="BFE6FF">
              <a:alpha val="2039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4" name="Google Shape;1354;p32"/>
          <p:cNvSpPr/>
          <p:nvPr/>
        </p:nvSpPr>
        <p:spPr>
          <a:xfrm>
            <a:off x="7554248" y="4668269"/>
            <a:ext cx="23021" cy="23021"/>
          </a:xfrm>
          <a:prstGeom prst="ellipse">
            <a:avLst/>
          </a:prstGeom>
          <a:solidFill>
            <a:srgbClr val="BFE6FF">
              <a:alpha val="2156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5" name="Google Shape;1355;p32"/>
          <p:cNvSpPr/>
          <p:nvPr/>
        </p:nvSpPr>
        <p:spPr>
          <a:xfrm>
            <a:off x="3685556" y="1183942"/>
            <a:ext cx="17417" cy="17417"/>
          </a:xfrm>
          <a:prstGeom prst="ellipse">
            <a:avLst/>
          </a:prstGeom>
          <a:solidFill>
            <a:srgbClr val="BFE6FF">
              <a:alpha val="4470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6" name="Google Shape;1356;p32"/>
          <p:cNvSpPr/>
          <p:nvPr/>
        </p:nvSpPr>
        <p:spPr>
          <a:xfrm>
            <a:off x="8825345" y="3295894"/>
            <a:ext cx="33547" cy="33547"/>
          </a:xfrm>
          <a:prstGeom prst="ellipse">
            <a:avLst/>
          </a:prstGeom>
          <a:solidFill>
            <a:srgbClr val="BFE6FF">
              <a:alpha val="3333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7" name="Google Shape;1357;p32"/>
          <p:cNvSpPr/>
          <p:nvPr/>
        </p:nvSpPr>
        <p:spPr>
          <a:xfrm>
            <a:off x="2747044" y="2940058"/>
            <a:ext cx="12590" cy="12590"/>
          </a:xfrm>
          <a:prstGeom prst="ellipse">
            <a:avLst/>
          </a:prstGeom>
          <a:solidFill>
            <a:srgbClr val="BFE6FF">
              <a:alpha val="1058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8" name="Google Shape;1358;p32"/>
          <p:cNvSpPr/>
          <p:nvPr/>
        </p:nvSpPr>
        <p:spPr>
          <a:xfrm>
            <a:off x="6552662" y="2084434"/>
            <a:ext cx="22717" cy="22717"/>
          </a:xfrm>
          <a:prstGeom prst="ellipse">
            <a:avLst/>
          </a:prstGeom>
          <a:solidFill>
            <a:srgbClr val="BFE6FF">
              <a:alpha val="3725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9" name="Google Shape;1359;p32"/>
          <p:cNvSpPr/>
          <p:nvPr/>
        </p:nvSpPr>
        <p:spPr>
          <a:xfrm>
            <a:off x="2950365" y="714327"/>
            <a:ext cx="21762" cy="21762"/>
          </a:xfrm>
          <a:prstGeom prst="ellipse">
            <a:avLst/>
          </a:prstGeom>
          <a:solidFill>
            <a:srgbClr val="BFE6FF">
              <a:alpha val="4470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0" name="Google Shape;1360;p32"/>
          <p:cNvSpPr/>
          <p:nvPr/>
        </p:nvSpPr>
        <p:spPr>
          <a:xfrm>
            <a:off x="8527417" y="2175676"/>
            <a:ext cx="24215" cy="24215"/>
          </a:xfrm>
          <a:prstGeom prst="ellipse">
            <a:avLst/>
          </a:prstGeom>
          <a:solidFill>
            <a:srgbClr val="BFE6FF">
              <a:alpha val="2313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32"/>
          <p:cNvSpPr/>
          <p:nvPr/>
        </p:nvSpPr>
        <p:spPr>
          <a:xfrm>
            <a:off x="2855306" y="2287115"/>
            <a:ext cx="26482" cy="26482"/>
          </a:xfrm>
          <a:prstGeom prst="ellipse">
            <a:avLst/>
          </a:prstGeom>
          <a:solidFill>
            <a:srgbClr val="BFE6FF">
              <a:alpha val="4156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2" name="Google Shape;1362;p32"/>
          <p:cNvSpPr/>
          <p:nvPr/>
        </p:nvSpPr>
        <p:spPr>
          <a:xfrm>
            <a:off x="7272153" y="3835541"/>
            <a:ext cx="23218" cy="23218"/>
          </a:xfrm>
          <a:prstGeom prst="ellipse">
            <a:avLst/>
          </a:prstGeom>
          <a:solidFill>
            <a:srgbClr val="BFE6FF">
              <a:alpha val="2509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3" name="Google Shape;1363;p32"/>
          <p:cNvSpPr/>
          <p:nvPr/>
        </p:nvSpPr>
        <p:spPr>
          <a:xfrm>
            <a:off x="9143216" y="4034249"/>
            <a:ext cx="16246" cy="16246"/>
          </a:xfrm>
          <a:prstGeom prst="ellipse">
            <a:avLst/>
          </a:prstGeom>
          <a:solidFill>
            <a:srgbClr val="BFE6FF">
              <a:alpha val="4156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4" name="Google Shape;1364;p32"/>
          <p:cNvSpPr/>
          <p:nvPr/>
        </p:nvSpPr>
        <p:spPr>
          <a:xfrm>
            <a:off x="612779" y="4502348"/>
            <a:ext cx="31099" cy="31100"/>
          </a:xfrm>
          <a:prstGeom prst="ellipse">
            <a:avLst/>
          </a:prstGeom>
          <a:solidFill>
            <a:srgbClr val="BFE6FF">
              <a:alpha val="2666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5" name="Google Shape;1365;p32"/>
          <p:cNvSpPr/>
          <p:nvPr/>
        </p:nvSpPr>
        <p:spPr>
          <a:xfrm>
            <a:off x="2578970" y="3218474"/>
            <a:ext cx="22114" cy="22114"/>
          </a:xfrm>
          <a:prstGeom prst="ellipse">
            <a:avLst/>
          </a:prstGeom>
          <a:solidFill>
            <a:srgbClr val="BFE6FF">
              <a:alpha val="1137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6" name="Google Shape;1366;p32"/>
          <p:cNvSpPr/>
          <p:nvPr/>
        </p:nvSpPr>
        <p:spPr>
          <a:xfrm>
            <a:off x="1682625" y="1981263"/>
            <a:ext cx="30231" cy="30231"/>
          </a:xfrm>
          <a:prstGeom prst="ellipse">
            <a:avLst/>
          </a:prstGeom>
          <a:solidFill>
            <a:srgbClr val="BFE6FF">
              <a:alpha val="3254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7" name="Google Shape;1367;p32"/>
          <p:cNvSpPr/>
          <p:nvPr/>
        </p:nvSpPr>
        <p:spPr>
          <a:xfrm>
            <a:off x="7330346" y="2717967"/>
            <a:ext cx="14072" cy="14072"/>
          </a:xfrm>
          <a:prstGeom prst="ellipse">
            <a:avLst/>
          </a:prstGeom>
          <a:solidFill>
            <a:srgbClr val="BFE6FF">
              <a:alpha val="2078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8" name="Google Shape;1368;p32"/>
          <p:cNvSpPr/>
          <p:nvPr/>
        </p:nvSpPr>
        <p:spPr>
          <a:xfrm>
            <a:off x="8599709" y="3090648"/>
            <a:ext cx="23149" cy="23149"/>
          </a:xfrm>
          <a:prstGeom prst="ellipse">
            <a:avLst/>
          </a:prstGeom>
          <a:solidFill>
            <a:srgbClr val="BFE6FF">
              <a:alpha val="2470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9" name="Google Shape;1369;p32"/>
          <p:cNvSpPr/>
          <p:nvPr/>
        </p:nvSpPr>
        <p:spPr>
          <a:xfrm>
            <a:off x="418232" y="5028722"/>
            <a:ext cx="30398" cy="30397"/>
          </a:xfrm>
          <a:prstGeom prst="ellipse">
            <a:avLst/>
          </a:prstGeom>
          <a:solidFill>
            <a:srgbClr val="BFE6FF">
              <a:alpha val="4156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0" name="Google Shape;1370;p32"/>
          <p:cNvSpPr/>
          <p:nvPr/>
        </p:nvSpPr>
        <p:spPr>
          <a:xfrm>
            <a:off x="829391" y="2540610"/>
            <a:ext cx="22159" cy="22159"/>
          </a:xfrm>
          <a:prstGeom prst="ellipse">
            <a:avLst/>
          </a:prstGeom>
          <a:solidFill>
            <a:srgbClr val="BFE6FF">
              <a:alpha val="2627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1" name="Google Shape;1371;p32"/>
          <p:cNvSpPr/>
          <p:nvPr/>
        </p:nvSpPr>
        <p:spPr>
          <a:xfrm>
            <a:off x="6567825" y="3427274"/>
            <a:ext cx="31746" cy="31746"/>
          </a:xfrm>
          <a:prstGeom prst="ellipse">
            <a:avLst/>
          </a:prstGeom>
          <a:solidFill>
            <a:srgbClr val="BFE6FF">
              <a:alpha val="1450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2" name="Google Shape;1372;p32"/>
          <p:cNvSpPr/>
          <p:nvPr/>
        </p:nvSpPr>
        <p:spPr>
          <a:xfrm>
            <a:off x="8186441" y="248692"/>
            <a:ext cx="14140" cy="14141"/>
          </a:xfrm>
          <a:prstGeom prst="ellipse">
            <a:avLst/>
          </a:prstGeom>
          <a:solidFill>
            <a:srgbClr val="BFE6FF">
              <a:alpha val="1607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3" name="Google Shape;1373;p32"/>
          <p:cNvSpPr/>
          <p:nvPr/>
        </p:nvSpPr>
        <p:spPr>
          <a:xfrm>
            <a:off x="2812075" y="4033238"/>
            <a:ext cx="32040" cy="32040"/>
          </a:xfrm>
          <a:prstGeom prst="ellipse">
            <a:avLst/>
          </a:prstGeom>
          <a:solidFill>
            <a:srgbClr val="BFE6FF">
              <a:alpha val="2392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p32"/>
          <p:cNvSpPr/>
          <p:nvPr/>
        </p:nvSpPr>
        <p:spPr>
          <a:xfrm>
            <a:off x="5212597" y="467086"/>
            <a:ext cx="20722" cy="20723"/>
          </a:xfrm>
          <a:prstGeom prst="ellipse">
            <a:avLst/>
          </a:prstGeom>
          <a:solidFill>
            <a:srgbClr val="BFE6FF">
              <a:alpha val="2549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5" name="Google Shape;1375;p32"/>
          <p:cNvSpPr/>
          <p:nvPr/>
        </p:nvSpPr>
        <p:spPr>
          <a:xfrm>
            <a:off x="4897416" y="1328476"/>
            <a:ext cx="26326" cy="26326"/>
          </a:xfrm>
          <a:prstGeom prst="ellipse">
            <a:avLst/>
          </a:prstGeom>
          <a:solidFill>
            <a:srgbClr val="BFE6FF">
              <a:alpha val="3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6" name="Google Shape;1376;p32"/>
          <p:cNvSpPr/>
          <p:nvPr/>
        </p:nvSpPr>
        <p:spPr>
          <a:xfrm>
            <a:off x="1157431" y="5063528"/>
            <a:ext cx="14380" cy="14380"/>
          </a:xfrm>
          <a:prstGeom prst="ellipse">
            <a:avLst/>
          </a:prstGeom>
          <a:solidFill>
            <a:srgbClr val="BFE6FF">
              <a:alpha val="2352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7" name="Google Shape;1377;p32"/>
          <p:cNvSpPr/>
          <p:nvPr/>
        </p:nvSpPr>
        <p:spPr>
          <a:xfrm>
            <a:off x="5976426" y="1244993"/>
            <a:ext cx="18779" cy="18779"/>
          </a:xfrm>
          <a:prstGeom prst="ellipse">
            <a:avLst/>
          </a:prstGeom>
          <a:solidFill>
            <a:srgbClr val="BFE6FF">
              <a:alpha val="4235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8" name="Google Shape;1378;p32"/>
          <p:cNvSpPr/>
          <p:nvPr/>
        </p:nvSpPr>
        <p:spPr>
          <a:xfrm>
            <a:off x="5419188" y="4157402"/>
            <a:ext cx="29477" cy="29477"/>
          </a:xfrm>
          <a:prstGeom prst="ellipse">
            <a:avLst/>
          </a:prstGeom>
          <a:solidFill>
            <a:srgbClr val="BFE6FF">
              <a:alpha val="3803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9" name="Google Shape;1379;p32"/>
          <p:cNvSpPr/>
          <p:nvPr/>
        </p:nvSpPr>
        <p:spPr>
          <a:xfrm>
            <a:off x="3199007" y="4674820"/>
            <a:ext cx="29165" cy="29165"/>
          </a:xfrm>
          <a:prstGeom prst="ellipse">
            <a:avLst/>
          </a:prstGeom>
          <a:solidFill>
            <a:srgbClr val="BFE6FF">
              <a:alpha val="4039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0" name="Google Shape;1380;p32"/>
          <p:cNvSpPr/>
          <p:nvPr/>
        </p:nvSpPr>
        <p:spPr>
          <a:xfrm>
            <a:off x="9112728" y="3035042"/>
            <a:ext cx="30796" cy="30796"/>
          </a:xfrm>
          <a:prstGeom prst="ellipse">
            <a:avLst/>
          </a:prstGeom>
          <a:solidFill>
            <a:srgbClr val="BFE6FF">
              <a:alpha val="2823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1" name="Google Shape;1381;p32"/>
          <p:cNvSpPr/>
          <p:nvPr/>
        </p:nvSpPr>
        <p:spPr>
          <a:xfrm>
            <a:off x="6785443" y="1679400"/>
            <a:ext cx="24158" cy="24158"/>
          </a:xfrm>
          <a:prstGeom prst="ellipse">
            <a:avLst/>
          </a:prstGeom>
          <a:solidFill>
            <a:srgbClr val="BFE6FF">
              <a:alpha val="1176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2" name="Google Shape;1382;p32"/>
          <p:cNvSpPr/>
          <p:nvPr/>
        </p:nvSpPr>
        <p:spPr>
          <a:xfrm>
            <a:off x="2752964" y="1394553"/>
            <a:ext cx="19010" cy="19009"/>
          </a:xfrm>
          <a:prstGeom prst="ellipse">
            <a:avLst/>
          </a:prstGeom>
          <a:solidFill>
            <a:srgbClr val="BFE6FF">
              <a:alpha val="3960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3" name="Google Shape;1383;p32"/>
          <p:cNvSpPr/>
          <p:nvPr/>
        </p:nvSpPr>
        <p:spPr>
          <a:xfrm>
            <a:off x="1849043" y="1708460"/>
            <a:ext cx="15083" cy="15083"/>
          </a:xfrm>
          <a:prstGeom prst="ellipse">
            <a:avLst/>
          </a:prstGeom>
          <a:solidFill>
            <a:srgbClr val="BFE6FF">
              <a:alpha val="2862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4" name="Google Shape;1384;p32"/>
          <p:cNvSpPr/>
          <p:nvPr/>
        </p:nvSpPr>
        <p:spPr>
          <a:xfrm>
            <a:off x="3216528" y="2842006"/>
            <a:ext cx="27812" cy="27812"/>
          </a:xfrm>
          <a:prstGeom prst="ellipse">
            <a:avLst/>
          </a:prstGeom>
          <a:solidFill>
            <a:srgbClr val="BFE6FF">
              <a:alpha val="4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5" name="Google Shape;1385;p32"/>
          <p:cNvSpPr/>
          <p:nvPr/>
        </p:nvSpPr>
        <p:spPr>
          <a:xfrm>
            <a:off x="6920754" y="2805854"/>
            <a:ext cx="29607" cy="29607"/>
          </a:xfrm>
          <a:prstGeom prst="ellipse">
            <a:avLst/>
          </a:prstGeom>
          <a:solidFill>
            <a:srgbClr val="BFE6FF">
              <a:alpha val="1372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6" name="Google Shape;1386;p32"/>
          <p:cNvSpPr/>
          <p:nvPr/>
        </p:nvSpPr>
        <p:spPr>
          <a:xfrm>
            <a:off x="2181452" y="1328814"/>
            <a:ext cx="20030" cy="20030"/>
          </a:xfrm>
          <a:prstGeom prst="ellipse">
            <a:avLst/>
          </a:prstGeom>
          <a:solidFill>
            <a:srgbClr val="BFE6FF">
              <a:alpha val="1372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7" name="Google Shape;1387;p32"/>
          <p:cNvSpPr/>
          <p:nvPr/>
        </p:nvSpPr>
        <p:spPr>
          <a:xfrm>
            <a:off x="5835848" y="2433520"/>
            <a:ext cx="14181" cy="14181"/>
          </a:xfrm>
          <a:prstGeom prst="ellipse">
            <a:avLst/>
          </a:prstGeom>
          <a:solidFill>
            <a:srgbClr val="BFE6FF">
              <a:alpha val="3254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8" name="Google Shape;1388;p32"/>
          <p:cNvSpPr/>
          <p:nvPr/>
        </p:nvSpPr>
        <p:spPr>
          <a:xfrm>
            <a:off x="2779908" y="754304"/>
            <a:ext cx="12430" cy="12430"/>
          </a:xfrm>
          <a:prstGeom prst="ellipse">
            <a:avLst/>
          </a:prstGeom>
          <a:solidFill>
            <a:srgbClr val="BFE6FF">
              <a:alpha val="1843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9" name="Google Shape;1389;p32"/>
          <p:cNvSpPr/>
          <p:nvPr/>
        </p:nvSpPr>
        <p:spPr>
          <a:xfrm>
            <a:off x="8756134" y="3311459"/>
            <a:ext cx="17851" cy="17851"/>
          </a:xfrm>
          <a:prstGeom prst="ellipse">
            <a:avLst/>
          </a:prstGeom>
          <a:solidFill>
            <a:srgbClr val="BFE6FF">
              <a:alpha val="2117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0" name="Google Shape;1390;p32"/>
          <p:cNvSpPr/>
          <p:nvPr/>
        </p:nvSpPr>
        <p:spPr>
          <a:xfrm>
            <a:off x="5740610" y="948758"/>
            <a:ext cx="19003" cy="19003"/>
          </a:xfrm>
          <a:prstGeom prst="ellipse">
            <a:avLst/>
          </a:prstGeom>
          <a:solidFill>
            <a:srgbClr val="BFE6FF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1" name="Google Shape;1391;p32"/>
          <p:cNvSpPr/>
          <p:nvPr/>
        </p:nvSpPr>
        <p:spPr>
          <a:xfrm>
            <a:off x="2523786" y="2506165"/>
            <a:ext cx="29269" cy="29269"/>
          </a:xfrm>
          <a:prstGeom prst="ellipse">
            <a:avLst/>
          </a:prstGeom>
          <a:solidFill>
            <a:srgbClr val="BFE6FF">
              <a:alpha val="3098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2" name="Google Shape;1392;p32"/>
          <p:cNvSpPr/>
          <p:nvPr/>
        </p:nvSpPr>
        <p:spPr>
          <a:xfrm>
            <a:off x="1812461" y="1723215"/>
            <a:ext cx="12803" cy="12803"/>
          </a:xfrm>
          <a:prstGeom prst="ellipse">
            <a:avLst/>
          </a:prstGeom>
          <a:solidFill>
            <a:srgbClr val="BFE6FF">
              <a:alpha val="3843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3" name="Google Shape;1393;p32"/>
          <p:cNvSpPr/>
          <p:nvPr/>
        </p:nvSpPr>
        <p:spPr>
          <a:xfrm>
            <a:off x="5985466" y="2224918"/>
            <a:ext cx="25906" cy="25906"/>
          </a:xfrm>
          <a:prstGeom prst="ellipse">
            <a:avLst/>
          </a:prstGeom>
          <a:solidFill>
            <a:srgbClr val="BFE6FF">
              <a:alpha val="1411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4" name="Google Shape;1394;p32"/>
          <p:cNvSpPr/>
          <p:nvPr/>
        </p:nvSpPr>
        <p:spPr>
          <a:xfrm>
            <a:off x="4287482" y="542323"/>
            <a:ext cx="28633" cy="28633"/>
          </a:xfrm>
          <a:prstGeom prst="ellipse">
            <a:avLst/>
          </a:prstGeom>
          <a:solidFill>
            <a:srgbClr val="BFE6FF">
              <a:alpha val="1568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5" name="Google Shape;1395;p32"/>
          <p:cNvSpPr/>
          <p:nvPr/>
        </p:nvSpPr>
        <p:spPr>
          <a:xfrm>
            <a:off x="4991901" y="2262630"/>
            <a:ext cx="16838" cy="16838"/>
          </a:xfrm>
          <a:prstGeom prst="ellipse">
            <a:avLst/>
          </a:prstGeom>
          <a:solidFill>
            <a:srgbClr val="BFE6FF">
              <a:alpha val="2470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6" name="Google Shape;1396;p32"/>
          <p:cNvSpPr/>
          <p:nvPr/>
        </p:nvSpPr>
        <p:spPr>
          <a:xfrm>
            <a:off x="7903433" y="4952205"/>
            <a:ext cx="17889" cy="17889"/>
          </a:xfrm>
          <a:prstGeom prst="ellipse">
            <a:avLst/>
          </a:prstGeom>
          <a:solidFill>
            <a:srgbClr val="BFE6FF">
              <a:alpha val="3647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7" name="Google Shape;1397;p32"/>
          <p:cNvSpPr/>
          <p:nvPr/>
        </p:nvSpPr>
        <p:spPr>
          <a:xfrm>
            <a:off x="1059902" y="5133044"/>
            <a:ext cx="19512" cy="19512"/>
          </a:xfrm>
          <a:prstGeom prst="ellipse">
            <a:avLst/>
          </a:prstGeom>
          <a:solidFill>
            <a:srgbClr val="BFE6FF">
              <a:alpha val="2549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8" name="Google Shape;1398;p32"/>
          <p:cNvSpPr/>
          <p:nvPr/>
        </p:nvSpPr>
        <p:spPr>
          <a:xfrm>
            <a:off x="4997104" y="4683675"/>
            <a:ext cx="21128" cy="21128"/>
          </a:xfrm>
          <a:prstGeom prst="ellipse">
            <a:avLst/>
          </a:prstGeom>
          <a:solidFill>
            <a:srgbClr val="BFE6FF">
              <a:alpha val="2705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9" name="Google Shape;1399;p32"/>
          <p:cNvSpPr/>
          <p:nvPr/>
        </p:nvSpPr>
        <p:spPr>
          <a:xfrm>
            <a:off x="129767" y="1833374"/>
            <a:ext cx="31397" cy="31397"/>
          </a:xfrm>
          <a:prstGeom prst="ellipse">
            <a:avLst/>
          </a:prstGeom>
          <a:solidFill>
            <a:srgbClr val="BFE6FF">
              <a:alpha val="2274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0" name="Google Shape;1400;p32"/>
          <p:cNvSpPr/>
          <p:nvPr/>
        </p:nvSpPr>
        <p:spPr>
          <a:xfrm>
            <a:off x="8417199" y="985292"/>
            <a:ext cx="26384" cy="26383"/>
          </a:xfrm>
          <a:prstGeom prst="ellipse">
            <a:avLst/>
          </a:prstGeom>
          <a:solidFill>
            <a:srgbClr val="BFE6FF">
              <a:alpha val="17254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1" name="Google Shape;1401;p32"/>
          <p:cNvSpPr/>
          <p:nvPr/>
        </p:nvSpPr>
        <p:spPr>
          <a:xfrm>
            <a:off x="6734989" y="3269383"/>
            <a:ext cx="24989" cy="24989"/>
          </a:xfrm>
          <a:prstGeom prst="ellipse">
            <a:avLst/>
          </a:prstGeom>
          <a:solidFill>
            <a:srgbClr val="BFE6FF">
              <a:alpha val="4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2" name="Google Shape;1402;p32"/>
          <p:cNvSpPr/>
          <p:nvPr/>
        </p:nvSpPr>
        <p:spPr>
          <a:xfrm>
            <a:off x="8239000" y="3377735"/>
            <a:ext cx="12812" cy="12812"/>
          </a:xfrm>
          <a:prstGeom prst="ellipse">
            <a:avLst/>
          </a:prstGeom>
          <a:solidFill>
            <a:srgbClr val="BFE6FF">
              <a:alpha val="44705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3" name="Google Shape;1403;p32"/>
          <p:cNvSpPr/>
          <p:nvPr/>
        </p:nvSpPr>
        <p:spPr>
          <a:xfrm>
            <a:off x="8934217" y="4560857"/>
            <a:ext cx="22523" cy="22523"/>
          </a:xfrm>
          <a:prstGeom prst="ellipse">
            <a:avLst/>
          </a:prstGeom>
          <a:solidFill>
            <a:srgbClr val="BFE6FF">
              <a:alpha val="4431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4" name="Google Shape;1404;p32"/>
          <p:cNvSpPr/>
          <p:nvPr/>
        </p:nvSpPr>
        <p:spPr>
          <a:xfrm>
            <a:off x="1713160" y="351367"/>
            <a:ext cx="34168" cy="34168"/>
          </a:xfrm>
          <a:prstGeom prst="ellipse">
            <a:avLst/>
          </a:prstGeom>
          <a:solidFill>
            <a:srgbClr val="BFE6FF">
              <a:alpha val="1843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5" name="Google Shape;1405;p32"/>
          <p:cNvSpPr/>
          <p:nvPr/>
        </p:nvSpPr>
        <p:spPr>
          <a:xfrm>
            <a:off x="8600736" y="2678972"/>
            <a:ext cx="16295" cy="16295"/>
          </a:xfrm>
          <a:prstGeom prst="ellipse">
            <a:avLst/>
          </a:prstGeom>
          <a:solidFill>
            <a:srgbClr val="BFE6FF">
              <a:alpha val="2117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6" name="Google Shape;1406;p32"/>
          <p:cNvSpPr/>
          <p:nvPr/>
        </p:nvSpPr>
        <p:spPr>
          <a:xfrm>
            <a:off x="6790471" y="2412785"/>
            <a:ext cx="20545" cy="20545"/>
          </a:xfrm>
          <a:prstGeom prst="ellipse">
            <a:avLst/>
          </a:prstGeom>
          <a:solidFill>
            <a:srgbClr val="BFE6FF">
              <a:alpha val="3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7" name="Google Shape;1407;p32"/>
          <p:cNvSpPr/>
          <p:nvPr/>
        </p:nvSpPr>
        <p:spPr>
          <a:xfrm>
            <a:off x="9072158" y="2592934"/>
            <a:ext cx="27819" cy="27819"/>
          </a:xfrm>
          <a:prstGeom prst="ellipse">
            <a:avLst/>
          </a:prstGeom>
          <a:solidFill>
            <a:srgbClr val="BFE6FF">
              <a:alpha val="3843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8" name="Google Shape;1408;p32"/>
          <p:cNvSpPr/>
          <p:nvPr/>
        </p:nvSpPr>
        <p:spPr>
          <a:xfrm>
            <a:off x="4019190" y="4276715"/>
            <a:ext cx="25012" cy="25012"/>
          </a:xfrm>
          <a:prstGeom prst="ellipse">
            <a:avLst/>
          </a:prstGeom>
          <a:solidFill>
            <a:srgbClr val="BFE6FF">
              <a:alpha val="2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9" name="Google Shape;1409;p32"/>
          <p:cNvSpPr/>
          <p:nvPr/>
        </p:nvSpPr>
        <p:spPr>
          <a:xfrm>
            <a:off x="7216208" y="1449009"/>
            <a:ext cx="17915" cy="17915"/>
          </a:xfrm>
          <a:prstGeom prst="ellipse">
            <a:avLst/>
          </a:prstGeom>
          <a:solidFill>
            <a:srgbClr val="BFE6FF">
              <a:alpha val="3490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0" name="Google Shape;1410;p32"/>
          <p:cNvSpPr/>
          <p:nvPr/>
        </p:nvSpPr>
        <p:spPr>
          <a:xfrm>
            <a:off x="395177" y="4089463"/>
            <a:ext cx="17921" cy="17921"/>
          </a:xfrm>
          <a:prstGeom prst="ellipse">
            <a:avLst/>
          </a:prstGeom>
          <a:solidFill>
            <a:srgbClr val="BFE6FF">
              <a:alpha val="4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1" name="Google Shape;1411;p32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2FC6FF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2" name="Google Shape;1412;p32"/>
          <p:cNvSpPr/>
          <p:nvPr/>
        </p:nvSpPr>
        <p:spPr>
          <a:xfrm>
            <a:off x="6858000" y="2743200"/>
            <a:ext cx="3429000" cy="3429000"/>
          </a:xfrm>
          <a:prstGeom prst="ellipse">
            <a:avLst/>
          </a:prstGeom>
          <a:solidFill>
            <a:srgbClr val="FFB238">
              <a:alpha val="784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3" name="Google Shape;1413;p32"/>
          <p:cNvSpPr/>
          <p:nvPr/>
        </p:nvSpPr>
        <p:spPr>
          <a:xfrm>
            <a:off x="4263276" y="1371600"/>
            <a:ext cx="617220" cy="617220"/>
          </a:xfrm>
          <a:prstGeom prst="ellipse">
            <a:avLst/>
          </a:prstGeom>
          <a:solidFill>
            <a:srgbClr val="2FC6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414" name="Google Shape;141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7581" y="1525905"/>
            <a:ext cx="308610" cy="308610"/>
          </a:xfrm>
          <a:prstGeom prst="rect">
            <a:avLst/>
          </a:prstGeom>
          <a:noFill/>
          <a:ln>
            <a:noFill/>
          </a:ln>
        </p:spPr>
      </p:pic>
      <p:sp>
        <p:nvSpPr>
          <p:cNvPr id="1415" name="Google Shape;1415;p32"/>
          <p:cNvSpPr/>
          <p:nvPr/>
        </p:nvSpPr>
        <p:spPr>
          <a:xfrm>
            <a:off x="0" y="2125980"/>
            <a:ext cx="9143771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3000"/>
              <a:buFont typeface="Courier New"/>
              <a:buNone/>
            </a:pPr>
            <a:r>
              <a:rPr b="1" i="0" lang="it" sz="3000" u="none" cap="none" strike="noStrike">
                <a:solidFill>
                  <a:srgbClr val="EAF6FF"/>
                </a:solidFill>
                <a:latin typeface="Courier New"/>
                <a:ea typeface="Courier New"/>
                <a:cs typeface="Courier New"/>
                <a:sym typeface="Courier New"/>
              </a:rPr>
              <a:t>Thanks for your attention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6" name="Google Shape;1416;p32"/>
          <p:cNvSpPr/>
          <p:nvPr/>
        </p:nvSpPr>
        <p:spPr>
          <a:xfrm>
            <a:off x="0" y="2708910"/>
            <a:ext cx="9143771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7" name="Google Shape;1417;p32"/>
          <p:cNvSpPr/>
          <p:nvPr/>
        </p:nvSpPr>
        <p:spPr>
          <a:xfrm>
            <a:off x="0" y="4732020"/>
            <a:ext cx="9143771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B3D6"/>
              </a:buClr>
              <a:buSzPts val="800"/>
              <a:buFont typeface="Courier New"/>
              <a:buNone/>
            </a:pPr>
            <a:r>
              <a:rPr b="0" i="0" lang="it" sz="800" u="none" cap="none" strike="noStrike">
                <a:solidFill>
                  <a:srgbClr val="93B3D6"/>
                </a:solidFill>
                <a:latin typeface="Courier New"/>
                <a:ea typeface="Courier New"/>
                <a:cs typeface="Courier New"/>
                <a:sym typeface="Courier New"/>
              </a:rPr>
              <a:t>Lumen Drift  ·  Interactive Graphics  ·  Fabio Falconi  ·  2048079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